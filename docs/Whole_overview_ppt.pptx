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2" r:id="rId23"/>
    <p:sldId id="283" r:id="rId24"/>
    <p:sldId id="284" r:id="rId25"/>
    <p:sldId id="285" r:id="rId26"/>
    <p:sldId id="286" r:id="rId27"/>
    <p:sldId id="287" r:id="rId28"/>
    <p:sldId id="288" r:id="rId29"/>
    <p:sldId id="289" r:id="rId30"/>
    <p:sldId id="291" r:id="rId31"/>
    <p:sldId id="292" r:id="rId32"/>
    <p:sldId id="294" r:id="rId33"/>
    <p:sldId id="295" r:id="rId34"/>
    <p:sldId id="296" r:id="rId35"/>
    <p:sldId id="297" r:id="rId36"/>
    <p:sldId id="298" r:id="rId37"/>
  </p:sldIdLst>
  <p:sldSz cx="12192000" cy="6858000"/>
  <p:notesSz cx="6858000" cy="12192000"/>
  <p:embeddedFontLst>
    <p:embeddedFont>
      <p:font typeface="Consolas" panose="020B0609020204030204" pitchFamily="49" charset="0"/>
      <p:regular r:id="rId39"/>
      <p:bold r:id="rId40"/>
      <p:italic r:id="rId41"/>
      <p:boldItalic r:id="rId42"/>
    </p:embeddedFont>
    <p:embeddedFont>
      <p:font typeface="Raleway" pitchFamily="2" charset="0"/>
      <p:regular r:id="rId43"/>
      <p:bold r:id="rId44"/>
      <p:italic r:id="rId45"/>
      <p:boldItalic r:id="rId46"/>
    </p:embeddedFont>
    <p:embeddedFont>
      <p:font typeface="Raleway Light" pitchFamily="2" charset="0"/>
      <p:regular r:id="rId47"/>
      <p:italic r:id="rId48"/>
    </p:embeddedFont>
    <p:embeddedFont>
      <p:font typeface="Roboto" panose="02000000000000000000" pitchFamily="2" charset="0"/>
      <p:regular r:id="rId49"/>
      <p:bold r:id="rId50"/>
      <p:italic r:id="rId51"/>
      <p:boldItalic r:id="rId52"/>
    </p:embeddedFont>
    <p:embeddedFont>
      <p:font typeface="Roboto Bold" panose="02000000000000000000" charset="0"/>
      <p:regular r:id="rId5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438" y="1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284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txBody>
          <a:bodyPr/>
          <a:lstStyle/>
          <a:p>
            <a:endParaRPr lang="en-US"/>
          </a:p>
        </p:txBody>
      </p:sp>
      <p:sp>
        <p:nvSpPr>
          <p:cNvPr id="3" name="Shape 1"/>
          <p:cNvSpPr/>
          <p:nvPr/>
        </p:nvSpPr>
        <p:spPr>
          <a:xfrm>
            <a:off x="0" y="0"/>
            <a:ext cx="12191695" cy="6858000"/>
          </a:xfrm>
          <a:prstGeom prst="rect">
            <a:avLst/>
          </a:prstGeom>
          <a:solidFill>
            <a:srgbClr val="FFFFFF">
              <a:alpha val="95000"/>
            </a:srgbClr>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2096988"/>
            <a:ext cx="10868745" cy="1181298"/>
          </a:xfrm>
          <a:prstGeom prst="rect">
            <a:avLst/>
          </a:prstGeom>
          <a:noFill/>
          <a:ln/>
        </p:spPr>
        <p:txBody>
          <a:bodyPr wrap="square" lIns="0" tIns="0" rIns="0" bIns="0" rtlCol="0" anchor="t">
            <a:normAutofit/>
          </a:bodyPr>
          <a:lstStyle/>
          <a:p>
            <a:pPr marL="0" indent="0" algn="ctr">
              <a:lnSpc>
                <a:spcPct val="104000"/>
              </a:lnSpc>
              <a:buNone/>
            </a:pPr>
            <a:r>
              <a:rPr lang="en-US" sz="3700" dirty="0">
                <a:solidFill>
                  <a:srgbClr val="1B1B27"/>
                </a:solidFill>
                <a:latin typeface="Raleway" pitchFamily="34" charset="0"/>
                <a:ea typeface="Raleway" pitchFamily="34" charset="-122"/>
                <a:cs typeface="Raleway" pitchFamily="34" charset="-120"/>
              </a:rPr>
              <a:t>Agentic AI in Requirements Engineering</a:t>
            </a:r>
            <a:endParaRPr lang="en-US" sz="3700" dirty="0"/>
          </a:p>
        </p:txBody>
      </p:sp>
      <p:sp>
        <p:nvSpPr>
          <p:cNvPr id="3" name="Text 1"/>
          <p:cNvSpPr/>
          <p:nvPr/>
        </p:nvSpPr>
        <p:spPr>
          <a:xfrm>
            <a:off x="661475" y="3656310"/>
            <a:ext cx="10868745"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3C3939"/>
                </a:solidFill>
                <a:latin typeface="Roboto" pitchFamily="34" charset="0"/>
                <a:ea typeface="Roboto" pitchFamily="34" charset="-122"/>
                <a:cs typeface="Roboto" pitchFamily="34" charset="-120"/>
              </a:rPr>
              <a:t>How a Four-Layer Hallucination Firewall transforms stakeholder narratives into formally verified, deployment-ready system specifications</a:t>
            </a:r>
            <a:endParaRPr lang="en-US" sz="1450" dirty="0"/>
          </a:p>
        </p:txBody>
      </p:sp>
      <p:sp>
        <p:nvSpPr>
          <p:cNvPr id="4" name="Shape 2"/>
          <p:cNvSpPr/>
          <p:nvPr/>
        </p:nvSpPr>
        <p:spPr>
          <a:xfrm>
            <a:off x="2972222" y="4675385"/>
            <a:ext cx="2794823" cy="287139"/>
          </a:xfrm>
          <a:prstGeom prst="roundRect">
            <a:avLst>
              <a:gd name="adj" fmla="val 22118"/>
            </a:avLst>
          </a:prstGeom>
          <a:noFill/>
          <a:ln w="6350">
            <a:solidFill>
              <a:srgbClr val="1B1B27"/>
            </a:solidFill>
            <a:prstDash val="solid"/>
          </a:ln>
        </p:spPr>
        <p:txBody>
          <a:bodyPr/>
          <a:lstStyle/>
          <a:p>
            <a:endParaRPr lang="en-US"/>
          </a:p>
        </p:txBody>
      </p:sp>
      <p:sp>
        <p:nvSpPr>
          <p:cNvPr id="5" name="Text 3"/>
          <p:cNvSpPr/>
          <p:nvPr/>
        </p:nvSpPr>
        <p:spPr>
          <a:xfrm>
            <a:off x="3085626" y="4732039"/>
            <a:ext cx="3177599" cy="173831"/>
          </a:xfrm>
          <a:prstGeom prst="rect">
            <a:avLst/>
          </a:prstGeom>
          <a:noFill/>
          <a:ln/>
        </p:spPr>
        <p:txBody>
          <a:bodyPr wrap="none" lIns="0" tIns="0" rIns="0" bIns="0" rtlCol="0" anchor="t"/>
          <a:lstStyle/>
          <a:p>
            <a:pPr marL="0" indent="0" algn="l">
              <a:lnSpc>
                <a:spcPct val="96000"/>
              </a:lnSpc>
              <a:buNone/>
            </a:pPr>
            <a:r>
              <a:rPr lang="en-US" sz="1150" dirty="0">
                <a:solidFill>
                  <a:srgbClr val="1B1B27"/>
                </a:solidFill>
                <a:latin typeface="Roboto" pitchFamily="34" charset="0"/>
                <a:ea typeface="Roboto" pitchFamily="34" charset="-122"/>
                <a:cs typeface="Roboto" pitchFamily="34" charset="-120"/>
              </a:rPr>
              <a:t>SOFTWARE ENGINEERING RESEARCH</a:t>
            </a:r>
            <a:endParaRPr lang="en-US" sz="1150" dirty="0"/>
          </a:p>
        </p:txBody>
      </p:sp>
      <p:sp>
        <p:nvSpPr>
          <p:cNvPr id="6" name="Shape 4"/>
          <p:cNvSpPr/>
          <p:nvPr/>
        </p:nvSpPr>
        <p:spPr>
          <a:xfrm>
            <a:off x="5861499" y="4675385"/>
            <a:ext cx="2329697" cy="287139"/>
          </a:xfrm>
          <a:prstGeom prst="roundRect">
            <a:avLst>
              <a:gd name="adj" fmla="val 22118"/>
            </a:avLst>
          </a:prstGeom>
          <a:noFill/>
          <a:ln w="6350">
            <a:solidFill>
              <a:srgbClr val="1B1B27"/>
            </a:solidFill>
            <a:prstDash val="solid"/>
          </a:ln>
        </p:spPr>
        <p:txBody>
          <a:bodyPr/>
          <a:lstStyle/>
          <a:p>
            <a:endParaRPr lang="en-US"/>
          </a:p>
        </p:txBody>
      </p:sp>
      <p:sp>
        <p:nvSpPr>
          <p:cNvPr id="7" name="Text 5"/>
          <p:cNvSpPr/>
          <p:nvPr/>
        </p:nvSpPr>
        <p:spPr>
          <a:xfrm>
            <a:off x="5974903" y="4732039"/>
            <a:ext cx="2712474" cy="173831"/>
          </a:xfrm>
          <a:prstGeom prst="rect">
            <a:avLst/>
          </a:prstGeom>
          <a:noFill/>
          <a:ln/>
        </p:spPr>
        <p:txBody>
          <a:bodyPr wrap="none" lIns="0" tIns="0" rIns="0" bIns="0" rtlCol="0" anchor="t"/>
          <a:lstStyle/>
          <a:p>
            <a:pPr marL="0" indent="0" algn="l">
              <a:lnSpc>
                <a:spcPct val="96000"/>
              </a:lnSpc>
              <a:buNone/>
            </a:pPr>
            <a:r>
              <a:rPr lang="en-US" sz="1150" dirty="0">
                <a:solidFill>
                  <a:srgbClr val="1B1B27"/>
                </a:solidFill>
                <a:latin typeface="Roboto" pitchFamily="34" charset="0"/>
                <a:ea typeface="Roboto" pitchFamily="34" charset="-122"/>
                <a:cs typeface="Roboto" pitchFamily="34" charset="-120"/>
              </a:rPr>
              <a:t>REQUIREMENTS ENGINEERING</a:t>
            </a:r>
            <a:endParaRPr lang="en-US" sz="1150" dirty="0"/>
          </a:p>
        </p:txBody>
      </p:sp>
      <p:sp>
        <p:nvSpPr>
          <p:cNvPr id="8" name="Shape 6"/>
          <p:cNvSpPr/>
          <p:nvPr/>
        </p:nvSpPr>
        <p:spPr>
          <a:xfrm>
            <a:off x="8285650" y="4675385"/>
            <a:ext cx="1025797" cy="287139"/>
          </a:xfrm>
          <a:prstGeom prst="roundRect">
            <a:avLst>
              <a:gd name="adj" fmla="val 22118"/>
            </a:avLst>
          </a:prstGeom>
          <a:noFill/>
          <a:ln w="6350">
            <a:solidFill>
              <a:srgbClr val="1B1B27"/>
            </a:solidFill>
            <a:prstDash val="solid"/>
          </a:ln>
        </p:spPr>
        <p:txBody>
          <a:bodyPr/>
          <a:lstStyle/>
          <a:p>
            <a:endParaRPr lang="en-US"/>
          </a:p>
        </p:txBody>
      </p:sp>
      <p:sp>
        <p:nvSpPr>
          <p:cNvPr id="9" name="Text 7"/>
          <p:cNvSpPr/>
          <p:nvPr/>
        </p:nvSpPr>
        <p:spPr>
          <a:xfrm>
            <a:off x="8399054" y="4732039"/>
            <a:ext cx="1408573" cy="173831"/>
          </a:xfrm>
          <a:prstGeom prst="rect">
            <a:avLst/>
          </a:prstGeom>
          <a:noFill/>
          <a:ln/>
        </p:spPr>
        <p:txBody>
          <a:bodyPr wrap="none" lIns="0" tIns="0" rIns="0" bIns="0" rtlCol="0" anchor="t"/>
          <a:lstStyle/>
          <a:p>
            <a:pPr marL="0" indent="0" algn="l">
              <a:lnSpc>
                <a:spcPct val="96000"/>
              </a:lnSpc>
              <a:buNone/>
            </a:pPr>
            <a:r>
              <a:rPr lang="en-US" sz="1150" dirty="0">
                <a:solidFill>
                  <a:srgbClr val="1B1B27"/>
                </a:solidFill>
                <a:latin typeface="Roboto" pitchFamily="34" charset="0"/>
                <a:ea typeface="Roboto" pitchFamily="34" charset="-122"/>
                <a:cs typeface="Roboto" pitchFamily="34" charset="-120"/>
              </a:rPr>
              <a:t>AGENTIC AI</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862211"/>
            <a:ext cx="1149817" cy="287139"/>
          </a:xfrm>
          <a:prstGeom prst="roundRect">
            <a:avLst>
              <a:gd name="adj" fmla="val 22118"/>
            </a:avLst>
          </a:prstGeom>
          <a:solidFill>
            <a:srgbClr val="E1E1EA"/>
          </a:solidFill>
          <a:ln/>
        </p:spPr>
        <p:txBody>
          <a:bodyPr/>
          <a:lstStyle/>
          <a:p>
            <a:endParaRPr lang="en-US"/>
          </a:p>
        </p:txBody>
      </p:sp>
      <p:sp>
        <p:nvSpPr>
          <p:cNvPr id="3" name="Text 1"/>
          <p:cNvSpPr/>
          <p:nvPr/>
        </p:nvSpPr>
        <p:spPr>
          <a:xfrm>
            <a:off x="774879" y="918865"/>
            <a:ext cx="1532594"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FOUNDATION</a:t>
            </a:r>
            <a:endParaRPr lang="en-US" sz="1150" dirty="0"/>
          </a:p>
        </p:txBody>
      </p:sp>
      <p:sp>
        <p:nvSpPr>
          <p:cNvPr id="4" name="Text 2"/>
          <p:cNvSpPr/>
          <p:nvPr/>
        </p:nvSpPr>
        <p:spPr>
          <a:xfrm>
            <a:off x="661475" y="1224955"/>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The Requirements Engineering Challenge</a:t>
            </a:r>
            <a:endParaRPr lang="en-US" sz="3700" dirty="0"/>
          </a:p>
        </p:txBody>
      </p:sp>
      <p:sp>
        <p:nvSpPr>
          <p:cNvPr id="5" name="Text 3"/>
          <p:cNvSpPr/>
          <p:nvPr/>
        </p:nvSpPr>
        <p:spPr>
          <a:xfrm>
            <a:off x="661475" y="2099072"/>
            <a:ext cx="1086874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Requirements Engineering moves from eliciting stakeholder needs to analyzing and refining them, then specifying clear requirements and validating that they match intent. The four phases work together to turn informal goals into precise, testable system requirements.</a:t>
            </a:r>
            <a:endParaRPr lang="en-US" sz="1450" dirty="0"/>
          </a:p>
        </p:txBody>
      </p:sp>
      <p:sp>
        <p:nvSpPr>
          <p:cNvPr id="6" name="Text 4"/>
          <p:cNvSpPr/>
          <p:nvPr/>
        </p:nvSpPr>
        <p:spPr>
          <a:xfrm>
            <a:off x="661475" y="3218954"/>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3C3939"/>
                </a:solidFill>
                <a:latin typeface="Raleway Light" pitchFamily="34" charset="0"/>
                <a:ea typeface="Raleway Light" pitchFamily="34" charset="-122"/>
                <a:cs typeface="Raleway Light" pitchFamily="34" charset="-120"/>
              </a:rPr>
              <a:t>01</a:t>
            </a:r>
            <a:endParaRPr lang="en-US" sz="1450" dirty="0"/>
          </a:p>
        </p:txBody>
      </p:sp>
      <p:sp>
        <p:nvSpPr>
          <p:cNvPr id="7" name="Shape 5"/>
          <p:cNvSpPr/>
          <p:nvPr/>
        </p:nvSpPr>
        <p:spPr>
          <a:xfrm>
            <a:off x="661475" y="3514824"/>
            <a:ext cx="5339820" cy="25400"/>
          </a:xfrm>
          <a:prstGeom prst="rect">
            <a:avLst/>
          </a:prstGeom>
          <a:solidFill>
            <a:srgbClr val="1B1B27"/>
          </a:solidFill>
          <a:ln/>
        </p:spPr>
        <p:txBody>
          <a:bodyPr/>
          <a:lstStyle/>
          <a:p>
            <a:endParaRPr lang="en-US"/>
          </a:p>
        </p:txBody>
      </p:sp>
      <p:sp>
        <p:nvSpPr>
          <p:cNvPr id="8" name="Text 6"/>
          <p:cNvSpPr/>
          <p:nvPr/>
        </p:nvSpPr>
        <p:spPr>
          <a:xfrm>
            <a:off x="661475" y="3660080"/>
            <a:ext cx="5339820"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Elicitation</a:t>
            </a:r>
            <a:endParaRPr lang="en-US" sz="1850" dirty="0"/>
          </a:p>
        </p:txBody>
      </p:sp>
      <p:sp>
        <p:nvSpPr>
          <p:cNvPr id="9" name="Text 7"/>
          <p:cNvSpPr/>
          <p:nvPr/>
        </p:nvSpPr>
        <p:spPr>
          <a:xfrm>
            <a:off x="661475" y="4068762"/>
            <a:ext cx="5339820"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Capture stakeholder needs, goals, and constraints.</a:t>
            </a:r>
            <a:endParaRPr lang="en-US" sz="1450" dirty="0"/>
          </a:p>
        </p:txBody>
      </p:sp>
      <p:sp>
        <p:nvSpPr>
          <p:cNvPr id="10" name="Text 8"/>
          <p:cNvSpPr/>
          <p:nvPr/>
        </p:nvSpPr>
        <p:spPr>
          <a:xfrm>
            <a:off x="6190301" y="3218954"/>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3C3939"/>
                </a:solidFill>
                <a:latin typeface="Raleway Light" pitchFamily="34" charset="0"/>
                <a:ea typeface="Raleway Light" pitchFamily="34" charset="-122"/>
                <a:cs typeface="Raleway Light" pitchFamily="34" charset="-120"/>
              </a:rPr>
              <a:t>02</a:t>
            </a:r>
            <a:endParaRPr lang="en-US" sz="1450" dirty="0"/>
          </a:p>
        </p:txBody>
      </p:sp>
      <p:sp>
        <p:nvSpPr>
          <p:cNvPr id="11" name="Shape 9"/>
          <p:cNvSpPr/>
          <p:nvPr/>
        </p:nvSpPr>
        <p:spPr>
          <a:xfrm>
            <a:off x="6190301" y="3514824"/>
            <a:ext cx="5339919" cy="25400"/>
          </a:xfrm>
          <a:prstGeom prst="rect">
            <a:avLst/>
          </a:prstGeom>
          <a:solidFill>
            <a:srgbClr val="1B1B27"/>
          </a:solidFill>
          <a:ln/>
        </p:spPr>
        <p:txBody>
          <a:bodyPr/>
          <a:lstStyle/>
          <a:p>
            <a:endParaRPr lang="en-US"/>
          </a:p>
        </p:txBody>
      </p:sp>
      <p:sp>
        <p:nvSpPr>
          <p:cNvPr id="12" name="Text 10"/>
          <p:cNvSpPr/>
          <p:nvPr/>
        </p:nvSpPr>
        <p:spPr>
          <a:xfrm>
            <a:off x="6190301" y="3660080"/>
            <a:ext cx="5339919"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Analysis</a:t>
            </a:r>
            <a:endParaRPr lang="en-US" sz="1850" dirty="0"/>
          </a:p>
        </p:txBody>
      </p:sp>
      <p:sp>
        <p:nvSpPr>
          <p:cNvPr id="13" name="Text 11"/>
          <p:cNvSpPr/>
          <p:nvPr/>
        </p:nvSpPr>
        <p:spPr>
          <a:xfrm>
            <a:off x="6190301" y="4068762"/>
            <a:ext cx="5339919"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Refine, resolve conflicts, and prioritize requirements.</a:t>
            </a:r>
            <a:endParaRPr lang="en-US" sz="1450" dirty="0"/>
          </a:p>
        </p:txBody>
      </p:sp>
      <p:sp>
        <p:nvSpPr>
          <p:cNvPr id="14" name="Text 12"/>
          <p:cNvSpPr/>
          <p:nvPr/>
        </p:nvSpPr>
        <p:spPr>
          <a:xfrm>
            <a:off x="661475" y="4701877"/>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3C3939"/>
                </a:solidFill>
                <a:latin typeface="Raleway Light" pitchFamily="34" charset="0"/>
                <a:ea typeface="Raleway Light" pitchFamily="34" charset="-122"/>
                <a:cs typeface="Raleway Light" pitchFamily="34" charset="-120"/>
              </a:rPr>
              <a:t>03</a:t>
            </a:r>
            <a:endParaRPr lang="en-US" sz="1450" dirty="0"/>
          </a:p>
        </p:txBody>
      </p:sp>
      <p:sp>
        <p:nvSpPr>
          <p:cNvPr id="15" name="Shape 13"/>
          <p:cNvSpPr/>
          <p:nvPr/>
        </p:nvSpPr>
        <p:spPr>
          <a:xfrm>
            <a:off x="661475" y="4997748"/>
            <a:ext cx="5339820" cy="25400"/>
          </a:xfrm>
          <a:prstGeom prst="rect">
            <a:avLst/>
          </a:prstGeom>
          <a:solidFill>
            <a:srgbClr val="1B1B27"/>
          </a:solidFill>
          <a:ln/>
        </p:spPr>
        <p:txBody>
          <a:bodyPr/>
          <a:lstStyle/>
          <a:p>
            <a:endParaRPr lang="en-US"/>
          </a:p>
        </p:txBody>
      </p:sp>
      <p:sp>
        <p:nvSpPr>
          <p:cNvPr id="16" name="Text 14"/>
          <p:cNvSpPr/>
          <p:nvPr/>
        </p:nvSpPr>
        <p:spPr>
          <a:xfrm>
            <a:off x="661475" y="5143004"/>
            <a:ext cx="5339820"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Specification</a:t>
            </a:r>
            <a:endParaRPr lang="en-US" sz="1850" dirty="0"/>
          </a:p>
        </p:txBody>
      </p:sp>
      <p:sp>
        <p:nvSpPr>
          <p:cNvPr id="17" name="Text 15"/>
          <p:cNvSpPr/>
          <p:nvPr/>
        </p:nvSpPr>
        <p:spPr>
          <a:xfrm>
            <a:off x="661475" y="5551686"/>
            <a:ext cx="5339820"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Write clear, precise, testable requirements.</a:t>
            </a:r>
            <a:endParaRPr lang="en-US" sz="1450" dirty="0"/>
          </a:p>
        </p:txBody>
      </p:sp>
      <p:sp>
        <p:nvSpPr>
          <p:cNvPr id="18" name="Text 16"/>
          <p:cNvSpPr/>
          <p:nvPr/>
        </p:nvSpPr>
        <p:spPr>
          <a:xfrm>
            <a:off x="6190301" y="4701877"/>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3C3939"/>
                </a:solidFill>
                <a:latin typeface="Raleway Light" pitchFamily="34" charset="0"/>
                <a:ea typeface="Raleway Light" pitchFamily="34" charset="-122"/>
                <a:cs typeface="Raleway Light" pitchFamily="34" charset="-120"/>
              </a:rPr>
              <a:t>04</a:t>
            </a:r>
            <a:endParaRPr lang="en-US" sz="1450" dirty="0"/>
          </a:p>
        </p:txBody>
      </p:sp>
      <p:sp>
        <p:nvSpPr>
          <p:cNvPr id="19" name="Shape 17"/>
          <p:cNvSpPr/>
          <p:nvPr/>
        </p:nvSpPr>
        <p:spPr>
          <a:xfrm>
            <a:off x="6190301" y="4997748"/>
            <a:ext cx="5339919" cy="25400"/>
          </a:xfrm>
          <a:prstGeom prst="rect">
            <a:avLst/>
          </a:prstGeom>
          <a:solidFill>
            <a:srgbClr val="1B1B27"/>
          </a:solidFill>
          <a:ln/>
        </p:spPr>
        <p:txBody>
          <a:bodyPr/>
          <a:lstStyle/>
          <a:p>
            <a:endParaRPr lang="en-US"/>
          </a:p>
        </p:txBody>
      </p:sp>
      <p:sp>
        <p:nvSpPr>
          <p:cNvPr id="20" name="Text 18"/>
          <p:cNvSpPr/>
          <p:nvPr/>
        </p:nvSpPr>
        <p:spPr>
          <a:xfrm>
            <a:off x="6190301" y="5143004"/>
            <a:ext cx="5339919"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Validation</a:t>
            </a:r>
            <a:endParaRPr lang="en-US" sz="1850" dirty="0"/>
          </a:p>
        </p:txBody>
      </p:sp>
      <p:sp>
        <p:nvSpPr>
          <p:cNvPr id="21" name="Text 19"/>
          <p:cNvSpPr/>
          <p:nvPr/>
        </p:nvSpPr>
        <p:spPr>
          <a:xfrm>
            <a:off x="6190301" y="5551686"/>
            <a:ext cx="5339919"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Confirm requirements match intent and are complete.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1938139"/>
            <a:ext cx="1406887" cy="287139"/>
          </a:xfrm>
          <a:prstGeom prst="roundRect">
            <a:avLst>
              <a:gd name="adj" fmla="val 22118"/>
            </a:avLst>
          </a:prstGeom>
          <a:solidFill>
            <a:srgbClr val="E1E1EA"/>
          </a:solidFill>
          <a:ln/>
        </p:spPr>
        <p:txBody>
          <a:bodyPr/>
          <a:lstStyle/>
          <a:p>
            <a:endParaRPr lang="en-US"/>
          </a:p>
        </p:txBody>
      </p:sp>
      <p:sp>
        <p:nvSpPr>
          <p:cNvPr id="3" name="Text 1"/>
          <p:cNvSpPr/>
          <p:nvPr/>
        </p:nvSpPr>
        <p:spPr>
          <a:xfrm>
            <a:off x="774879" y="1994793"/>
            <a:ext cx="1789663"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PROBLEM SPACE</a:t>
            </a:r>
            <a:endParaRPr lang="en-US" sz="1150" dirty="0"/>
          </a:p>
        </p:txBody>
      </p:sp>
      <p:sp>
        <p:nvSpPr>
          <p:cNvPr id="4" name="Text 2"/>
          <p:cNvSpPr/>
          <p:nvPr/>
        </p:nvSpPr>
        <p:spPr>
          <a:xfrm>
            <a:off x="661475" y="2300883"/>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Three Approaches, Three Critical Flaws</a:t>
            </a:r>
            <a:endParaRPr lang="en-US" sz="37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175000"/>
            <a:ext cx="3496877" cy="1744762"/>
          </a:xfrm>
          <a:prstGeom prst="rect">
            <a:avLst/>
          </a:prstGeom>
        </p:spPr>
      </p:pic>
      <p:sp>
        <p:nvSpPr>
          <p:cNvPr id="6" name="Text 3"/>
          <p:cNvSpPr/>
          <p:nvPr/>
        </p:nvSpPr>
        <p:spPr>
          <a:xfrm>
            <a:off x="977479" y="3389412"/>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Traditional RE</a:t>
            </a:r>
            <a:endParaRPr lang="en-US" sz="1850" dirty="0"/>
          </a:p>
        </p:txBody>
      </p:sp>
      <p:sp>
        <p:nvSpPr>
          <p:cNvPr id="7" name="Text 4"/>
          <p:cNvSpPr/>
          <p:nvPr/>
        </p:nvSpPr>
        <p:spPr>
          <a:xfrm>
            <a:off x="977479" y="3798094"/>
            <a:ext cx="2966467"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Months of upfront analysis; requirements obsolete before deployment</a:t>
            </a:r>
            <a:endParaRPr lang="en-US" sz="14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7359" y="3175000"/>
            <a:ext cx="3496877" cy="1744762"/>
          </a:xfrm>
          <a:prstGeom prst="rect">
            <a:avLst/>
          </a:prstGeom>
        </p:spPr>
      </p:pic>
      <p:sp>
        <p:nvSpPr>
          <p:cNvPr id="9" name="Text 5"/>
          <p:cNvSpPr/>
          <p:nvPr/>
        </p:nvSpPr>
        <p:spPr>
          <a:xfrm>
            <a:off x="4663363" y="3389412"/>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Agile RE</a:t>
            </a:r>
            <a:endParaRPr lang="en-US" sz="1850" dirty="0"/>
          </a:p>
        </p:txBody>
      </p:sp>
      <p:sp>
        <p:nvSpPr>
          <p:cNvPr id="10" name="Text 6"/>
          <p:cNvSpPr/>
          <p:nvPr/>
        </p:nvSpPr>
        <p:spPr>
          <a:xfrm>
            <a:off x="4663363" y="3798094"/>
            <a:ext cx="2966467"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Traceability rot strips original business rationale; refactoring becomes hazardous</a:t>
            </a:r>
            <a:endParaRPr lang="en-US" sz="14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244" y="3175000"/>
            <a:ext cx="3496877" cy="1744762"/>
          </a:xfrm>
          <a:prstGeom prst="rect">
            <a:avLst/>
          </a:prstGeom>
        </p:spPr>
      </p:pic>
      <p:sp>
        <p:nvSpPr>
          <p:cNvPr id="12" name="Text 7"/>
          <p:cNvSpPr/>
          <p:nvPr/>
        </p:nvSpPr>
        <p:spPr>
          <a:xfrm>
            <a:off x="8349247" y="3389412"/>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Unguided LLM</a:t>
            </a:r>
            <a:endParaRPr lang="en-US" sz="1850" dirty="0"/>
          </a:p>
        </p:txBody>
      </p:sp>
      <p:sp>
        <p:nvSpPr>
          <p:cNvPr id="13" name="Text 8"/>
          <p:cNvSpPr/>
          <p:nvPr/>
        </p:nvSpPr>
        <p:spPr>
          <a:xfrm>
            <a:off x="8349247" y="3798094"/>
            <a:ext cx="296646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Hallucinations, vague language, compliance blindspots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900410"/>
            <a:ext cx="952972" cy="287139"/>
          </a:xfrm>
          <a:prstGeom prst="roundRect">
            <a:avLst>
              <a:gd name="adj" fmla="val 22118"/>
            </a:avLst>
          </a:prstGeom>
          <a:solidFill>
            <a:srgbClr val="E1E1EA"/>
          </a:solidFill>
          <a:ln/>
        </p:spPr>
        <p:txBody>
          <a:bodyPr/>
          <a:lstStyle/>
          <a:p>
            <a:endParaRPr lang="en-US"/>
          </a:p>
        </p:txBody>
      </p:sp>
      <p:sp>
        <p:nvSpPr>
          <p:cNvPr id="3" name="Text 1"/>
          <p:cNvSpPr/>
          <p:nvPr/>
        </p:nvSpPr>
        <p:spPr>
          <a:xfrm>
            <a:off x="774879" y="957064"/>
            <a:ext cx="1335749"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DEEP DIVE</a:t>
            </a:r>
            <a:endParaRPr lang="en-US" sz="1150" dirty="0"/>
          </a:p>
        </p:txBody>
      </p:sp>
      <p:sp>
        <p:nvSpPr>
          <p:cNvPr id="4" name="Text 2"/>
          <p:cNvSpPr/>
          <p:nvPr/>
        </p:nvSpPr>
        <p:spPr>
          <a:xfrm>
            <a:off x="661475" y="1589187"/>
            <a:ext cx="577022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Traditional RE: Rigorous but Slow</a:t>
            </a:r>
            <a:endParaRPr lang="en-US" sz="3700" dirty="0"/>
          </a:p>
        </p:txBody>
      </p:sp>
      <p:sp>
        <p:nvSpPr>
          <p:cNvPr id="5" name="Text 3"/>
          <p:cNvSpPr/>
          <p:nvPr/>
        </p:nvSpPr>
        <p:spPr>
          <a:xfrm>
            <a:off x="661475" y="2959497"/>
            <a:ext cx="5770220" cy="2116931"/>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Traditional requirements engineering emphasizes formal discipline, structured language, and verifiable statements to reduce ambiguity. It often uses standards like EARS and ISO/IEC quality criteria to improve consistency and traceability. The result is high-confidence requirements that are easier to review and validate. But the upfront analysis can take months or years, turning rigor into a velocity problem in fast-moving domains.</a:t>
            </a:r>
            <a:endParaRPr lang="en-US" sz="1450" dirty="0"/>
          </a:p>
        </p:txBody>
      </p:sp>
      <p:sp>
        <p:nvSpPr>
          <p:cNvPr id="6" name="Shape 4"/>
          <p:cNvSpPr/>
          <p:nvPr/>
        </p:nvSpPr>
        <p:spPr>
          <a:xfrm>
            <a:off x="6899202" y="1612801"/>
            <a:ext cx="2224131" cy="1820366"/>
          </a:xfrm>
          <a:prstGeom prst="roundRect">
            <a:avLst>
              <a:gd name="adj" fmla="val 4361"/>
            </a:avLst>
          </a:prstGeom>
          <a:solidFill>
            <a:srgbClr val="FFFFFF">
              <a:alpha val="95000"/>
            </a:srgbClr>
          </a:solidFill>
          <a:ln w="25399">
            <a:solidFill>
              <a:srgbClr val="C7C7D0"/>
            </a:solidFill>
            <a:prstDash val="solid"/>
          </a:ln>
        </p:spPr>
        <p:txBody>
          <a:bodyPr/>
          <a:lstStyle/>
          <a:p>
            <a:endParaRPr lang="en-US"/>
          </a:p>
        </p:txBody>
      </p:sp>
      <p:sp>
        <p:nvSpPr>
          <p:cNvPr id="7" name="Text 5"/>
          <p:cNvSpPr/>
          <p:nvPr/>
        </p:nvSpPr>
        <p:spPr>
          <a:xfrm>
            <a:off x="7113608" y="1827212"/>
            <a:ext cx="1795318"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Unambiguous</a:t>
            </a:r>
            <a:endParaRPr lang="en-US" sz="1850" dirty="0"/>
          </a:p>
        </p:txBody>
      </p:sp>
      <p:sp>
        <p:nvSpPr>
          <p:cNvPr id="8" name="Text 6"/>
          <p:cNvSpPr/>
          <p:nvPr/>
        </p:nvSpPr>
        <p:spPr>
          <a:xfrm>
            <a:off x="7113608" y="2311499"/>
            <a:ext cx="1795318"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Clear language reduces interpretation risk.</a:t>
            </a:r>
            <a:endParaRPr lang="en-US" sz="1450" dirty="0"/>
          </a:p>
        </p:txBody>
      </p:sp>
      <p:sp>
        <p:nvSpPr>
          <p:cNvPr id="9" name="Shape 7"/>
          <p:cNvSpPr/>
          <p:nvPr/>
        </p:nvSpPr>
        <p:spPr>
          <a:xfrm>
            <a:off x="9312340" y="1612801"/>
            <a:ext cx="2224131" cy="1820366"/>
          </a:xfrm>
          <a:prstGeom prst="roundRect">
            <a:avLst>
              <a:gd name="adj" fmla="val 4361"/>
            </a:avLst>
          </a:prstGeom>
          <a:solidFill>
            <a:srgbClr val="FFFFFF">
              <a:alpha val="95000"/>
            </a:srgbClr>
          </a:solidFill>
          <a:ln w="25399">
            <a:solidFill>
              <a:srgbClr val="C7C7D0"/>
            </a:solidFill>
            <a:prstDash val="solid"/>
          </a:ln>
        </p:spPr>
        <p:txBody>
          <a:bodyPr/>
          <a:lstStyle/>
          <a:p>
            <a:endParaRPr lang="en-US"/>
          </a:p>
        </p:txBody>
      </p:sp>
      <p:sp>
        <p:nvSpPr>
          <p:cNvPr id="10" name="Text 8"/>
          <p:cNvSpPr/>
          <p:nvPr/>
        </p:nvSpPr>
        <p:spPr>
          <a:xfrm>
            <a:off x="9526746" y="1827212"/>
            <a:ext cx="1795318"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Verifiable</a:t>
            </a:r>
            <a:endParaRPr lang="en-US" sz="1850" dirty="0"/>
          </a:p>
        </p:txBody>
      </p:sp>
      <p:sp>
        <p:nvSpPr>
          <p:cNvPr id="11" name="Text 9"/>
          <p:cNvSpPr/>
          <p:nvPr/>
        </p:nvSpPr>
        <p:spPr>
          <a:xfrm>
            <a:off x="9526746" y="2311499"/>
            <a:ext cx="1795318"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Requirements can be checked against measurable criteria.</a:t>
            </a:r>
            <a:endParaRPr lang="en-US" sz="1450" dirty="0"/>
          </a:p>
        </p:txBody>
      </p:sp>
      <p:sp>
        <p:nvSpPr>
          <p:cNvPr id="12" name="Shape 10"/>
          <p:cNvSpPr/>
          <p:nvPr/>
        </p:nvSpPr>
        <p:spPr>
          <a:xfrm>
            <a:off x="6899202" y="3622179"/>
            <a:ext cx="2224131" cy="2122785"/>
          </a:xfrm>
          <a:prstGeom prst="roundRect">
            <a:avLst>
              <a:gd name="adj" fmla="val 3740"/>
            </a:avLst>
          </a:prstGeom>
          <a:solidFill>
            <a:srgbClr val="FFFFFF">
              <a:alpha val="95000"/>
            </a:srgbClr>
          </a:solidFill>
          <a:ln w="25399">
            <a:solidFill>
              <a:srgbClr val="C7C7D0"/>
            </a:solidFill>
            <a:prstDash val="solid"/>
          </a:ln>
        </p:spPr>
        <p:txBody>
          <a:bodyPr/>
          <a:lstStyle/>
          <a:p>
            <a:endParaRPr lang="en-US"/>
          </a:p>
        </p:txBody>
      </p:sp>
      <p:sp>
        <p:nvSpPr>
          <p:cNvPr id="13" name="Text 11"/>
          <p:cNvSpPr/>
          <p:nvPr/>
        </p:nvSpPr>
        <p:spPr>
          <a:xfrm>
            <a:off x="7113608" y="3836591"/>
            <a:ext cx="1795318"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Traceable</a:t>
            </a:r>
            <a:endParaRPr lang="en-US" sz="1850" dirty="0"/>
          </a:p>
        </p:txBody>
      </p:sp>
      <p:sp>
        <p:nvSpPr>
          <p:cNvPr id="14" name="Text 12"/>
          <p:cNvSpPr/>
          <p:nvPr/>
        </p:nvSpPr>
        <p:spPr>
          <a:xfrm>
            <a:off x="7113608" y="4320877"/>
            <a:ext cx="1795318"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Links back to business goals and source needs stay intact.</a:t>
            </a:r>
            <a:endParaRPr lang="en-US" sz="1450" dirty="0"/>
          </a:p>
        </p:txBody>
      </p:sp>
      <p:sp>
        <p:nvSpPr>
          <p:cNvPr id="15" name="Shape 13"/>
          <p:cNvSpPr/>
          <p:nvPr/>
        </p:nvSpPr>
        <p:spPr>
          <a:xfrm>
            <a:off x="9312340" y="3622179"/>
            <a:ext cx="2224131" cy="2122785"/>
          </a:xfrm>
          <a:prstGeom prst="roundRect">
            <a:avLst>
              <a:gd name="adj" fmla="val 3740"/>
            </a:avLst>
          </a:prstGeom>
          <a:solidFill>
            <a:srgbClr val="FFFFFF">
              <a:alpha val="95000"/>
            </a:srgbClr>
          </a:solidFill>
          <a:ln w="25399">
            <a:solidFill>
              <a:srgbClr val="C7C7D0"/>
            </a:solidFill>
            <a:prstDash val="solid"/>
          </a:ln>
        </p:spPr>
        <p:txBody>
          <a:bodyPr/>
          <a:lstStyle/>
          <a:p>
            <a:endParaRPr lang="en-US"/>
          </a:p>
        </p:txBody>
      </p:sp>
      <p:sp>
        <p:nvSpPr>
          <p:cNvPr id="16" name="Text 14"/>
          <p:cNvSpPr/>
          <p:nvPr/>
        </p:nvSpPr>
        <p:spPr>
          <a:xfrm>
            <a:off x="9526746" y="3836591"/>
            <a:ext cx="1795318"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Consistent</a:t>
            </a:r>
            <a:endParaRPr lang="en-US" sz="1850" dirty="0"/>
          </a:p>
        </p:txBody>
      </p:sp>
      <p:sp>
        <p:nvSpPr>
          <p:cNvPr id="17" name="Text 15"/>
          <p:cNvSpPr/>
          <p:nvPr/>
        </p:nvSpPr>
        <p:spPr>
          <a:xfrm>
            <a:off x="9526746" y="4320877"/>
            <a:ext cx="1795318"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Standardized structure supports review and governance.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1083469"/>
            <a:ext cx="952972" cy="287139"/>
          </a:xfrm>
          <a:prstGeom prst="roundRect">
            <a:avLst>
              <a:gd name="adj" fmla="val 22118"/>
            </a:avLst>
          </a:prstGeom>
          <a:solidFill>
            <a:srgbClr val="E1E1EA"/>
          </a:solidFill>
          <a:ln/>
        </p:spPr>
        <p:txBody>
          <a:bodyPr/>
          <a:lstStyle/>
          <a:p>
            <a:endParaRPr lang="en-US"/>
          </a:p>
        </p:txBody>
      </p:sp>
      <p:sp>
        <p:nvSpPr>
          <p:cNvPr id="3" name="Text 1"/>
          <p:cNvSpPr/>
          <p:nvPr/>
        </p:nvSpPr>
        <p:spPr>
          <a:xfrm>
            <a:off x="774879" y="1140123"/>
            <a:ext cx="1335749"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DEEP DIVE</a:t>
            </a:r>
            <a:endParaRPr lang="en-US" sz="1150" dirty="0"/>
          </a:p>
        </p:txBody>
      </p:sp>
      <p:sp>
        <p:nvSpPr>
          <p:cNvPr id="4" name="Text 2"/>
          <p:cNvSpPr/>
          <p:nvPr/>
        </p:nvSpPr>
        <p:spPr>
          <a:xfrm>
            <a:off x="661475" y="1446212"/>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Agile RE and Unguided LLMs: Two More Failure Modes</a:t>
            </a:r>
            <a:endParaRPr lang="en-US" sz="3700" dirty="0"/>
          </a:p>
        </p:txBody>
      </p:sp>
      <p:sp>
        <p:nvSpPr>
          <p:cNvPr id="5" name="Text 3"/>
          <p:cNvSpPr/>
          <p:nvPr/>
        </p:nvSpPr>
        <p:spPr>
          <a:xfrm>
            <a:off x="661475" y="3099991"/>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Raleway" pitchFamily="34" charset="0"/>
                <a:ea typeface="Raleway" pitchFamily="34" charset="-122"/>
                <a:cs typeface="Raleway" pitchFamily="34" charset="-120"/>
              </a:rPr>
              <a:t>Agile RE: Fast but Forgetful</a:t>
            </a:r>
            <a:endParaRPr lang="en-US" sz="1850" dirty="0"/>
          </a:p>
        </p:txBody>
      </p:sp>
      <p:sp>
        <p:nvSpPr>
          <p:cNvPr id="6" name="Shape 4"/>
          <p:cNvSpPr/>
          <p:nvPr/>
        </p:nvSpPr>
        <p:spPr>
          <a:xfrm>
            <a:off x="661475" y="3607891"/>
            <a:ext cx="2507394" cy="1033661"/>
          </a:xfrm>
          <a:prstGeom prst="roundRect">
            <a:avLst>
              <a:gd name="adj" fmla="val 7680"/>
            </a:avLst>
          </a:prstGeom>
          <a:solidFill>
            <a:srgbClr val="FFFFFF">
              <a:alpha val="95000"/>
            </a:srgbClr>
          </a:solidFill>
          <a:ln w="25399">
            <a:solidFill>
              <a:srgbClr val="C7C7D0"/>
            </a:solidFill>
            <a:prstDash val="solid"/>
          </a:ln>
        </p:spPr>
        <p:txBody>
          <a:bodyPr/>
          <a:lstStyle/>
          <a:p>
            <a:endParaRPr lang="en-US"/>
          </a:p>
        </p:txBody>
      </p:sp>
      <p:sp>
        <p:nvSpPr>
          <p:cNvPr id="7" name="Text 5"/>
          <p:cNvSpPr/>
          <p:nvPr/>
        </p:nvSpPr>
        <p:spPr>
          <a:xfrm>
            <a:off x="875881" y="3822303"/>
            <a:ext cx="2078581"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Continuous discovery in short iterations</a:t>
            </a:r>
            <a:endParaRPr lang="en-US" sz="1450" dirty="0"/>
          </a:p>
        </p:txBody>
      </p:sp>
      <p:sp>
        <p:nvSpPr>
          <p:cNvPr id="8" name="Shape 6"/>
          <p:cNvSpPr/>
          <p:nvPr/>
        </p:nvSpPr>
        <p:spPr>
          <a:xfrm>
            <a:off x="3357875" y="3607891"/>
            <a:ext cx="2507394" cy="1033661"/>
          </a:xfrm>
          <a:prstGeom prst="roundRect">
            <a:avLst>
              <a:gd name="adj" fmla="val 7680"/>
            </a:avLst>
          </a:prstGeom>
          <a:solidFill>
            <a:srgbClr val="FFFFFF">
              <a:alpha val="95000"/>
            </a:srgbClr>
          </a:solidFill>
          <a:ln w="25399">
            <a:solidFill>
              <a:srgbClr val="C7C7D0"/>
            </a:solidFill>
            <a:prstDash val="solid"/>
          </a:ln>
        </p:spPr>
        <p:txBody>
          <a:bodyPr/>
          <a:lstStyle/>
          <a:p>
            <a:endParaRPr lang="en-US"/>
          </a:p>
        </p:txBody>
      </p:sp>
      <p:sp>
        <p:nvSpPr>
          <p:cNvPr id="9" name="Text 7"/>
          <p:cNvSpPr/>
          <p:nvPr/>
        </p:nvSpPr>
        <p:spPr>
          <a:xfrm>
            <a:off x="3572282" y="3822303"/>
            <a:ext cx="2078581"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Business rationale fades over time</a:t>
            </a:r>
            <a:endParaRPr lang="en-US" sz="1450" dirty="0"/>
          </a:p>
        </p:txBody>
      </p:sp>
      <p:sp>
        <p:nvSpPr>
          <p:cNvPr id="10" name="Shape 8"/>
          <p:cNvSpPr/>
          <p:nvPr/>
        </p:nvSpPr>
        <p:spPr>
          <a:xfrm>
            <a:off x="661475" y="4830564"/>
            <a:ext cx="5203794" cy="731242"/>
          </a:xfrm>
          <a:prstGeom prst="roundRect">
            <a:avLst>
              <a:gd name="adj" fmla="val 10857"/>
            </a:avLst>
          </a:prstGeom>
          <a:solidFill>
            <a:srgbClr val="FFFFFF">
              <a:alpha val="95000"/>
            </a:srgbClr>
          </a:solidFill>
          <a:ln w="25399">
            <a:solidFill>
              <a:srgbClr val="C7C7D0"/>
            </a:solidFill>
            <a:prstDash val="solid"/>
          </a:ln>
        </p:spPr>
        <p:txBody>
          <a:bodyPr/>
          <a:lstStyle/>
          <a:p>
            <a:endParaRPr lang="en-US"/>
          </a:p>
        </p:txBody>
      </p:sp>
      <p:sp>
        <p:nvSpPr>
          <p:cNvPr id="11" name="Text 9"/>
          <p:cNvSpPr/>
          <p:nvPr/>
        </p:nvSpPr>
        <p:spPr>
          <a:xfrm>
            <a:off x="875881" y="5044976"/>
            <a:ext cx="4774981"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Refactoring becomes harder to justify</a:t>
            </a:r>
            <a:endParaRPr lang="en-US" sz="1450" dirty="0"/>
          </a:p>
        </p:txBody>
      </p:sp>
      <p:sp>
        <p:nvSpPr>
          <p:cNvPr id="12" name="Text 10"/>
          <p:cNvSpPr/>
          <p:nvPr/>
        </p:nvSpPr>
        <p:spPr>
          <a:xfrm>
            <a:off x="6332776" y="3099991"/>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Raleway" pitchFamily="34" charset="0"/>
                <a:ea typeface="Raleway" pitchFamily="34" charset="-122"/>
                <a:cs typeface="Raleway" pitchFamily="34" charset="-120"/>
              </a:rPr>
              <a:t>Unguided LLM: The Hallucination Problem</a:t>
            </a:r>
            <a:endParaRPr lang="en-US" sz="1850" dirty="0"/>
          </a:p>
        </p:txBody>
      </p:sp>
      <p:sp>
        <p:nvSpPr>
          <p:cNvPr id="13" name="Shape 11"/>
          <p:cNvSpPr/>
          <p:nvPr/>
        </p:nvSpPr>
        <p:spPr>
          <a:xfrm>
            <a:off x="6332776" y="3607891"/>
            <a:ext cx="2507394" cy="1033661"/>
          </a:xfrm>
          <a:prstGeom prst="roundRect">
            <a:avLst>
              <a:gd name="adj" fmla="val 7680"/>
            </a:avLst>
          </a:prstGeom>
          <a:solidFill>
            <a:srgbClr val="FFFFFF">
              <a:alpha val="95000"/>
            </a:srgbClr>
          </a:solidFill>
          <a:ln w="25399">
            <a:solidFill>
              <a:srgbClr val="C7C7D0"/>
            </a:solidFill>
            <a:prstDash val="solid"/>
          </a:ln>
        </p:spPr>
        <p:txBody>
          <a:bodyPr/>
          <a:lstStyle/>
          <a:p>
            <a:endParaRPr lang="en-US"/>
          </a:p>
        </p:txBody>
      </p:sp>
      <p:sp>
        <p:nvSpPr>
          <p:cNvPr id="14" name="Text 12"/>
          <p:cNvSpPr/>
          <p:nvPr/>
        </p:nvSpPr>
        <p:spPr>
          <a:xfrm>
            <a:off x="6547182" y="3822303"/>
            <a:ext cx="2078581"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Invents unrequested features</a:t>
            </a:r>
            <a:endParaRPr lang="en-US" sz="1450" dirty="0"/>
          </a:p>
        </p:txBody>
      </p:sp>
      <p:sp>
        <p:nvSpPr>
          <p:cNvPr id="15" name="Shape 13"/>
          <p:cNvSpPr/>
          <p:nvPr/>
        </p:nvSpPr>
        <p:spPr>
          <a:xfrm>
            <a:off x="9029176" y="3607891"/>
            <a:ext cx="2507394" cy="1033661"/>
          </a:xfrm>
          <a:prstGeom prst="roundRect">
            <a:avLst>
              <a:gd name="adj" fmla="val 7680"/>
            </a:avLst>
          </a:prstGeom>
          <a:solidFill>
            <a:srgbClr val="FFFFFF">
              <a:alpha val="95000"/>
            </a:srgbClr>
          </a:solidFill>
          <a:ln w="25399">
            <a:solidFill>
              <a:srgbClr val="C7C7D0"/>
            </a:solidFill>
            <a:prstDash val="solid"/>
          </a:ln>
        </p:spPr>
        <p:txBody>
          <a:bodyPr/>
          <a:lstStyle/>
          <a:p>
            <a:endParaRPr lang="en-US"/>
          </a:p>
        </p:txBody>
      </p:sp>
      <p:sp>
        <p:nvSpPr>
          <p:cNvPr id="16" name="Text 14"/>
          <p:cNvSpPr/>
          <p:nvPr/>
        </p:nvSpPr>
        <p:spPr>
          <a:xfrm>
            <a:off x="9243583" y="3822303"/>
            <a:ext cx="2078581"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Produces vague, untestable language</a:t>
            </a:r>
            <a:endParaRPr lang="en-US" sz="1450" dirty="0"/>
          </a:p>
        </p:txBody>
      </p:sp>
      <p:sp>
        <p:nvSpPr>
          <p:cNvPr id="17" name="Shape 15"/>
          <p:cNvSpPr/>
          <p:nvPr/>
        </p:nvSpPr>
        <p:spPr>
          <a:xfrm>
            <a:off x="6332776" y="4830564"/>
            <a:ext cx="5203794" cy="731242"/>
          </a:xfrm>
          <a:prstGeom prst="roundRect">
            <a:avLst>
              <a:gd name="adj" fmla="val 10857"/>
            </a:avLst>
          </a:prstGeom>
          <a:solidFill>
            <a:srgbClr val="FFFFFF">
              <a:alpha val="95000"/>
            </a:srgbClr>
          </a:solidFill>
          <a:ln w="25399">
            <a:solidFill>
              <a:srgbClr val="C7C7D0"/>
            </a:solidFill>
            <a:prstDash val="solid"/>
          </a:ln>
        </p:spPr>
        <p:txBody>
          <a:bodyPr/>
          <a:lstStyle/>
          <a:p>
            <a:endParaRPr lang="en-US"/>
          </a:p>
        </p:txBody>
      </p:sp>
      <p:sp>
        <p:nvSpPr>
          <p:cNvPr id="18" name="Text 16"/>
          <p:cNvSpPr/>
          <p:nvPr/>
        </p:nvSpPr>
        <p:spPr>
          <a:xfrm>
            <a:off x="6547182" y="5044976"/>
            <a:ext cx="4774981"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Can miss security and compliance issues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795337"/>
            <a:ext cx="938884" cy="287139"/>
          </a:xfrm>
          <a:prstGeom prst="roundRect">
            <a:avLst>
              <a:gd name="adj" fmla="val 22118"/>
            </a:avLst>
          </a:prstGeom>
          <a:solidFill>
            <a:srgbClr val="E1E1EA"/>
          </a:solidFill>
          <a:ln/>
        </p:spPr>
        <p:txBody>
          <a:bodyPr/>
          <a:lstStyle/>
          <a:p>
            <a:endParaRPr lang="en-US"/>
          </a:p>
        </p:txBody>
      </p:sp>
      <p:sp>
        <p:nvSpPr>
          <p:cNvPr id="3" name="Text 1"/>
          <p:cNvSpPr/>
          <p:nvPr/>
        </p:nvSpPr>
        <p:spPr>
          <a:xfrm>
            <a:off x="774879" y="851991"/>
            <a:ext cx="1321660"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SOLUTION</a:t>
            </a:r>
            <a:endParaRPr lang="en-US" sz="1150" dirty="0"/>
          </a:p>
        </p:txBody>
      </p:sp>
      <p:sp>
        <p:nvSpPr>
          <p:cNvPr id="4" name="Text 2"/>
          <p:cNvSpPr/>
          <p:nvPr/>
        </p:nvSpPr>
        <p:spPr>
          <a:xfrm>
            <a:off x="661475" y="1158081"/>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Agentic Workflow: The Self-Defending Requirement</a:t>
            </a:r>
            <a:endParaRPr lang="en-US" sz="3700" dirty="0"/>
          </a:p>
        </p:txBody>
      </p:sp>
      <p:sp>
        <p:nvSpPr>
          <p:cNvPr id="5" name="Text 3"/>
          <p:cNvSpPr/>
          <p:nvPr/>
        </p:nvSpPr>
        <p:spPr>
          <a:xfrm>
            <a:off x="661475" y="2622848"/>
            <a:ext cx="10868745"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3C3939"/>
                </a:solidFill>
                <a:latin typeface="Roboto" pitchFamily="34" charset="0"/>
                <a:ea typeface="Roboto" pitchFamily="34" charset="-122"/>
                <a:cs typeface="Roboto" pitchFamily="34" charset="-120"/>
              </a:rPr>
              <a:t>A system that wraps LLMs in structural constraints, transforming probabilistic language models into deterministic engineering tools.</a:t>
            </a:r>
            <a:endParaRPr lang="en-US" sz="14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440311"/>
            <a:ext cx="472468" cy="472480"/>
          </a:xfrm>
          <a:prstGeom prst="rect">
            <a:avLst/>
          </a:prstGeom>
        </p:spPr>
      </p:pic>
      <p:sp>
        <p:nvSpPr>
          <p:cNvPr id="7" name="Text 4"/>
          <p:cNvSpPr/>
          <p:nvPr/>
        </p:nvSpPr>
        <p:spPr>
          <a:xfrm>
            <a:off x="661475" y="4149030"/>
            <a:ext cx="3465426"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Four-Layer Hallucination Firewall</a:t>
            </a:r>
            <a:endParaRPr lang="en-US" sz="1850" dirty="0"/>
          </a:p>
        </p:txBody>
      </p:sp>
      <p:sp>
        <p:nvSpPr>
          <p:cNvPr id="8" name="Text 5"/>
          <p:cNvSpPr/>
          <p:nvPr/>
        </p:nvSpPr>
        <p:spPr>
          <a:xfrm>
            <a:off x="661475" y="4852987"/>
            <a:ext cx="3465426"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Each layer intercepts a distinct failure mode before it can propagate downstream into implementation</a:t>
            </a:r>
            <a:endParaRPr lang="en-US" sz="14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63135" y="3440311"/>
            <a:ext cx="472468" cy="472480"/>
          </a:xfrm>
          <a:prstGeom prst="rect">
            <a:avLst/>
          </a:prstGeom>
        </p:spPr>
      </p:pic>
      <p:sp>
        <p:nvSpPr>
          <p:cNvPr id="10" name="Text 6"/>
          <p:cNvSpPr/>
          <p:nvPr/>
        </p:nvSpPr>
        <p:spPr>
          <a:xfrm>
            <a:off x="4363135" y="4149030"/>
            <a:ext cx="3465426"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Requirements as Compiled Code</a:t>
            </a:r>
            <a:endParaRPr lang="en-US" sz="1850" dirty="0"/>
          </a:p>
        </p:txBody>
      </p:sp>
      <p:sp>
        <p:nvSpPr>
          <p:cNvPr id="11" name="Text 7"/>
          <p:cNvSpPr/>
          <p:nvPr/>
        </p:nvSpPr>
        <p:spPr>
          <a:xfrm>
            <a:off x="4363135" y="4852987"/>
            <a:ext cx="3465426"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Treated as validated artifacts, not passive templates. Every requirement is linted, schema-validated, and source-anchored</a:t>
            </a:r>
            <a:endParaRPr lang="en-US" sz="14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64794" y="3440311"/>
            <a:ext cx="472468" cy="472480"/>
          </a:xfrm>
          <a:prstGeom prst="rect">
            <a:avLst/>
          </a:prstGeom>
        </p:spPr>
      </p:pic>
      <p:sp>
        <p:nvSpPr>
          <p:cNvPr id="13" name="Text 8"/>
          <p:cNvSpPr/>
          <p:nvPr/>
        </p:nvSpPr>
        <p:spPr>
          <a:xfrm>
            <a:off x="8064794" y="4149030"/>
            <a:ext cx="3465426"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Best of Both Worlds</a:t>
            </a:r>
            <a:endParaRPr lang="en-US" sz="1850" dirty="0"/>
          </a:p>
        </p:txBody>
      </p:sp>
      <p:sp>
        <p:nvSpPr>
          <p:cNvPr id="14" name="Text 9"/>
          <p:cNvSpPr/>
          <p:nvPr/>
        </p:nvSpPr>
        <p:spPr>
          <a:xfrm>
            <a:off x="8064794" y="4557713"/>
            <a:ext cx="3465426"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Combines Agile velocity with Traditional rigor and adds compliance safety that neither approach delivers alone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713780"/>
            <a:ext cx="1303007" cy="287139"/>
          </a:xfrm>
          <a:prstGeom prst="roundRect">
            <a:avLst>
              <a:gd name="adj" fmla="val 22118"/>
            </a:avLst>
          </a:prstGeom>
          <a:solidFill>
            <a:srgbClr val="E1E1EA"/>
          </a:solidFill>
          <a:ln/>
        </p:spPr>
        <p:txBody>
          <a:bodyPr/>
          <a:lstStyle/>
          <a:p>
            <a:endParaRPr lang="en-US"/>
          </a:p>
        </p:txBody>
      </p:sp>
      <p:sp>
        <p:nvSpPr>
          <p:cNvPr id="3" name="Text 1"/>
          <p:cNvSpPr/>
          <p:nvPr/>
        </p:nvSpPr>
        <p:spPr>
          <a:xfrm>
            <a:off x="774879" y="770434"/>
            <a:ext cx="1685784"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ARCHITECTURE</a:t>
            </a:r>
            <a:endParaRPr lang="en-US" sz="1150" dirty="0"/>
          </a:p>
        </p:txBody>
      </p:sp>
      <p:sp>
        <p:nvSpPr>
          <p:cNvPr id="4" name="Text 2"/>
          <p:cNvSpPr/>
          <p:nvPr/>
        </p:nvSpPr>
        <p:spPr>
          <a:xfrm>
            <a:off x="661475" y="1076523"/>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The Four-Layer Hallucination Firewall</a:t>
            </a:r>
            <a:endParaRPr lang="en-US" sz="3700" dirty="0"/>
          </a:p>
        </p:txBody>
      </p:sp>
      <p:sp>
        <p:nvSpPr>
          <p:cNvPr id="5" name="Text 3"/>
          <p:cNvSpPr/>
          <p:nvPr/>
        </p:nvSpPr>
        <p:spPr>
          <a:xfrm>
            <a:off x="661475" y="1950641"/>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Each layer addresses a distinct class of LLM failure, so no single safeguard has to do all the work.</a:t>
            </a:r>
            <a:endParaRPr lang="en-US" sz="1450" dirty="0"/>
          </a:p>
        </p:txBody>
      </p:sp>
      <p:sp>
        <p:nvSpPr>
          <p:cNvPr id="6" name="Shape 4"/>
          <p:cNvSpPr/>
          <p:nvPr/>
        </p:nvSpPr>
        <p:spPr>
          <a:xfrm>
            <a:off x="661475" y="2465685"/>
            <a:ext cx="3496877" cy="2349599"/>
          </a:xfrm>
          <a:prstGeom prst="roundRect">
            <a:avLst>
              <a:gd name="adj" fmla="val 3379"/>
            </a:avLst>
          </a:prstGeom>
          <a:solidFill>
            <a:srgbClr val="FFFFFF">
              <a:alpha val="95000"/>
            </a:srgbClr>
          </a:solidFill>
          <a:ln w="25399">
            <a:solidFill>
              <a:srgbClr val="C7C7D0"/>
            </a:solidFill>
            <a:prstDash val="solid"/>
          </a:ln>
        </p:spPr>
        <p:txBody>
          <a:bodyPr/>
          <a:lstStyle/>
          <a:p>
            <a:endParaRPr lang="en-US"/>
          </a:p>
        </p:txBody>
      </p:sp>
      <p:sp>
        <p:nvSpPr>
          <p:cNvPr id="7" name="Text 5"/>
          <p:cNvSpPr/>
          <p:nvPr/>
        </p:nvSpPr>
        <p:spPr>
          <a:xfrm>
            <a:off x="875881" y="2680097"/>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Semantic Grounding</a:t>
            </a:r>
            <a:endParaRPr lang="en-US" sz="1850" dirty="0"/>
          </a:p>
        </p:txBody>
      </p:sp>
      <p:sp>
        <p:nvSpPr>
          <p:cNvPr id="8" name="Text 6"/>
          <p:cNvSpPr/>
          <p:nvPr/>
        </p:nvSpPr>
        <p:spPr>
          <a:xfrm>
            <a:off x="875881" y="3088779"/>
            <a:ext cx="3068065"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Ties requirements to source evidence so claims stay anchored in real documentation. This reduces invented details before they enter the workflow.</a:t>
            </a:r>
            <a:endParaRPr lang="en-US" sz="1450" dirty="0"/>
          </a:p>
        </p:txBody>
      </p:sp>
      <p:sp>
        <p:nvSpPr>
          <p:cNvPr id="9" name="Shape 7"/>
          <p:cNvSpPr/>
          <p:nvPr/>
        </p:nvSpPr>
        <p:spPr>
          <a:xfrm>
            <a:off x="4347359" y="2465685"/>
            <a:ext cx="3496877" cy="2349599"/>
          </a:xfrm>
          <a:prstGeom prst="roundRect">
            <a:avLst>
              <a:gd name="adj" fmla="val 3379"/>
            </a:avLst>
          </a:prstGeom>
          <a:solidFill>
            <a:srgbClr val="FFFFFF">
              <a:alpha val="95000"/>
            </a:srgbClr>
          </a:solidFill>
          <a:ln w="25399">
            <a:solidFill>
              <a:srgbClr val="C7C7D0"/>
            </a:solidFill>
            <a:prstDash val="solid"/>
          </a:ln>
        </p:spPr>
        <p:txBody>
          <a:bodyPr/>
          <a:lstStyle/>
          <a:p>
            <a:endParaRPr lang="en-US"/>
          </a:p>
        </p:txBody>
      </p:sp>
      <p:sp>
        <p:nvSpPr>
          <p:cNvPr id="10" name="Text 8"/>
          <p:cNvSpPr/>
          <p:nvPr/>
        </p:nvSpPr>
        <p:spPr>
          <a:xfrm>
            <a:off x="4561766" y="2680097"/>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Schema Constraints</a:t>
            </a:r>
            <a:endParaRPr lang="en-US" sz="1850" dirty="0"/>
          </a:p>
        </p:txBody>
      </p:sp>
      <p:sp>
        <p:nvSpPr>
          <p:cNvPr id="11" name="Text 9"/>
          <p:cNvSpPr/>
          <p:nvPr/>
        </p:nvSpPr>
        <p:spPr>
          <a:xfrm>
            <a:off x="4561766" y="3088779"/>
            <a:ext cx="3068065"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Enforces EARS grammar and required structure at the point of authoring. Invalid patterns are blocked before they can become part of the requirement set.</a:t>
            </a:r>
            <a:endParaRPr lang="en-US" sz="1450" dirty="0"/>
          </a:p>
        </p:txBody>
      </p:sp>
      <p:sp>
        <p:nvSpPr>
          <p:cNvPr id="12" name="Shape 10"/>
          <p:cNvSpPr/>
          <p:nvPr/>
        </p:nvSpPr>
        <p:spPr>
          <a:xfrm>
            <a:off x="8033244" y="2465685"/>
            <a:ext cx="3496877" cy="2349599"/>
          </a:xfrm>
          <a:prstGeom prst="roundRect">
            <a:avLst>
              <a:gd name="adj" fmla="val 3379"/>
            </a:avLst>
          </a:prstGeom>
          <a:solidFill>
            <a:srgbClr val="FFFFFF">
              <a:alpha val="95000"/>
            </a:srgbClr>
          </a:solidFill>
          <a:ln w="25399">
            <a:solidFill>
              <a:srgbClr val="C7C7D0"/>
            </a:solidFill>
            <a:prstDash val="solid"/>
          </a:ln>
        </p:spPr>
        <p:txBody>
          <a:bodyPr/>
          <a:lstStyle/>
          <a:p>
            <a:endParaRPr lang="en-US"/>
          </a:p>
        </p:txBody>
      </p:sp>
      <p:sp>
        <p:nvSpPr>
          <p:cNvPr id="13" name="Text 11"/>
          <p:cNvSpPr/>
          <p:nvPr/>
        </p:nvSpPr>
        <p:spPr>
          <a:xfrm>
            <a:off x="8247650" y="2680097"/>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Automated Linting</a:t>
            </a:r>
            <a:endParaRPr lang="en-US" sz="1850" dirty="0"/>
          </a:p>
        </p:txBody>
      </p:sp>
      <p:sp>
        <p:nvSpPr>
          <p:cNvPr id="14" name="Text 12"/>
          <p:cNvSpPr/>
          <p:nvPr/>
        </p:nvSpPr>
        <p:spPr>
          <a:xfrm>
            <a:off x="8247650" y="3088779"/>
            <a:ext cx="3068065"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Checks every save or commit for structural errors and inconsistencies. It catches problems continuously instead of waiting for a late-stage review.</a:t>
            </a:r>
            <a:endParaRPr lang="en-US" sz="1450" dirty="0"/>
          </a:p>
        </p:txBody>
      </p:sp>
      <p:sp>
        <p:nvSpPr>
          <p:cNvPr id="15" name="Shape 13"/>
          <p:cNvSpPr/>
          <p:nvPr/>
        </p:nvSpPr>
        <p:spPr>
          <a:xfrm>
            <a:off x="661475" y="5004296"/>
            <a:ext cx="10868646" cy="1139924"/>
          </a:xfrm>
          <a:prstGeom prst="roundRect">
            <a:avLst>
              <a:gd name="adj" fmla="val 6964"/>
            </a:avLst>
          </a:prstGeom>
          <a:solidFill>
            <a:srgbClr val="FFFFFF">
              <a:alpha val="95000"/>
            </a:srgbClr>
          </a:solidFill>
          <a:ln w="25399">
            <a:solidFill>
              <a:srgbClr val="C7C7D0"/>
            </a:solidFill>
            <a:prstDash val="solid"/>
          </a:ln>
        </p:spPr>
        <p:txBody>
          <a:bodyPr/>
          <a:lstStyle/>
          <a:p>
            <a:endParaRPr lang="en-US"/>
          </a:p>
        </p:txBody>
      </p:sp>
      <p:sp>
        <p:nvSpPr>
          <p:cNvPr id="16" name="Text 14"/>
          <p:cNvSpPr/>
          <p:nvPr/>
        </p:nvSpPr>
        <p:spPr>
          <a:xfrm>
            <a:off x="875881" y="5218708"/>
            <a:ext cx="10439833"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Human-in-the-Loop</a:t>
            </a:r>
            <a:endParaRPr lang="en-US" sz="1850" dirty="0"/>
          </a:p>
        </p:txBody>
      </p:sp>
      <p:sp>
        <p:nvSpPr>
          <p:cNvPr id="17" name="Text 15"/>
          <p:cNvSpPr/>
          <p:nvPr/>
        </p:nvSpPr>
        <p:spPr>
          <a:xfrm>
            <a:off x="875881" y="5627390"/>
            <a:ext cx="10439833"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Directs expert attention to the highest-risk requirements only. Review time goes where judgment matters most.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886817"/>
            <a:ext cx="1303007" cy="287139"/>
          </a:xfrm>
          <a:prstGeom prst="roundRect">
            <a:avLst>
              <a:gd name="adj" fmla="val 22118"/>
            </a:avLst>
          </a:prstGeom>
          <a:solidFill>
            <a:srgbClr val="E1E1EA"/>
          </a:solidFill>
          <a:ln/>
        </p:spPr>
        <p:txBody>
          <a:bodyPr/>
          <a:lstStyle/>
          <a:p>
            <a:endParaRPr lang="en-US"/>
          </a:p>
        </p:txBody>
      </p:sp>
      <p:sp>
        <p:nvSpPr>
          <p:cNvPr id="3" name="Text 1"/>
          <p:cNvSpPr/>
          <p:nvPr/>
        </p:nvSpPr>
        <p:spPr>
          <a:xfrm>
            <a:off x="774879" y="943471"/>
            <a:ext cx="1685784"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ARCHITECTURE</a:t>
            </a:r>
            <a:endParaRPr lang="en-US" sz="1150" dirty="0"/>
          </a:p>
        </p:txBody>
      </p:sp>
      <p:sp>
        <p:nvSpPr>
          <p:cNvPr id="4" name="Text 2"/>
          <p:cNvSpPr/>
          <p:nvPr/>
        </p:nvSpPr>
        <p:spPr>
          <a:xfrm>
            <a:off x="661475" y="1249561"/>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Layers 1, 2, and 3: From Source to Schema to CI/CD</a:t>
            </a:r>
            <a:endParaRPr lang="en-US" sz="3700" dirty="0"/>
          </a:p>
        </p:txBody>
      </p:sp>
      <p:sp>
        <p:nvSpPr>
          <p:cNvPr id="5" name="Shape 3"/>
          <p:cNvSpPr/>
          <p:nvPr/>
        </p:nvSpPr>
        <p:spPr>
          <a:xfrm>
            <a:off x="661475" y="2714327"/>
            <a:ext cx="3496877" cy="3256855"/>
          </a:xfrm>
          <a:prstGeom prst="roundRect">
            <a:avLst>
              <a:gd name="adj" fmla="val 2438"/>
            </a:avLst>
          </a:prstGeom>
          <a:solidFill>
            <a:srgbClr val="FFFFFF">
              <a:alpha val="95000"/>
            </a:srgbClr>
          </a:solidFill>
          <a:ln w="25399">
            <a:solidFill>
              <a:srgbClr val="C7C7D0"/>
            </a:solidFill>
            <a:prstDash val="solid"/>
          </a:ln>
        </p:spPr>
        <p:txBody>
          <a:bodyPr/>
          <a:lstStyle/>
          <a:p>
            <a:endParaRPr lang="en-US"/>
          </a:p>
        </p:txBody>
      </p:sp>
      <p:sp>
        <p:nvSpPr>
          <p:cNvPr id="6" name="Text 4"/>
          <p:cNvSpPr/>
          <p:nvPr/>
        </p:nvSpPr>
        <p:spPr>
          <a:xfrm>
            <a:off x="875881" y="2928739"/>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Semantic Grounding</a:t>
            </a:r>
            <a:endParaRPr lang="en-US" sz="1850" dirty="0"/>
          </a:p>
        </p:txBody>
      </p:sp>
      <p:sp>
        <p:nvSpPr>
          <p:cNvPr id="7" name="Text 5"/>
          <p:cNvSpPr/>
          <p:nvPr/>
        </p:nvSpPr>
        <p:spPr>
          <a:xfrm>
            <a:off x="875881" y="3337421"/>
            <a:ext cx="3068065"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Every requirement links to an immutable source transcript with line ranges and verbatim evidence quotes. The agent operates under zero-trust and does not draw from general training data.</a:t>
            </a:r>
            <a:endParaRPr lang="en-US" sz="1450" dirty="0"/>
          </a:p>
        </p:txBody>
      </p:sp>
      <p:sp>
        <p:nvSpPr>
          <p:cNvPr id="8" name="Shape 6"/>
          <p:cNvSpPr/>
          <p:nvPr/>
        </p:nvSpPr>
        <p:spPr>
          <a:xfrm>
            <a:off x="4347359" y="2714327"/>
            <a:ext cx="3496877" cy="3256855"/>
          </a:xfrm>
          <a:prstGeom prst="roundRect">
            <a:avLst>
              <a:gd name="adj" fmla="val 2438"/>
            </a:avLst>
          </a:prstGeom>
          <a:solidFill>
            <a:srgbClr val="FFFFFF">
              <a:alpha val="95000"/>
            </a:srgbClr>
          </a:solidFill>
          <a:ln w="25399">
            <a:solidFill>
              <a:srgbClr val="C7C7D0"/>
            </a:solidFill>
            <a:prstDash val="solid"/>
          </a:ln>
        </p:spPr>
        <p:txBody>
          <a:bodyPr/>
          <a:lstStyle/>
          <a:p>
            <a:endParaRPr lang="en-US"/>
          </a:p>
        </p:txBody>
      </p:sp>
      <p:sp>
        <p:nvSpPr>
          <p:cNvPr id="9" name="Text 7"/>
          <p:cNvSpPr/>
          <p:nvPr/>
        </p:nvSpPr>
        <p:spPr>
          <a:xfrm>
            <a:off x="4561766" y="2928739"/>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Schema Constraints</a:t>
            </a:r>
            <a:endParaRPr lang="en-US" sz="1850" dirty="0"/>
          </a:p>
        </p:txBody>
      </p:sp>
      <p:sp>
        <p:nvSpPr>
          <p:cNvPr id="10" name="Text 8"/>
          <p:cNvSpPr/>
          <p:nvPr/>
        </p:nvSpPr>
        <p:spPr>
          <a:xfrm>
            <a:off x="4561766" y="3337421"/>
            <a:ext cx="3068065"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JSON schema enforces EARS grammar structure and requires the "shall" keyword. It also maintains a banned-word list that blocks vague adjectives before generation completes.</a:t>
            </a:r>
            <a:endParaRPr lang="en-US" sz="1450" dirty="0"/>
          </a:p>
        </p:txBody>
      </p:sp>
      <p:sp>
        <p:nvSpPr>
          <p:cNvPr id="11" name="Shape 9"/>
          <p:cNvSpPr/>
          <p:nvPr/>
        </p:nvSpPr>
        <p:spPr>
          <a:xfrm>
            <a:off x="8033244" y="2714327"/>
            <a:ext cx="3496877" cy="3256855"/>
          </a:xfrm>
          <a:prstGeom prst="roundRect">
            <a:avLst>
              <a:gd name="adj" fmla="val 2438"/>
            </a:avLst>
          </a:prstGeom>
          <a:solidFill>
            <a:srgbClr val="FFFFFF">
              <a:alpha val="95000"/>
            </a:srgbClr>
          </a:solidFill>
          <a:ln w="25399">
            <a:solidFill>
              <a:srgbClr val="C7C7D0"/>
            </a:solidFill>
            <a:prstDash val="solid"/>
          </a:ln>
        </p:spPr>
        <p:txBody>
          <a:bodyPr/>
          <a:lstStyle/>
          <a:p>
            <a:endParaRPr lang="en-US"/>
          </a:p>
        </p:txBody>
      </p:sp>
      <p:sp>
        <p:nvSpPr>
          <p:cNvPr id="12" name="Text 10"/>
          <p:cNvSpPr/>
          <p:nvPr/>
        </p:nvSpPr>
        <p:spPr>
          <a:xfrm>
            <a:off x="8247650" y="2928739"/>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Automated Linting</a:t>
            </a:r>
            <a:endParaRPr lang="en-US" sz="1850" dirty="0"/>
          </a:p>
        </p:txBody>
      </p:sp>
      <p:sp>
        <p:nvSpPr>
          <p:cNvPr id="13" name="Text 11"/>
          <p:cNvSpPr/>
          <p:nvPr/>
        </p:nvSpPr>
        <p:spPr>
          <a:xfrm>
            <a:off x="8247650" y="3337421"/>
            <a:ext cx="3068065" cy="2419350"/>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A Python linter validates every save by checking EARS patterns, scanning for forbidden adjectives, and verifying quotes against the source. The deterministic CI/CD pipeline aborts commits when even a single-character discrepancy is found.</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1245890"/>
            <a:ext cx="1303007" cy="287139"/>
          </a:xfrm>
          <a:prstGeom prst="roundRect">
            <a:avLst>
              <a:gd name="adj" fmla="val 22118"/>
            </a:avLst>
          </a:prstGeom>
          <a:solidFill>
            <a:srgbClr val="E1E1EA"/>
          </a:solidFill>
          <a:ln/>
        </p:spPr>
        <p:txBody>
          <a:bodyPr/>
          <a:lstStyle/>
          <a:p>
            <a:endParaRPr lang="en-US"/>
          </a:p>
        </p:txBody>
      </p:sp>
      <p:sp>
        <p:nvSpPr>
          <p:cNvPr id="3" name="Text 1"/>
          <p:cNvSpPr/>
          <p:nvPr/>
        </p:nvSpPr>
        <p:spPr>
          <a:xfrm>
            <a:off x="774879" y="1302544"/>
            <a:ext cx="1685784"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ARCHITECTURE</a:t>
            </a:r>
            <a:endParaRPr lang="en-US" sz="1150" dirty="0"/>
          </a:p>
        </p:txBody>
      </p:sp>
      <p:sp>
        <p:nvSpPr>
          <p:cNvPr id="4" name="Text 2"/>
          <p:cNvSpPr/>
          <p:nvPr/>
        </p:nvSpPr>
        <p:spPr>
          <a:xfrm>
            <a:off x="661475" y="1608634"/>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Layer 4: Human-in-the-Loop Worst-First Gate</a:t>
            </a:r>
            <a:endParaRPr lang="en-US" sz="3700" dirty="0"/>
          </a:p>
        </p:txBody>
      </p:sp>
      <p:sp>
        <p:nvSpPr>
          <p:cNvPr id="5" name="Text 3"/>
          <p:cNvSpPr/>
          <p:nvPr/>
        </p:nvSpPr>
        <p:spPr>
          <a:xfrm>
            <a:off x="661475" y="2482751"/>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The final layer preserves human judgment precisely where it matters most, while eliminating review overhead for requirements that have already earned high confidence scores.</a:t>
            </a:r>
            <a:endParaRPr lang="en-US" sz="14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300214"/>
            <a:ext cx="3496877" cy="2311797"/>
          </a:xfrm>
          <a:prstGeom prst="rect">
            <a:avLst/>
          </a:prstGeom>
        </p:spPr>
      </p:pic>
      <p:sp>
        <p:nvSpPr>
          <p:cNvPr id="7" name="Text 4"/>
          <p:cNvSpPr/>
          <p:nvPr/>
        </p:nvSpPr>
        <p:spPr>
          <a:xfrm>
            <a:off x="875881" y="4081661"/>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Risk Scoring</a:t>
            </a:r>
            <a:endParaRPr lang="en-US" sz="1850" dirty="0"/>
          </a:p>
        </p:txBody>
      </p:sp>
      <p:sp>
        <p:nvSpPr>
          <p:cNvPr id="8" name="Text 5"/>
          <p:cNvSpPr/>
          <p:nvPr/>
        </p:nvSpPr>
        <p:spPr>
          <a:xfrm>
            <a:off x="875881" y="4490343"/>
            <a:ext cx="306806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Automated metrics score every requirement on confidence level and assumption count</a:t>
            </a:r>
            <a:endParaRPr lang="en-US" sz="14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7359" y="3300214"/>
            <a:ext cx="3496877" cy="2311797"/>
          </a:xfrm>
          <a:prstGeom prst="rect">
            <a:avLst/>
          </a:prstGeom>
        </p:spPr>
      </p:pic>
      <p:sp>
        <p:nvSpPr>
          <p:cNvPr id="10" name="Text 6"/>
          <p:cNvSpPr/>
          <p:nvPr/>
        </p:nvSpPr>
        <p:spPr>
          <a:xfrm>
            <a:off x="4561766" y="4081661"/>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Focused Review</a:t>
            </a:r>
            <a:endParaRPr lang="en-US" sz="1850" dirty="0"/>
          </a:p>
        </p:txBody>
      </p:sp>
      <p:sp>
        <p:nvSpPr>
          <p:cNvPr id="11" name="Text 7"/>
          <p:cNvSpPr/>
          <p:nvPr/>
        </p:nvSpPr>
        <p:spPr>
          <a:xfrm>
            <a:off x="4561766" y="4490343"/>
            <a:ext cx="306806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Human reviewers direct 90% of their effort toward low-confidence, high-assumption specifications</a:t>
            </a:r>
            <a:endParaRPr lang="en-US" sz="14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244" y="3300214"/>
            <a:ext cx="3496877" cy="2311797"/>
          </a:xfrm>
          <a:prstGeom prst="rect">
            <a:avLst/>
          </a:prstGeom>
        </p:spPr>
      </p:pic>
      <p:sp>
        <p:nvSpPr>
          <p:cNvPr id="13" name="Text 8"/>
          <p:cNvSpPr/>
          <p:nvPr/>
        </p:nvSpPr>
        <p:spPr>
          <a:xfrm>
            <a:off x="8247650" y="4081661"/>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Smooth Baselining</a:t>
            </a:r>
            <a:endParaRPr lang="en-US" sz="1850" dirty="0"/>
          </a:p>
        </p:txBody>
      </p:sp>
      <p:sp>
        <p:nvSpPr>
          <p:cNvPr id="14" name="Text 9"/>
          <p:cNvSpPr/>
          <p:nvPr/>
        </p:nvSpPr>
        <p:spPr>
          <a:xfrm>
            <a:off x="8247650" y="4490343"/>
            <a:ext cx="306806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High-confidence requirements pass through the gate without manual friction</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1179314"/>
            <a:ext cx="927176" cy="287139"/>
          </a:xfrm>
          <a:prstGeom prst="roundRect">
            <a:avLst>
              <a:gd name="adj" fmla="val 22118"/>
            </a:avLst>
          </a:prstGeom>
          <a:solidFill>
            <a:srgbClr val="E1E1EA"/>
          </a:solidFill>
          <a:ln/>
        </p:spPr>
        <p:txBody>
          <a:bodyPr/>
          <a:lstStyle/>
          <a:p>
            <a:endParaRPr lang="en-US"/>
          </a:p>
        </p:txBody>
      </p:sp>
      <p:sp>
        <p:nvSpPr>
          <p:cNvPr id="3" name="Text 1"/>
          <p:cNvSpPr/>
          <p:nvPr/>
        </p:nvSpPr>
        <p:spPr>
          <a:xfrm>
            <a:off x="774879" y="1235968"/>
            <a:ext cx="1309952"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EVIDENCE</a:t>
            </a:r>
            <a:endParaRPr lang="en-US" sz="1150" dirty="0"/>
          </a:p>
        </p:txBody>
      </p:sp>
      <p:sp>
        <p:nvSpPr>
          <p:cNvPr id="4" name="Text 2"/>
          <p:cNvSpPr/>
          <p:nvPr/>
        </p:nvSpPr>
        <p:spPr>
          <a:xfrm>
            <a:off x="661475" y="1542058"/>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Real-World Audit: SMS Dispatch Requirement</a:t>
            </a:r>
            <a:endParaRPr lang="en-US" sz="3700" dirty="0"/>
          </a:p>
        </p:txBody>
      </p:sp>
      <p:sp>
        <p:nvSpPr>
          <p:cNvPr id="5" name="Text 3"/>
          <p:cNvSpPr/>
          <p:nvPr/>
        </p:nvSpPr>
        <p:spPr>
          <a:xfrm>
            <a:off x="661475" y="2605187"/>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Raleway" pitchFamily="34" charset="0"/>
                <a:ea typeface="Raleway" pitchFamily="34" charset="-122"/>
                <a:cs typeface="Raleway" pitchFamily="34" charset="-120"/>
              </a:rPr>
              <a:t>Unguided LLM Output</a:t>
            </a:r>
            <a:endParaRPr lang="en-US" sz="1850" dirty="0"/>
          </a:p>
        </p:txBody>
      </p:sp>
      <p:sp>
        <p:nvSpPr>
          <p:cNvPr id="6" name="Text 4"/>
          <p:cNvSpPr/>
          <p:nvPr/>
        </p:nvSpPr>
        <p:spPr>
          <a:xfrm>
            <a:off x="944936" y="3283148"/>
            <a:ext cx="5529918"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"Send SMS 24 hours before appointment."</a:t>
            </a:r>
            <a:endParaRPr lang="en-US" sz="1450" dirty="0"/>
          </a:p>
        </p:txBody>
      </p:sp>
      <p:sp>
        <p:nvSpPr>
          <p:cNvPr id="7" name="Shape 5"/>
          <p:cNvSpPr/>
          <p:nvPr/>
        </p:nvSpPr>
        <p:spPr>
          <a:xfrm>
            <a:off x="661475" y="3113088"/>
            <a:ext cx="25399" cy="642541"/>
          </a:xfrm>
          <a:prstGeom prst="roundRect">
            <a:avLst>
              <a:gd name="adj" fmla="val 50001"/>
            </a:avLst>
          </a:prstGeom>
          <a:solidFill>
            <a:srgbClr val="1B1B27"/>
          </a:solidFill>
          <a:ln/>
        </p:spPr>
        <p:txBody>
          <a:bodyPr/>
          <a:lstStyle/>
          <a:p>
            <a:endParaRPr lang="en-US"/>
          </a:p>
        </p:txBody>
      </p:sp>
      <p:sp>
        <p:nvSpPr>
          <p:cNvPr id="8" name="Text 6"/>
          <p:cNvSpPr/>
          <p:nvPr/>
        </p:nvSpPr>
        <p:spPr>
          <a:xfrm>
            <a:off x="661475" y="3968254"/>
            <a:ext cx="5203794"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Deadline is vague</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No timezone specification</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Untestable without extra interpretation</a:t>
            </a:r>
            <a:endParaRPr lang="en-US" sz="1450" dirty="0"/>
          </a:p>
        </p:txBody>
      </p:sp>
      <p:sp>
        <p:nvSpPr>
          <p:cNvPr id="9" name="Text 7"/>
          <p:cNvSpPr/>
          <p:nvPr/>
        </p:nvSpPr>
        <p:spPr>
          <a:xfrm>
            <a:off x="6332776" y="2605187"/>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Raleway" pitchFamily="34" charset="0"/>
                <a:ea typeface="Raleway" pitchFamily="34" charset="-122"/>
                <a:cs typeface="Raleway" pitchFamily="34" charset="-120"/>
              </a:rPr>
              <a:t>Agentic Workflow Output</a:t>
            </a:r>
            <a:endParaRPr lang="en-US" sz="1850" dirty="0"/>
          </a:p>
        </p:txBody>
      </p:sp>
      <p:sp>
        <p:nvSpPr>
          <p:cNvPr id="10" name="Text 8"/>
          <p:cNvSpPr/>
          <p:nvPr/>
        </p:nvSpPr>
        <p:spPr>
          <a:xfrm>
            <a:off x="6616237" y="3283148"/>
            <a:ext cx="4920333"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"WHEN appointment scheduled for next calendar day, THEN system SHALL send SMS confirmation by 18:00 local time of the appointment date."</a:t>
            </a:r>
            <a:endParaRPr lang="en-US" sz="1450" dirty="0"/>
          </a:p>
        </p:txBody>
      </p:sp>
      <p:sp>
        <p:nvSpPr>
          <p:cNvPr id="11" name="Shape 9"/>
          <p:cNvSpPr/>
          <p:nvPr/>
        </p:nvSpPr>
        <p:spPr>
          <a:xfrm>
            <a:off x="6332776" y="3113088"/>
            <a:ext cx="25399" cy="1247378"/>
          </a:xfrm>
          <a:prstGeom prst="roundRect">
            <a:avLst>
              <a:gd name="adj" fmla="val 50001"/>
            </a:avLst>
          </a:prstGeom>
          <a:solidFill>
            <a:srgbClr val="1B1B27"/>
          </a:solidFill>
          <a:ln/>
        </p:spPr>
        <p:txBody>
          <a:bodyPr/>
          <a:lstStyle/>
          <a:p>
            <a:endParaRPr lang="en-US"/>
          </a:p>
        </p:txBody>
      </p:sp>
      <p:sp>
        <p:nvSpPr>
          <p:cNvPr id="12" name="Text 10"/>
          <p:cNvSpPr/>
          <p:nvPr/>
        </p:nvSpPr>
        <p:spPr>
          <a:xfrm>
            <a:off x="6332776" y="4573091"/>
            <a:ext cx="5203794"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Trigger condition explicitly defined</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Timezone anchored to local appointment time</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Directly testable in one integration scenario</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0">
            <a:extLst>
              <a:ext uri="{FF2B5EF4-FFF2-40B4-BE49-F238E27FC236}">
                <a16:creationId xmlns:a16="http://schemas.microsoft.com/office/drawing/2014/main" id="{8A984851-5C34-14AD-8AB7-D7CA108736E4}"/>
              </a:ext>
            </a:extLst>
          </p:cNvPr>
          <p:cNvSpPr/>
          <p:nvPr/>
        </p:nvSpPr>
        <p:spPr>
          <a:xfrm>
            <a:off x="1169475" y="1677094"/>
            <a:ext cx="1600358" cy="287139"/>
          </a:xfrm>
          <a:prstGeom prst="roundRect">
            <a:avLst>
              <a:gd name="adj" fmla="val 22118"/>
            </a:avLst>
          </a:prstGeom>
          <a:solidFill>
            <a:srgbClr val="E1E1EA"/>
          </a:solidFill>
          <a:ln/>
        </p:spPr>
        <p:txBody>
          <a:bodyPr/>
          <a:lstStyle/>
          <a:p>
            <a:endParaRPr lang="en-US"/>
          </a:p>
        </p:txBody>
      </p:sp>
      <p:sp>
        <p:nvSpPr>
          <p:cNvPr id="23" name="Text 1">
            <a:extLst>
              <a:ext uri="{FF2B5EF4-FFF2-40B4-BE49-F238E27FC236}">
                <a16:creationId xmlns:a16="http://schemas.microsoft.com/office/drawing/2014/main" id="{795C1BBA-4F7C-C95B-84D9-3F8FD08D76D6}"/>
              </a:ext>
            </a:extLst>
          </p:cNvPr>
          <p:cNvSpPr/>
          <p:nvPr/>
        </p:nvSpPr>
        <p:spPr>
          <a:xfrm>
            <a:off x="1282879" y="1733748"/>
            <a:ext cx="1983135"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REAL-WORLD AUDIT</a:t>
            </a:r>
            <a:endParaRPr lang="en-US" sz="1150" dirty="0"/>
          </a:p>
        </p:txBody>
      </p:sp>
      <p:sp>
        <p:nvSpPr>
          <p:cNvPr id="25" name="Text 2">
            <a:extLst>
              <a:ext uri="{FF2B5EF4-FFF2-40B4-BE49-F238E27FC236}">
                <a16:creationId xmlns:a16="http://schemas.microsoft.com/office/drawing/2014/main" id="{AF60A57E-5F4C-83CD-40F2-9BA6A33A91A5}"/>
              </a:ext>
            </a:extLst>
          </p:cNvPr>
          <p:cNvSpPr/>
          <p:nvPr/>
        </p:nvSpPr>
        <p:spPr>
          <a:xfrm>
            <a:off x="1169475" y="2039838"/>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HIPAA Compliance Violation</a:t>
            </a:r>
            <a:endParaRPr lang="en-US" sz="3700" dirty="0"/>
          </a:p>
        </p:txBody>
      </p:sp>
      <p:sp>
        <p:nvSpPr>
          <p:cNvPr id="27" name="Text 3">
            <a:extLst>
              <a:ext uri="{FF2B5EF4-FFF2-40B4-BE49-F238E27FC236}">
                <a16:creationId xmlns:a16="http://schemas.microsoft.com/office/drawing/2014/main" id="{4D81E78B-AF37-C754-FA63-A01A6D275EA4}"/>
              </a:ext>
            </a:extLst>
          </p:cNvPr>
          <p:cNvSpPr/>
          <p:nvPr/>
        </p:nvSpPr>
        <p:spPr>
          <a:xfrm>
            <a:off x="1169475" y="2913955"/>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Direct comparison of an unguided LLM and an agentic workflow on a patient-facing scheduling task.</a:t>
            </a:r>
            <a:endParaRPr lang="en-US" sz="1450" dirty="0"/>
          </a:p>
        </p:txBody>
      </p:sp>
      <p:sp>
        <p:nvSpPr>
          <p:cNvPr id="29" name="Shape 4">
            <a:extLst>
              <a:ext uri="{FF2B5EF4-FFF2-40B4-BE49-F238E27FC236}">
                <a16:creationId xmlns:a16="http://schemas.microsoft.com/office/drawing/2014/main" id="{66EC0A81-C27C-BB25-6F4E-086FD124DFCE}"/>
              </a:ext>
            </a:extLst>
          </p:cNvPr>
          <p:cNvSpPr/>
          <p:nvPr/>
        </p:nvSpPr>
        <p:spPr>
          <a:xfrm>
            <a:off x="1033350" y="3429000"/>
            <a:ext cx="5476043" cy="1448197"/>
          </a:xfrm>
          <a:prstGeom prst="roundRect">
            <a:avLst>
              <a:gd name="adj" fmla="val 9397"/>
            </a:avLst>
          </a:prstGeom>
          <a:solidFill>
            <a:srgbClr val="1B1B27">
              <a:alpha val="95000"/>
            </a:srgbClr>
          </a:solidFill>
          <a:ln/>
        </p:spPr>
        <p:txBody>
          <a:bodyPr/>
          <a:lstStyle/>
          <a:p>
            <a:endParaRPr lang="en-US"/>
          </a:p>
        </p:txBody>
      </p:sp>
      <p:sp>
        <p:nvSpPr>
          <p:cNvPr id="31" name="Text 5">
            <a:extLst>
              <a:ext uri="{FF2B5EF4-FFF2-40B4-BE49-F238E27FC236}">
                <a16:creationId xmlns:a16="http://schemas.microsoft.com/office/drawing/2014/main" id="{760D092F-92D0-684C-FD83-9A71B61F4FA5}"/>
              </a:ext>
            </a:extLst>
          </p:cNvPr>
          <p:cNvSpPr/>
          <p:nvPr/>
        </p:nvSpPr>
        <p:spPr>
          <a:xfrm>
            <a:off x="1222357" y="3618011"/>
            <a:ext cx="5098029" cy="295275"/>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Raleway" pitchFamily="34" charset="0"/>
                <a:ea typeface="Raleway" pitchFamily="34" charset="-122"/>
                <a:cs typeface="Raleway" pitchFamily="34" charset="-120"/>
              </a:rPr>
              <a:t>Unguided LLM</a:t>
            </a:r>
            <a:endParaRPr lang="en-US" sz="1850" dirty="0"/>
          </a:p>
        </p:txBody>
      </p:sp>
      <p:sp>
        <p:nvSpPr>
          <p:cNvPr id="33" name="Text 6">
            <a:extLst>
              <a:ext uri="{FF2B5EF4-FFF2-40B4-BE49-F238E27FC236}">
                <a16:creationId xmlns:a16="http://schemas.microsoft.com/office/drawing/2014/main" id="{663C22F3-8D5D-95E2-EF07-D092C8C2ED9E}"/>
              </a:ext>
            </a:extLst>
          </p:cNvPr>
          <p:cNvSpPr/>
          <p:nvPr/>
        </p:nvSpPr>
        <p:spPr>
          <a:xfrm>
            <a:off x="1222357" y="4102298"/>
            <a:ext cx="509802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Roboto" pitchFamily="34" charset="0"/>
                <a:ea typeface="Roboto" pitchFamily="34" charset="-122"/>
                <a:cs typeface="Roboto" pitchFamily="34" charset="-120"/>
              </a:rPr>
              <a:t>Shows the cancelled patient's name on a public reception monitor, violating HIPAA.</a:t>
            </a:r>
            <a:endParaRPr lang="en-US" sz="1450" dirty="0"/>
          </a:p>
        </p:txBody>
      </p:sp>
      <p:sp>
        <p:nvSpPr>
          <p:cNvPr id="35" name="Text 7">
            <a:extLst>
              <a:ext uri="{FF2B5EF4-FFF2-40B4-BE49-F238E27FC236}">
                <a16:creationId xmlns:a16="http://schemas.microsoft.com/office/drawing/2014/main" id="{A28021AC-B570-85E0-69FB-28730C335F74}"/>
              </a:ext>
            </a:extLst>
          </p:cNvPr>
          <p:cNvSpPr/>
          <p:nvPr/>
        </p:nvSpPr>
        <p:spPr>
          <a:xfrm>
            <a:off x="6840776" y="3618011"/>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Raleway" pitchFamily="34" charset="0"/>
                <a:ea typeface="Raleway" pitchFamily="34" charset="-122"/>
                <a:cs typeface="Raleway" pitchFamily="34" charset="-120"/>
              </a:rPr>
              <a:t>Agentic Workflow</a:t>
            </a:r>
            <a:endParaRPr lang="en-US" sz="1850" dirty="0"/>
          </a:p>
        </p:txBody>
      </p:sp>
      <p:sp>
        <p:nvSpPr>
          <p:cNvPr id="37" name="Text 8">
            <a:extLst>
              <a:ext uri="{FF2B5EF4-FFF2-40B4-BE49-F238E27FC236}">
                <a16:creationId xmlns:a16="http://schemas.microsoft.com/office/drawing/2014/main" id="{3427B969-9156-A282-E2AC-833FD70368A5}"/>
              </a:ext>
            </a:extLst>
          </p:cNvPr>
          <p:cNvSpPr/>
          <p:nvPr/>
        </p:nvSpPr>
        <p:spPr>
          <a:xfrm>
            <a:off x="6840776" y="4102298"/>
            <a:ext cx="5203794"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Shows only date, time, and slot duration, meeting the requirement securely.</a:t>
            </a:r>
            <a:endParaRPr lang="en-US" sz="1450" dirty="0"/>
          </a:p>
        </p:txBody>
      </p:sp>
    </p:spTree>
    <p:extLst>
      <p:ext uri="{BB962C8B-B14F-4D97-AF65-F5344CB8AC3E}">
        <p14:creationId xmlns:p14="http://schemas.microsoft.com/office/powerpoint/2010/main" val="1794669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256AAB3-3258-3331-A060-886DA6E735A1}"/>
              </a:ext>
            </a:extLst>
          </p:cNvPr>
          <p:cNvSpPr/>
          <p:nvPr/>
        </p:nvSpPr>
        <p:spPr>
          <a:xfrm>
            <a:off x="661475" y="2123678"/>
            <a:ext cx="1428615" cy="287139"/>
          </a:xfrm>
          <a:prstGeom prst="roundRect">
            <a:avLst>
              <a:gd name="adj" fmla="val 22118"/>
            </a:avLst>
          </a:prstGeom>
          <a:solidFill>
            <a:srgbClr val="E1E1EA"/>
          </a:solidFill>
          <a:ln/>
        </p:spPr>
        <p:txBody>
          <a:bodyPr/>
          <a:lstStyle/>
          <a:p>
            <a:endParaRPr lang="en-US"/>
          </a:p>
        </p:txBody>
      </p:sp>
      <p:sp>
        <p:nvSpPr>
          <p:cNvPr id="5" name="Text 1">
            <a:extLst>
              <a:ext uri="{FF2B5EF4-FFF2-40B4-BE49-F238E27FC236}">
                <a16:creationId xmlns:a16="http://schemas.microsoft.com/office/drawing/2014/main" id="{75E446C0-32F5-A730-BD89-6B724F35AA69}"/>
              </a:ext>
            </a:extLst>
          </p:cNvPr>
          <p:cNvSpPr/>
          <p:nvPr/>
        </p:nvSpPr>
        <p:spPr>
          <a:xfrm>
            <a:off x="774879" y="2180332"/>
            <a:ext cx="1811391"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PARADIGM SHIFT</a:t>
            </a:r>
            <a:endParaRPr lang="en-US" sz="1150" dirty="0"/>
          </a:p>
        </p:txBody>
      </p:sp>
      <p:sp>
        <p:nvSpPr>
          <p:cNvPr id="7" name="Text 2">
            <a:extLst>
              <a:ext uri="{FF2B5EF4-FFF2-40B4-BE49-F238E27FC236}">
                <a16:creationId xmlns:a16="http://schemas.microsoft.com/office/drawing/2014/main" id="{FB0EA93A-2FCB-F21E-BDCF-62B8FFA6A7EC}"/>
              </a:ext>
            </a:extLst>
          </p:cNvPr>
          <p:cNvSpPr/>
          <p:nvPr/>
        </p:nvSpPr>
        <p:spPr>
          <a:xfrm>
            <a:off x="661475" y="248642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Requirements as Code</a:t>
            </a:r>
            <a:endParaRPr lang="en-US" sz="3700" dirty="0"/>
          </a:p>
        </p:txBody>
      </p:sp>
      <p:sp>
        <p:nvSpPr>
          <p:cNvPr id="9" name="Shape 3">
            <a:extLst>
              <a:ext uri="{FF2B5EF4-FFF2-40B4-BE49-F238E27FC236}">
                <a16:creationId xmlns:a16="http://schemas.microsoft.com/office/drawing/2014/main" id="{00FDA764-9180-8FDC-4B06-79802439A73C}"/>
              </a:ext>
            </a:extLst>
          </p:cNvPr>
          <p:cNvSpPr/>
          <p:nvPr/>
        </p:nvSpPr>
        <p:spPr>
          <a:xfrm>
            <a:off x="661475" y="3360539"/>
            <a:ext cx="425241" cy="425252"/>
          </a:xfrm>
          <a:prstGeom prst="roundRect">
            <a:avLst>
              <a:gd name="adj" fmla="val 18669"/>
            </a:avLst>
          </a:prstGeom>
          <a:solidFill>
            <a:srgbClr val="E1E1EA"/>
          </a:solidFill>
          <a:ln w="6350">
            <a:solidFill>
              <a:srgbClr val="C7C7D0"/>
            </a:solidFill>
            <a:prstDash val="solid"/>
          </a:ln>
        </p:spPr>
        <p:txBody>
          <a:bodyPr/>
          <a:lstStyle/>
          <a:p>
            <a:endParaRPr lang="en-US"/>
          </a:p>
        </p:txBody>
      </p:sp>
      <p:sp>
        <p:nvSpPr>
          <p:cNvPr id="11" name="Text 4">
            <a:extLst>
              <a:ext uri="{FF2B5EF4-FFF2-40B4-BE49-F238E27FC236}">
                <a16:creationId xmlns:a16="http://schemas.microsoft.com/office/drawing/2014/main" id="{0B23846D-1920-2839-6512-320FDBDE22D5}"/>
              </a:ext>
            </a:extLst>
          </p:cNvPr>
          <p:cNvSpPr/>
          <p:nvPr/>
        </p:nvSpPr>
        <p:spPr>
          <a:xfrm>
            <a:off x="732365" y="3395960"/>
            <a:ext cx="283461" cy="354409"/>
          </a:xfrm>
          <a:prstGeom prst="rect">
            <a:avLst/>
          </a:prstGeom>
          <a:noFill/>
          <a:ln/>
        </p:spPr>
        <p:txBody>
          <a:bodyPr wrap="none" lIns="0" tIns="0" rIns="0" bIns="0" rtlCol="0" anchor="ctr"/>
          <a:lstStyle/>
          <a:p>
            <a:pPr marL="0" indent="0" algn="ctr">
              <a:lnSpc>
                <a:spcPct val="100000"/>
              </a:lnSpc>
              <a:buNone/>
            </a:pPr>
            <a:r>
              <a:rPr lang="en-US" sz="2200" dirty="0">
                <a:solidFill>
                  <a:srgbClr val="3C3939"/>
                </a:solidFill>
                <a:latin typeface="Raleway" pitchFamily="34" charset="0"/>
                <a:ea typeface="Raleway" pitchFamily="34" charset="-122"/>
                <a:cs typeface="Raleway" pitchFamily="34" charset="-120"/>
              </a:rPr>
              <a:t>1</a:t>
            </a:r>
            <a:endParaRPr lang="en-US" sz="2200" dirty="0"/>
          </a:p>
        </p:txBody>
      </p:sp>
      <p:sp>
        <p:nvSpPr>
          <p:cNvPr id="13" name="Text 5">
            <a:extLst>
              <a:ext uri="{FF2B5EF4-FFF2-40B4-BE49-F238E27FC236}">
                <a16:creationId xmlns:a16="http://schemas.microsoft.com/office/drawing/2014/main" id="{F8E9287A-4B80-B7E8-7730-AF699B02A327}"/>
              </a:ext>
            </a:extLst>
          </p:cNvPr>
          <p:cNvSpPr/>
          <p:nvPr/>
        </p:nvSpPr>
        <p:spPr>
          <a:xfrm>
            <a:off x="1275723" y="3425428"/>
            <a:ext cx="2851178"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Active, Self-Defending Specifications</a:t>
            </a:r>
            <a:endParaRPr lang="en-US" sz="1850" dirty="0"/>
          </a:p>
        </p:txBody>
      </p:sp>
      <p:sp>
        <p:nvSpPr>
          <p:cNvPr id="15" name="Text 6">
            <a:extLst>
              <a:ext uri="{FF2B5EF4-FFF2-40B4-BE49-F238E27FC236}">
                <a16:creationId xmlns:a16="http://schemas.microsoft.com/office/drawing/2014/main" id="{FC996BF3-6B8B-C7F0-F34F-C025B8483B88}"/>
              </a:ext>
            </a:extLst>
          </p:cNvPr>
          <p:cNvSpPr/>
          <p:nvPr/>
        </p:nvSpPr>
        <p:spPr>
          <a:xfrm>
            <a:off x="1275723" y="4129385"/>
            <a:ext cx="2851178"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Requirements become executable rules that check themselves.</a:t>
            </a:r>
            <a:endParaRPr lang="en-US" sz="1450" dirty="0"/>
          </a:p>
        </p:txBody>
      </p:sp>
      <p:sp>
        <p:nvSpPr>
          <p:cNvPr id="17" name="Shape 7">
            <a:extLst>
              <a:ext uri="{FF2B5EF4-FFF2-40B4-BE49-F238E27FC236}">
                <a16:creationId xmlns:a16="http://schemas.microsoft.com/office/drawing/2014/main" id="{3B0DBEC6-5010-B9F5-8C7D-D608D98C653C}"/>
              </a:ext>
            </a:extLst>
          </p:cNvPr>
          <p:cNvSpPr/>
          <p:nvPr/>
        </p:nvSpPr>
        <p:spPr>
          <a:xfrm>
            <a:off x="4363135" y="3360539"/>
            <a:ext cx="425241" cy="425252"/>
          </a:xfrm>
          <a:prstGeom prst="roundRect">
            <a:avLst>
              <a:gd name="adj" fmla="val 18669"/>
            </a:avLst>
          </a:prstGeom>
          <a:solidFill>
            <a:srgbClr val="E1E1EA"/>
          </a:solidFill>
          <a:ln w="6350">
            <a:solidFill>
              <a:srgbClr val="C7C7D0"/>
            </a:solidFill>
            <a:prstDash val="solid"/>
          </a:ln>
        </p:spPr>
        <p:txBody>
          <a:bodyPr/>
          <a:lstStyle/>
          <a:p>
            <a:endParaRPr lang="en-US"/>
          </a:p>
        </p:txBody>
      </p:sp>
      <p:sp>
        <p:nvSpPr>
          <p:cNvPr id="19" name="Text 8">
            <a:extLst>
              <a:ext uri="{FF2B5EF4-FFF2-40B4-BE49-F238E27FC236}">
                <a16:creationId xmlns:a16="http://schemas.microsoft.com/office/drawing/2014/main" id="{3EA8E2EF-D45F-E114-13BF-416FF5E64CF9}"/>
              </a:ext>
            </a:extLst>
          </p:cNvPr>
          <p:cNvSpPr/>
          <p:nvPr/>
        </p:nvSpPr>
        <p:spPr>
          <a:xfrm>
            <a:off x="4434025" y="3395960"/>
            <a:ext cx="283461" cy="354409"/>
          </a:xfrm>
          <a:prstGeom prst="rect">
            <a:avLst/>
          </a:prstGeom>
          <a:noFill/>
          <a:ln/>
        </p:spPr>
        <p:txBody>
          <a:bodyPr wrap="none" lIns="0" tIns="0" rIns="0" bIns="0" rtlCol="0" anchor="ctr"/>
          <a:lstStyle/>
          <a:p>
            <a:pPr marL="0" indent="0" algn="ctr">
              <a:lnSpc>
                <a:spcPct val="100000"/>
              </a:lnSpc>
              <a:buNone/>
            </a:pPr>
            <a:r>
              <a:rPr lang="en-US" sz="2200" dirty="0">
                <a:solidFill>
                  <a:srgbClr val="3C3939"/>
                </a:solidFill>
                <a:latin typeface="Raleway" pitchFamily="34" charset="0"/>
                <a:ea typeface="Raleway" pitchFamily="34" charset="-122"/>
                <a:cs typeface="Raleway" pitchFamily="34" charset="-120"/>
              </a:rPr>
              <a:t>2</a:t>
            </a:r>
            <a:endParaRPr lang="en-US" sz="2200" dirty="0"/>
          </a:p>
        </p:txBody>
      </p:sp>
      <p:sp>
        <p:nvSpPr>
          <p:cNvPr id="21" name="Text 9">
            <a:extLst>
              <a:ext uri="{FF2B5EF4-FFF2-40B4-BE49-F238E27FC236}">
                <a16:creationId xmlns:a16="http://schemas.microsoft.com/office/drawing/2014/main" id="{DB34A123-C0F5-D21D-FF51-5109922A5E95}"/>
              </a:ext>
            </a:extLst>
          </p:cNvPr>
          <p:cNvSpPr/>
          <p:nvPr/>
        </p:nvSpPr>
        <p:spPr>
          <a:xfrm>
            <a:off x="4977383" y="3425428"/>
            <a:ext cx="2851178"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Zero-Trust Pipeline</a:t>
            </a:r>
            <a:endParaRPr lang="en-US" sz="1850" dirty="0"/>
          </a:p>
        </p:txBody>
      </p:sp>
      <p:sp>
        <p:nvSpPr>
          <p:cNvPr id="23" name="Text 10">
            <a:extLst>
              <a:ext uri="{FF2B5EF4-FFF2-40B4-BE49-F238E27FC236}">
                <a16:creationId xmlns:a16="http://schemas.microsoft.com/office/drawing/2014/main" id="{BB1B5B41-3270-99B8-8C63-DF2D623D71EA}"/>
              </a:ext>
            </a:extLst>
          </p:cNvPr>
          <p:cNvSpPr/>
          <p:nvPr/>
        </p:nvSpPr>
        <p:spPr>
          <a:xfrm>
            <a:off x="4977383" y="3834110"/>
            <a:ext cx="2851178"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The pipeline ensures traceability, resilience, and compliance.</a:t>
            </a:r>
            <a:endParaRPr lang="en-US" sz="1450" dirty="0"/>
          </a:p>
        </p:txBody>
      </p:sp>
      <p:sp>
        <p:nvSpPr>
          <p:cNvPr id="25" name="Shape 11">
            <a:extLst>
              <a:ext uri="{FF2B5EF4-FFF2-40B4-BE49-F238E27FC236}">
                <a16:creationId xmlns:a16="http://schemas.microsoft.com/office/drawing/2014/main" id="{A250308F-1285-9369-ADA0-73C2CA1F47DB}"/>
              </a:ext>
            </a:extLst>
          </p:cNvPr>
          <p:cNvSpPr/>
          <p:nvPr/>
        </p:nvSpPr>
        <p:spPr>
          <a:xfrm>
            <a:off x="8064794" y="3360539"/>
            <a:ext cx="425241" cy="425252"/>
          </a:xfrm>
          <a:prstGeom prst="roundRect">
            <a:avLst>
              <a:gd name="adj" fmla="val 18669"/>
            </a:avLst>
          </a:prstGeom>
          <a:solidFill>
            <a:srgbClr val="E1E1EA"/>
          </a:solidFill>
          <a:ln w="6350">
            <a:solidFill>
              <a:srgbClr val="C7C7D0"/>
            </a:solidFill>
            <a:prstDash val="solid"/>
          </a:ln>
        </p:spPr>
        <p:txBody>
          <a:bodyPr/>
          <a:lstStyle/>
          <a:p>
            <a:endParaRPr lang="en-US"/>
          </a:p>
        </p:txBody>
      </p:sp>
      <p:sp>
        <p:nvSpPr>
          <p:cNvPr id="27" name="Text 12">
            <a:extLst>
              <a:ext uri="{FF2B5EF4-FFF2-40B4-BE49-F238E27FC236}">
                <a16:creationId xmlns:a16="http://schemas.microsoft.com/office/drawing/2014/main" id="{830B69DC-5823-FCC1-C0A5-81653C982E45}"/>
              </a:ext>
            </a:extLst>
          </p:cNvPr>
          <p:cNvSpPr/>
          <p:nvPr/>
        </p:nvSpPr>
        <p:spPr>
          <a:xfrm>
            <a:off x="8135684" y="3395960"/>
            <a:ext cx="283461" cy="354409"/>
          </a:xfrm>
          <a:prstGeom prst="rect">
            <a:avLst/>
          </a:prstGeom>
          <a:noFill/>
          <a:ln/>
        </p:spPr>
        <p:txBody>
          <a:bodyPr wrap="none" lIns="0" tIns="0" rIns="0" bIns="0" rtlCol="0" anchor="ctr"/>
          <a:lstStyle/>
          <a:p>
            <a:pPr marL="0" indent="0" algn="ctr">
              <a:lnSpc>
                <a:spcPct val="100000"/>
              </a:lnSpc>
              <a:buNone/>
            </a:pPr>
            <a:r>
              <a:rPr lang="en-US" sz="2200" dirty="0">
                <a:solidFill>
                  <a:srgbClr val="3C3939"/>
                </a:solidFill>
                <a:latin typeface="Raleway" pitchFamily="34" charset="0"/>
                <a:ea typeface="Raleway" pitchFamily="34" charset="-122"/>
                <a:cs typeface="Raleway" pitchFamily="34" charset="-120"/>
              </a:rPr>
              <a:t>3</a:t>
            </a:r>
            <a:endParaRPr lang="en-US" sz="2200" dirty="0"/>
          </a:p>
        </p:txBody>
      </p:sp>
      <p:sp>
        <p:nvSpPr>
          <p:cNvPr id="29" name="Text 13">
            <a:extLst>
              <a:ext uri="{FF2B5EF4-FFF2-40B4-BE49-F238E27FC236}">
                <a16:creationId xmlns:a16="http://schemas.microsoft.com/office/drawing/2014/main" id="{5B9A00E3-AFAB-8929-F3DB-45468C3DE2A0}"/>
              </a:ext>
            </a:extLst>
          </p:cNvPr>
          <p:cNvSpPr/>
          <p:nvPr/>
        </p:nvSpPr>
        <p:spPr>
          <a:xfrm>
            <a:off x="8679042" y="3425428"/>
            <a:ext cx="2851178"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Fully Auditable, Fully Automated</a:t>
            </a:r>
            <a:endParaRPr lang="en-US" sz="1850" dirty="0"/>
          </a:p>
        </p:txBody>
      </p:sp>
      <p:sp>
        <p:nvSpPr>
          <p:cNvPr id="31" name="Text 14">
            <a:extLst>
              <a:ext uri="{FF2B5EF4-FFF2-40B4-BE49-F238E27FC236}">
                <a16:creationId xmlns:a16="http://schemas.microsoft.com/office/drawing/2014/main" id="{C6B9ABD2-04FD-D67D-788E-36319CF43450}"/>
              </a:ext>
            </a:extLst>
          </p:cNvPr>
          <p:cNvSpPr/>
          <p:nvPr/>
        </p:nvSpPr>
        <p:spPr>
          <a:xfrm>
            <a:off x="8679042" y="4129385"/>
            <a:ext cx="2851178"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Every step from transcript to test case is traceable and automated.</a:t>
            </a:r>
            <a:endParaRPr lang="en-US" sz="1450" dirty="0"/>
          </a:p>
        </p:txBody>
      </p:sp>
    </p:spTree>
    <p:extLst>
      <p:ext uri="{BB962C8B-B14F-4D97-AF65-F5344CB8AC3E}">
        <p14:creationId xmlns:p14="http://schemas.microsoft.com/office/powerpoint/2010/main" val="808708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84113F1B-0357-5526-E3FE-1C8096908C3A}"/>
              </a:ext>
            </a:extLst>
          </p:cNvPr>
          <p:cNvSpPr/>
          <p:nvPr/>
        </p:nvSpPr>
        <p:spPr>
          <a:xfrm>
            <a:off x="661475" y="1082377"/>
            <a:ext cx="1303007" cy="287139"/>
          </a:xfrm>
          <a:prstGeom prst="roundRect">
            <a:avLst>
              <a:gd name="adj" fmla="val 22118"/>
            </a:avLst>
          </a:prstGeom>
          <a:solidFill>
            <a:srgbClr val="E1E1EA"/>
          </a:solidFill>
          <a:ln/>
        </p:spPr>
        <p:txBody>
          <a:bodyPr/>
          <a:lstStyle/>
          <a:p>
            <a:endParaRPr lang="en-US"/>
          </a:p>
        </p:txBody>
      </p:sp>
      <p:sp>
        <p:nvSpPr>
          <p:cNvPr id="5" name="Text 1">
            <a:extLst>
              <a:ext uri="{FF2B5EF4-FFF2-40B4-BE49-F238E27FC236}">
                <a16:creationId xmlns:a16="http://schemas.microsoft.com/office/drawing/2014/main" id="{1160BC32-4602-E522-A477-BB6F59A4417A}"/>
              </a:ext>
            </a:extLst>
          </p:cNvPr>
          <p:cNvSpPr/>
          <p:nvPr/>
        </p:nvSpPr>
        <p:spPr>
          <a:xfrm>
            <a:off x="774879" y="1139031"/>
            <a:ext cx="1685784"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ARCHITECTURE</a:t>
            </a:r>
            <a:endParaRPr lang="en-US" sz="1150" dirty="0"/>
          </a:p>
        </p:txBody>
      </p:sp>
      <p:sp>
        <p:nvSpPr>
          <p:cNvPr id="7" name="Text 2">
            <a:extLst>
              <a:ext uri="{FF2B5EF4-FFF2-40B4-BE49-F238E27FC236}">
                <a16:creationId xmlns:a16="http://schemas.microsoft.com/office/drawing/2014/main" id="{9A6F0BEB-D913-3350-FE8E-D7265FF5A047}"/>
              </a:ext>
            </a:extLst>
          </p:cNvPr>
          <p:cNvSpPr/>
          <p:nvPr/>
        </p:nvSpPr>
        <p:spPr>
          <a:xfrm>
            <a:off x="661475" y="144512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Repository Controls</a:t>
            </a:r>
            <a:endParaRPr lang="en-US" sz="3700" dirty="0"/>
          </a:p>
        </p:txBody>
      </p:sp>
      <p:sp>
        <p:nvSpPr>
          <p:cNvPr id="9" name="Shape 3">
            <a:extLst>
              <a:ext uri="{FF2B5EF4-FFF2-40B4-BE49-F238E27FC236}">
                <a16:creationId xmlns:a16="http://schemas.microsoft.com/office/drawing/2014/main" id="{4B21A3E6-D2EB-90A1-DC96-234A3A6AE8C2}"/>
              </a:ext>
            </a:extLst>
          </p:cNvPr>
          <p:cNvSpPr/>
          <p:nvPr/>
        </p:nvSpPr>
        <p:spPr>
          <a:xfrm>
            <a:off x="661475" y="2319238"/>
            <a:ext cx="1811391" cy="1089124"/>
          </a:xfrm>
          <a:prstGeom prst="roundRect">
            <a:avLst>
              <a:gd name="adj" fmla="val 7289"/>
            </a:avLst>
          </a:prstGeom>
          <a:solidFill>
            <a:srgbClr val="E1E1EA"/>
          </a:solidFill>
          <a:ln w="6350">
            <a:solidFill>
              <a:srgbClr val="C7C7D0"/>
            </a:solidFill>
            <a:prstDash val="solid"/>
          </a:ln>
        </p:spPr>
        <p:txBody>
          <a:bodyPr/>
          <a:lstStyle/>
          <a:p>
            <a:endParaRPr lang="en-US"/>
          </a:p>
        </p:txBody>
      </p:sp>
      <p:sp>
        <p:nvSpPr>
          <p:cNvPr id="11" name="Text 4">
            <a:extLst>
              <a:ext uri="{FF2B5EF4-FFF2-40B4-BE49-F238E27FC236}">
                <a16:creationId xmlns:a16="http://schemas.microsoft.com/office/drawing/2014/main" id="{E803E6CA-1EEB-7BCB-2BA3-D187AC738D98}"/>
              </a:ext>
            </a:extLst>
          </p:cNvPr>
          <p:cNvSpPr/>
          <p:nvPr/>
        </p:nvSpPr>
        <p:spPr>
          <a:xfrm>
            <a:off x="1434270" y="2697659"/>
            <a:ext cx="265800" cy="332184"/>
          </a:xfrm>
          <a:prstGeom prst="rect">
            <a:avLst/>
          </a:prstGeom>
          <a:noFill/>
          <a:ln/>
        </p:spPr>
        <p:txBody>
          <a:bodyPr wrap="none" lIns="0" tIns="0" rIns="0" bIns="0" rtlCol="0" anchor="ctr"/>
          <a:lstStyle/>
          <a:p>
            <a:pPr marL="0" indent="0" algn="ctr">
              <a:lnSpc>
                <a:spcPct val="100000"/>
              </a:lnSpc>
              <a:buNone/>
            </a:pPr>
            <a:r>
              <a:rPr lang="en-US" sz="2050" dirty="0">
                <a:solidFill>
                  <a:srgbClr val="3C3939"/>
                </a:solidFill>
                <a:latin typeface="Raleway" pitchFamily="34" charset="0"/>
                <a:ea typeface="Raleway" pitchFamily="34" charset="-122"/>
                <a:cs typeface="Raleway" pitchFamily="34" charset="-120"/>
              </a:rPr>
              <a:t>1</a:t>
            </a:r>
            <a:endParaRPr lang="en-US" sz="2050" dirty="0"/>
          </a:p>
        </p:txBody>
      </p:sp>
      <p:sp>
        <p:nvSpPr>
          <p:cNvPr id="13" name="Text 5">
            <a:extLst>
              <a:ext uri="{FF2B5EF4-FFF2-40B4-BE49-F238E27FC236}">
                <a16:creationId xmlns:a16="http://schemas.microsoft.com/office/drawing/2014/main" id="{C7660604-9985-A76F-7320-90A4DE25E77E}"/>
              </a:ext>
            </a:extLst>
          </p:cNvPr>
          <p:cNvSpPr/>
          <p:nvPr/>
        </p:nvSpPr>
        <p:spPr>
          <a:xfrm>
            <a:off x="2661873" y="2508250"/>
            <a:ext cx="8679340"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Level 4: Deterministic Enforcement</a:t>
            </a:r>
            <a:endParaRPr lang="en-US" sz="1850" dirty="0"/>
          </a:p>
        </p:txBody>
      </p:sp>
      <p:sp>
        <p:nvSpPr>
          <p:cNvPr id="15" name="Text 6">
            <a:extLst>
              <a:ext uri="{FF2B5EF4-FFF2-40B4-BE49-F238E27FC236}">
                <a16:creationId xmlns:a16="http://schemas.microsoft.com/office/drawing/2014/main" id="{FD14B289-1F6C-EDC4-28DA-9DB2A4DF70E8}"/>
              </a:ext>
            </a:extLst>
          </p:cNvPr>
          <p:cNvSpPr/>
          <p:nvPr/>
        </p:nvSpPr>
        <p:spPr>
          <a:xfrm>
            <a:off x="2661873" y="2916932"/>
            <a:ext cx="8679340"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Git hooks block unsafe changes before commit.</a:t>
            </a:r>
            <a:endParaRPr lang="en-US" sz="1450" dirty="0"/>
          </a:p>
        </p:txBody>
      </p:sp>
      <p:sp>
        <p:nvSpPr>
          <p:cNvPr id="17" name="Shape 7">
            <a:extLst>
              <a:ext uri="{FF2B5EF4-FFF2-40B4-BE49-F238E27FC236}">
                <a16:creationId xmlns:a16="http://schemas.microsoft.com/office/drawing/2014/main" id="{34FE15C1-B3FB-2CE6-BD31-75A0D5CFB9F5}"/>
              </a:ext>
            </a:extLst>
          </p:cNvPr>
          <p:cNvSpPr/>
          <p:nvPr/>
        </p:nvSpPr>
        <p:spPr>
          <a:xfrm>
            <a:off x="2567320" y="3395662"/>
            <a:ext cx="8868446" cy="12700"/>
          </a:xfrm>
          <a:prstGeom prst="roundRect">
            <a:avLst>
              <a:gd name="adj" fmla="val 49999"/>
            </a:avLst>
          </a:prstGeom>
          <a:solidFill>
            <a:srgbClr val="C7C7D0"/>
          </a:solidFill>
          <a:ln/>
        </p:spPr>
        <p:txBody>
          <a:bodyPr/>
          <a:lstStyle/>
          <a:p>
            <a:endParaRPr lang="en-US"/>
          </a:p>
        </p:txBody>
      </p:sp>
      <p:sp>
        <p:nvSpPr>
          <p:cNvPr id="19" name="Shape 8">
            <a:extLst>
              <a:ext uri="{FF2B5EF4-FFF2-40B4-BE49-F238E27FC236}">
                <a16:creationId xmlns:a16="http://schemas.microsoft.com/office/drawing/2014/main" id="{B08A7885-8C2F-5000-82FC-889821CC8CAD}"/>
              </a:ext>
            </a:extLst>
          </p:cNvPr>
          <p:cNvSpPr/>
          <p:nvPr/>
        </p:nvSpPr>
        <p:spPr>
          <a:xfrm>
            <a:off x="661475" y="3502819"/>
            <a:ext cx="3622882" cy="1089124"/>
          </a:xfrm>
          <a:prstGeom prst="roundRect">
            <a:avLst>
              <a:gd name="adj" fmla="val 7289"/>
            </a:avLst>
          </a:prstGeom>
          <a:solidFill>
            <a:srgbClr val="E1E1EA"/>
          </a:solidFill>
          <a:ln w="6350">
            <a:solidFill>
              <a:srgbClr val="C7C7D0"/>
            </a:solidFill>
            <a:prstDash val="solid"/>
          </a:ln>
        </p:spPr>
        <p:txBody>
          <a:bodyPr/>
          <a:lstStyle/>
          <a:p>
            <a:endParaRPr lang="en-US"/>
          </a:p>
        </p:txBody>
      </p:sp>
      <p:sp>
        <p:nvSpPr>
          <p:cNvPr id="21" name="Text 9">
            <a:extLst>
              <a:ext uri="{FF2B5EF4-FFF2-40B4-BE49-F238E27FC236}">
                <a16:creationId xmlns:a16="http://schemas.microsoft.com/office/drawing/2014/main" id="{86AA984B-5C14-F3D6-755F-270BA3EB0C1C}"/>
              </a:ext>
            </a:extLst>
          </p:cNvPr>
          <p:cNvSpPr/>
          <p:nvPr/>
        </p:nvSpPr>
        <p:spPr>
          <a:xfrm>
            <a:off x="2340016" y="3881239"/>
            <a:ext cx="265800" cy="332184"/>
          </a:xfrm>
          <a:prstGeom prst="rect">
            <a:avLst/>
          </a:prstGeom>
          <a:noFill/>
          <a:ln/>
        </p:spPr>
        <p:txBody>
          <a:bodyPr wrap="none" lIns="0" tIns="0" rIns="0" bIns="0" rtlCol="0" anchor="ctr"/>
          <a:lstStyle/>
          <a:p>
            <a:pPr marL="0" indent="0" algn="ctr">
              <a:lnSpc>
                <a:spcPct val="100000"/>
              </a:lnSpc>
              <a:buNone/>
            </a:pPr>
            <a:r>
              <a:rPr lang="en-US" sz="2050" dirty="0">
                <a:solidFill>
                  <a:srgbClr val="3C3939"/>
                </a:solidFill>
                <a:latin typeface="Raleway" pitchFamily="34" charset="0"/>
                <a:ea typeface="Raleway" pitchFamily="34" charset="-122"/>
                <a:cs typeface="Raleway" pitchFamily="34" charset="-120"/>
              </a:rPr>
              <a:t>2</a:t>
            </a:r>
            <a:endParaRPr lang="en-US" sz="2050" dirty="0"/>
          </a:p>
        </p:txBody>
      </p:sp>
      <p:sp>
        <p:nvSpPr>
          <p:cNvPr id="23" name="Text 10">
            <a:extLst>
              <a:ext uri="{FF2B5EF4-FFF2-40B4-BE49-F238E27FC236}">
                <a16:creationId xmlns:a16="http://schemas.microsoft.com/office/drawing/2014/main" id="{B14F6512-439B-B752-BB9D-939636F02F75}"/>
              </a:ext>
            </a:extLst>
          </p:cNvPr>
          <p:cNvSpPr/>
          <p:nvPr/>
        </p:nvSpPr>
        <p:spPr>
          <a:xfrm>
            <a:off x="4473364" y="3691830"/>
            <a:ext cx="6867849"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Level 3: Procedural Coordination</a:t>
            </a:r>
            <a:endParaRPr lang="en-US" sz="1850" dirty="0"/>
          </a:p>
        </p:txBody>
      </p:sp>
      <p:sp>
        <p:nvSpPr>
          <p:cNvPr id="25" name="Text 11">
            <a:extLst>
              <a:ext uri="{FF2B5EF4-FFF2-40B4-BE49-F238E27FC236}">
                <a16:creationId xmlns:a16="http://schemas.microsoft.com/office/drawing/2014/main" id="{1265B821-B436-B8C4-C00F-C77AE2CFABFE}"/>
              </a:ext>
            </a:extLst>
          </p:cNvPr>
          <p:cNvSpPr/>
          <p:nvPr/>
        </p:nvSpPr>
        <p:spPr>
          <a:xfrm>
            <a:off x="4473364" y="4100513"/>
            <a:ext cx="6867849"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AGENTS.md defines multi-agent workflows.</a:t>
            </a:r>
            <a:endParaRPr lang="en-US" sz="1450" dirty="0"/>
          </a:p>
        </p:txBody>
      </p:sp>
      <p:sp>
        <p:nvSpPr>
          <p:cNvPr id="27" name="Shape 12">
            <a:extLst>
              <a:ext uri="{FF2B5EF4-FFF2-40B4-BE49-F238E27FC236}">
                <a16:creationId xmlns:a16="http://schemas.microsoft.com/office/drawing/2014/main" id="{37743FA6-FF29-C7A6-7CA0-D449C461C4E0}"/>
              </a:ext>
            </a:extLst>
          </p:cNvPr>
          <p:cNvSpPr/>
          <p:nvPr/>
        </p:nvSpPr>
        <p:spPr>
          <a:xfrm>
            <a:off x="4378811" y="4579243"/>
            <a:ext cx="7056955" cy="12700"/>
          </a:xfrm>
          <a:prstGeom prst="roundRect">
            <a:avLst>
              <a:gd name="adj" fmla="val 49999"/>
            </a:avLst>
          </a:prstGeom>
          <a:solidFill>
            <a:srgbClr val="C7C7D0"/>
          </a:solidFill>
          <a:ln/>
        </p:spPr>
        <p:txBody>
          <a:bodyPr/>
          <a:lstStyle/>
          <a:p>
            <a:endParaRPr lang="en-US"/>
          </a:p>
        </p:txBody>
      </p:sp>
      <p:sp>
        <p:nvSpPr>
          <p:cNvPr id="29" name="Shape 13">
            <a:extLst>
              <a:ext uri="{FF2B5EF4-FFF2-40B4-BE49-F238E27FC236}">
                <a16:creationId xmlns:a16="http://schemas.microsoft.com/office/drawing/2014/main" id="{8FFEC0B3-7013-3487-9967-8694CEF2F2E6}"/>
              </a:ext>
            </a:extLst>
          </p:cNvPr>
          <p:cNvSpPr/>
          <p:nvPr/>
        </p:nvSpPr>
        <p:spPr>
          <a:xfrm>
            <a:off x="661475" y="4686399"/>
            <a:ext cx="5434373" cy="1089124"/>
          </a:xfrm>
          <a:prstGeom prst="roundRect">
            <a:avLst>
              <a:gd name="adj" fmla="val 7289"/>
            </a:avLst>
          </a:prstGeom>
          <a:solidFill>
            <a:srgbClr val="E1E1EA"/>
          </a:solidFill>
          <a:ln w="6350">
            <a:solidFill>
              <a:srgbClr val="C7C7D0"/>
            </a:solidFill>
            <a:prstDash val="solid"/>
          </a:ln>
        </p:spPr>
        <p:txBody>
          <a:bodyPr/>
          <a:lstStyle/>
          <a:p>
            <a:endParaRPr lang="en-US"/>
          </a:p>
        </p:txBody>
      </p:sp>
      <p:sp>
        <p:nvSpPr>
          <p:cNvPr id="31" name="Text 14">
            <a:extLst>
              <a:ext uri="{FF2B5EF4-FFF2-40B4-BE49-F238E27FC236}">
                <a16:creationId xmlns:a16="http://schemas.microsoft.com/office/drawing/2014/main" id="{0E25BCC9-B8B3-C389-2CF9-7FF8246A20B4}"/>
              </a:ext>
            </a:extLst>
          </p:cNvPr>
          <p:cNvSpPr/>
          <p:nvPr/>
        </p:nvSpPr>
        <p:spPr>
          <a:xfrm>
            <a:off x="3245761" y="5064820"/>
            <a:ext cx="265800" cy="332184"/>
          </a:xfrm>
          <a:prstGeom prst="rect">
            <a:avLst/>
          </a:prstGeom>
          <a:noFill/>
          <a:ln/>
        </p:spPr>
        <p:txBody>
          <a:bodyPr wrap="none" lIns="0" tIns="0" rIns="0" bIns="0" rtlCol="0" anchor="ctr"/>
          <a:lstStyle/>
          <a:p>
            <a:pPr marL="0" indent="0" algn="ctr">
              <a:lnSpc>
                <a:spcPct val="100000"/>
              </a:lnSpc>
              <a:buNone/>
            </a:pPr>
            <a:r>
              <a:rPr lang="en-US" sz="2050" dirty="0">
                <a:solidFill>
                  <a:srgbClr val="3C3939"/>
                </a:solidFill>
                <a:latin typeface="Raleway" pitchFamily="34" charset="0"/>
                <a:ea typeface="Raleway" pitchFamily="34" charset="-122"/>
                <a:cs typeface="Raleway" pitchFamily="34" charset="-120"/>
              </a:rPr>
              <a:t>3</a:t>
            </a:r>
            <a:endParaRPr lang="en-US" sz="2050" dirty="0"/>
          </a:p>
        </p:txBody>
      </p:sp>
      <p:sp>
        <p:nvSpPr>
          <p:cNvPr id="33" name="Text 15">
            <a:extLst>
              <a:ext uri="{FF2B5EF4-FFF2-40B4-BE49-F238E27FC236}">
                <a16:creationId xmlns:a16="http://schemas.microsoft.com/office/drawing/2014/main" id="{838016EA-39EE-5201-D7E0-7901D9A4D19C}"/>
              </a:ext>
            </a:extLst>
          </p:cNvPr>
          <p:cNvSpPr/>
          <p:nvPr/>
        </p:nvSpPr>
        <p:spPr>
          <a:xfrm>
            <a:off x="6284854" y="4875411"/>
            <a:ext cx="5056359"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Level 2: Path-Scoped Rules</a:t>
            </a:r>
            <a:endParaRPr lang="en-US" sz="1850" dirty="0"/>
          </a:p>
        </p:txBody>
      </p:sp>
      <p:sp>
        <p:nvSpPr>
          <p:cNvPr id="35" name="Text 16">
            <a:extLst>
              <a:ext uri="{FF2B5EF4-FFF2-40B4-BE49-F238E27FC236}">
                <a16:creationId xmlns:a16="http://schemas.microsoft.com/office/drawing/2014/main" id="{2EE8E34F-6FD3-5E4E-7F4A-A16E5D88D304}"/>
              </a:ext>
            </a:extLst>
          </p:cNvPr>
          <p:cNvSpPr/>
          <p:nvPr/>
        </p:nvSpPr>
        <p:spPr>
          <a:xfrm>
            <a:off x="6284854" y="5284093"/>
            <a:ext cx="5056359"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.claude/rules/requirements.md loads for in-scope files.</a:t>
            </a:r>
            <a:endParaRPr lang="en-US" sz="1450" dirty="0"/>
          </a:p>
        </p:txBody>
      </p:sp>
    </p:spTree>
    <p:extLst>
      <p:ext uri="{BB962C8B-B14F-4D97-AF65-F5344CB8AC3E}">
        <p14:creationId xmlns:p14="http://schemas.microsoft.com/office/powerpoint/2010/main" val="1514471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745427D7-1F80-25FF-6A95-B85C9648F36B}"/>
              </a:ext>
            </a:extLst>
          </p:cNvPr>
          <p:cNvSpPr/>
          <p:nvPr/>
        </p:nvSpPr>
        <p:spPr>
          <a:xfrm>
            <a:off x="661475" y="1227634"/>
            <a:ext cx="840461" cy="287139"/>
          </a:xfrm>
          <a:prstGeom prst="roundRect">
            <a:avLst>
              <a:gd name="adj" fmla="val 22118"/>
            </a:avLst>
          </a:prstGeom>
          <a:solidFill>
            <a:srgbClr val="E1E1EA"/>
          </a:solidFill>
          <a:ln/>
        </p:spPr>
        <p:txBody>
          <a:bodyPr/>
          <a:lstStyle/>
          <a:p>
            <a:endParaRPr lang="en-US"/>
          </a:p>
        </p:txBody>
      </p:sp>
      <p:sp>
        <p:nvSpPr>
          <p:cNvPr id="5" name="Text 1">
            <a:extLst>
              <a:ext uri="{FF2B5EF4-FFF2-40B4-BE49-F238E27FC236}">
                <a16:creationId xmlns:a16="http://schemas.microsoft.com/office/drawing/2014/main" id="{D1AD74C3-41FF-299B-DAD9-CC927C97198B}"/>
              </a:ext>
            </a:extLst>
          </p:cNvPr>
          <p:cNvSpPr/>
          <p:nvPr/>
        </p:nvSpPr>
        <p:spPr>
          <a:xfrm>
            <a:off x="774879" y="1284287"/>
            <a:ext cx="1223237"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SCHEMA</a:t>
            </a:r>
            <a:endParaRPr lang="en-US" sz="1150" dirty="0"/>
          </a:p>
        </p:txBody>
      </p:sp>
      <p:sp>
        <p:nvSpPr>
          <p:cNvPr id="7" name="Text 2">
            <a:extLst>
              <a:ext uri="{FF2B5EF4-FFF2-40B4-BE49-F238E27FC236}">
                <a16:creationId xmlns:a16="http://schemas.microsoft.com/office/drawing/2014/main" id="{1ECC6F21-BABC-C52A-9A3F-BE73C7E34B25}"/>
              </a:ext>
            </a:extLst>
          </p:cNvPr>
          <p:cNvSpPr/>
          <p:nvPr/>
        </p:nvSpPr>
        <p:spPr>
          <a:xfrm>
            <a:off x="661475" y="159037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Requirements Metadata Schema</a:t>
            </a:r>
            <a:endParaRPr lang="en-US" sz="3700" dirty="0"/>
          </a:p>
        </p:txBody>
      </p:sp>
      <p:sp>
        <p:nvSpPr>
          <p:cNvPr id="9" name="Text 3">
            <a:extLst>
              <a:ext uri="{FF2B5EF4-FFF2-40B4-BE49-F238E27FC236}">
                <a16:creationId xmlns:a16="http://schemas.microsoft.com/office/drawing/2014/main" id="{0E698864-AB47-570A-CA19-09B0C2B0F850}"/>
              </a:ext>
            </a:extLst>
          </p:cNvPr>
          <p:cNvSpPr/>
          <p:nvPr/>
        </p:nvSpPr>
        <p:spPr>
          <a:xfrm>
            <a:off x="661475" y="2653506"/>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Raleway" pitchFamily="34" charset="0"/>
                <a:ea typeface="Raleway" pitchFamily="34" charset="-122"/>
                <a:cs typeface="Raleway" pitchFamily="34" charset="-120"/>
              </a:rPr>
              <a:t>Mandatory Fields</a:t>
            </a:r>
            <a:endParaRPr lang="en-US" sz="1850" dirty="0"/>
          </a:p>
        </p:txBody>
      </p:sp>
      <p:sp>
        <p:nvSpPr>
          <p:cNvPr id="11" name="Shape 4">
            <a:extLst>
              <a:ext uri="{FF2B5EF4-FFF2-40B4-BE49-F238E27FC236}">
                <a16:creationId xmlns:a16="http://schemas.microsoft.com/office/drawing/2014/main" id="{9E6E3CC0-1F45-C0FF-B527-EA246B278219}"/>
              </a:ext>
            </a:extLst>
          </p:cNvPr>
          <p:cNvSpPr/>
          <p:nvPr/>
        </p:nvSpPr>
        <p:spPr>
          <a:xfrm>
            <a:off x="661475" y="3161407"/>
            <a:ext cx="2507394" cy="1033661"/>
          </a:xfrm>
          <a:prstGeom prst="roundRect">
            <a:avLst>
              <a:gd name="adj" fmla="val 7680"/>
            </a:avLst>
          </a:prstGeom>
          <a:solidFill>
            <a:srgbClr val="FFFFFF">
              <a:alpha val="95000"/>
            </a:srgbClr>
          </a:solidFill>
          <a:ln w="25399">
            <a:solidFill>
              <a:srgbClr val="C7C7D0"/>
            </a:solidFill>
            <a:prstDash val="solid"/>
          </a:ln>
        </p:spPr>
        <p:txBody>
          <a:bodyPr/>
          <a:lstStyle/>
          <a:p>
            <a:endParaRPr lang="en-US"/>
          </a:p>
        </p:txBody>
      </p:sp>
      <p:sp>
        <p:nvSpPr>
          <p:cNvPr id="13" name="Text 5">
            <a:extLst>
              <a:ext uri="{FF2B5EF4-FFF2-40B4-BE49-F238E27FC236}">
                <a16:creationId xmlns:a16="http://schemas.microsoft.com/office/drawing/2014/main" id="{8EAD890C-33FE-2312-2924-C2FA2D7C9EB7}"/>
              </a:ext>
            </a:extLst>
          </p:cNvPr>
          <p:cNvSpPr/>
          <p:nvPr/>
        </p:nvSpPr>
        <p:spPr>
          <a:xfrm>
            <a:off x="875881" y="3375819"/>
            <a:ext cx="2078581" cy="604838"/>
          </a:xfrm>
          <a:prstGeom prst="rect">
            <a:avLst/>
          </a:prstGeom>
          <a:noFill/>
          <a:ln/>
        </p:spPr>
        <p:txBody>
          <a:bodyPr wrap="square" lIns="0" tIns="0" rIns="0" bIns="0" rtlCol="0" anchor="t">
            <a:normAutofit/>
          </a:bodyPr>
          <a:lstStyle/>
          <a:p>
            <a:pPr marL="0" indent="0" algn="l">
              <a:lnSpc>
                <a:spcPct val="133000"/>
              </a:lnSpc>
              <a:buNone/>
            </a:pPr>
            <a:r>
              <a:rPr lang="en-US" sz="1450" b="1" dirty="0">
                <a:solidFill>
                  <a:srgbClr val="3C3939"/>
                </a:solidFill>
                <a:latin typeface="Roboto Bold" pitchFamily="34" charset="0"/>
                <a:ea typeface="Roboto Bold" pitchFamily="34" charset="-122"/>
                <a:cs typeface="Roboto Bold" pitchFamily="34" charset="-120"/>
              </a:rPr>
              <a:t>id</a:t>
            </a:r>
            <a:r>
              <a:rPr lang="en-US" sz="1450" dirty="0">
                <a:solidFill>
                  <a:srgbClr val="3C3939"/>
                </a:solidFill>
                <a:latin typeface="Roboto" pitchFamily="34" charset="0"/>
                <a:ea typeface="Roboto" pitchFamily="34" charset="-122"/>
                <a:cs typeface="Roboto" pitchFamily="34" charset="-120"/>
              </a:rPr>
              <a:t> — Unique requirement identifier</a:t>
            </a:r>
            <a:endParaRPr lang="en-US" sz="1450" dirty="0"/>
          </a:p>
        </p:txBody>
      </p:sp>
      <p:sp>
        <p:nvSpPr>
          <p:cNvPr id="15" name="Shape 6">
            <a:extLst>
              <a:ext uri="{FF2B5EF4-FFF2-40B4-BE49-F238E27FC236}">
                <a16:creationId xmlns:a16="http://schemas.microsoft.com/office/drawing/2014/main" id="{958E593A-DC87-CF5D-04B9-757E1286DCBF}"/>
              </a:ext>
            </a:extLst>
          </p:cNvPr>
          <p:cNvSpPr/>
          <p:nvPr/>
        </p:nvSpPr>
        <p:spPr>
          <a:xfrm>
            <a:off x="3357875" y="3161407"/>
            <a:ext cx="2507394" cy="1033661"/>
          </a:xfrm>
          <a:prstGeom prst="roundRect">
            <a:avLst>
              <a:gd name="adj" fmla="val 7680"/>
            </a:avLst>
          </a:prstGeom>
          <a:solidFill>
            <a:srgbClr val="FFFFFF">
              <a:alpha val="95000"/>
            </a:srgbClr>
          </a:solidFill>
          <a:ln w="25399">
            <a:solidFill>
              <a:srgbClr val="C7C7D0"/>
            </a:solidFill>
            <a:prstDash val="solid"/>
          </a:ln>
        </p:spPr>
        <p:txBody>
          <a:bodyPr/>
          <a:lstStyle/>
          <a:p>
            <a:endParaRPr lang="en-US"/>
          </a:p>
        </p:txBody>
      </p:sp>
      <p:sp>
        <p:nvSpPr>
          <p:cNvPr id="17" name="Text 7">
            <a:extLst>
              <a:ext uri="{FF2B5EF4-FFF2-40B4-BE49-F238E27FC236}">
                <a16:creationId xmlns:a16="http://schemas.microsoft.com/office/drawing/2014/main" id="{7CDDE1D7-1A33-2EF5-6525-375724654F0D}"/>
              </a:ext>
            </a:extLst>
          </p:cNvPr>
          <p:cNvSpPr/>
          <p:nvPr/>
        </p:nvSpPr>
        <p:spPr>
          <a:xfrm>
            <a:off x="3572282" y="3375819"/>
            <a:ext cx="2078581" cy="604838"/>
          </a:xfrm>
          <a:prstGeom prst="rect">
            <a:avLst/>
          </a:prstGeom>
          <a:noFill/>
          <a:ln/>
        </p:spPr>
        <p:txBody>
          <a:bodyPr wrap="square" lIns="0" tIns="0" rIns="0" bIns="0" rtlCol="0" anchor="t">
            <a:normAutofit/>
          </a:bodyPr>
          <a:lstStyle/>
          <a:p>
            <a:pPr marL="0" indent="0" algn="l">
              <a:lnSpc>
                <a:spcPct val="133000"/>
              </a:lnSpc>
              <a:buNone/>
            </a:pPr>
            <a:r>
              <a:rPr lang="en-US" sz="1450" b="1" dirty="0">
                <a:solidFill>
                  <a:srgbClr val="3C3939"/>
                </a:solidFill>
                <a:latin typeface="Roboto Bold" pitchFamily="34" charset="0"/>
                <a:ea typeface="Roboto Bold" pitchFamily="34" charset="-122"/>
                <a:cs typeface="Roboto Bold" pitchFamily="34" charset="-120"/>
              </a:rPr>
              <a:t>title</a:t>
            </a:r>
            <a:r>
              <a:rPr lang="en-US" sz="1450" dirty="0">
                <a:solidFill>
                  <a:srgbClr val="3C3939"/>
                </a:solidFill>
                <a:latin typeface="Roboto" pitchFamily="34" charset="0"/>
                <a:ea typeface="Roboto" pitchFamily="34" charset="-122"/>
                <a:cs typeface="Roboto" pitchFamily="34" charset="-120"/>
              </a:rPr>
              <a:t> — Short descriptive label</a:t>
            </a:r>
            <a:endParaRPr lang="en-US" sz="1450" dirty="0"/>
          </a:p>
        </p:txBody>
      </p:sp>
      <p:sp>
        <p:nvSpPr>
          <p:cNvPr id="19" name="Shape 8">
            <a:extLst>
              <a:ext uri="{FF2B5EF4-FFF2-40B4-BE49-F238E27FC236}">
                <a16:creationId xmlns:a16="http://schemas.microsoft.com/office/drawing/2014/main" id="{0FC0A535-B583-EFAB-9EF8-6BA2B8154A3C}"/>
              </a:ext>
            </a:extLst>
          </p:cNvPr>
          <p:cNvSpPr/>
          <p:nvPr/>
        </p:nvSpPr>
        <p:spPr>
          <a:xfrm>
            <a:off x="661475" y="4384080"/>
            <a:ext cx="2507394" cy="1033661"/>
          </a:xfrm>
          <a:prstGeom prst="roundRect">
            <a:avLst>
              <a:gd name="adj" fmla="val 7680"/>
            </a:avLst>
          </a:prstGeom>
          <a:solidFill>
            <a:srgbClr val="FFFFFF">
              <a:alpha val="95000"/>
            </a:srgbClr>
          </a:solidFill>
          <a:ln w="25399">
            <a:solidFill>
              <a:srgbClr val="C7C7D0"/>
            </a:solidFill>
            <a:prstDash val="solid"/>
          </a:ln>
        </p:spPr>
        <p:txBody>
          <a:bodyPr/>
          <a:lstStyle/>
          <a:p>
            <a:endParaRPr lang="en-US"/>
          </a:p>
        </p:txBody>
      </p:sp>
      <p:sp>
        <p:nvSpPr>
          <p:cNvPr id="21" name="Text 9">
            <a:extLst>
              <a:ext uri="{FF2B5EF4-FFF2-40B4-BE49-F238E27FC236}">
                <a16:creationId xmlns:a16="http://schemas.microsoft.com/office/drawing/2014/main" id="{F1375154-1714-96F6-3F62-55F3044B16C1}"/>
              </a:ext>
            </a:extLst>
          </p:cNvPr>
          <p:cNvSpPr/>
          <p:nvPr/>
        </p:nvSpPr>
        <p:spPr>
          <a:xfrm>
            <a:off x="875881" y="4598491"/>
            <a:ext cx="2078581" cy="604838"/>
          </a:xfrm>
          <a:prstGeom prst="rect">
            <a:avLst/>
          </a:prstGeom>
          <a:noFill/>
          <a:ln/>
        </p:spPr>
        <p:txBody>
          <a:bodyPr wrap="square" lIns="0" tIns="0" rIns="0" bIns="0" rtlCol="0" anchor="t">
            <a:normAutofit/>
          </a:bodyPr>
          <a:lstStyle/>
          <a:p>
            <a:pPr marL="0" indent="0" algn="l">
              <a:lnSpc>
                <a:spcPct val="133000"/>
              </a:lnSpc>
              <a:buNone/>
            </a:pPr>
            <a:r>
              <a:rPr lang="en-US" sz="1450" b="1" dirty="0">
                <a:solidFill>
                  <a:srgbClr val="3C3939"/>
                </a:solidFill>
                <a:latin typeface="Roboto Bold" pitchFamily="34" charset="0"/>
                <a:ea typeface="Roboto Bold" pitchFamily="34" charset="-122"/>
                <a:cs typeface="Roboto Bold" pitchFamily="34" charset="-120"/>
              </a:rPr>
              <a:t>confidence</a:t>
            </a:r>
            <a:r>
              <a:rPr lang="en-US" sz="1450" dirty="0">
                <a:solidFill>
                  <a:srgbClr val="3C3939"/>
                </a:solidFill>
                <a:latin typeface="Roboto" pitchFamily="34" charset="0"/>
                <a:ea typeface="Roboto" pitchFamily="34" charset="-122"/>
                <a:cs typeface="Roboto" pitchFamily="34" charset="-120"/>
              </a:rPr>
              <a:t> — Numeric score 0.0 to 1.0</a:t>
            </a:r>
            <a:endParaRPr lang="en-US" sz="1450" dirty="0"/>
          </a:p>
        </p:txBody>
      </p:sp>
      <p:sp>
        <p:nvSpPr>
          <p:cNvPr id="23" name="Shape 10">
            <a:extLst>
              <a:ext uri="{FF2B5EF4-FFF2-40B4-BE49-F238E27FC236}">
                <a16:creationId xmlns:a16="http://schemas.microsoft.com/office/drawing/2014/main" id="{71F80C06-3811-3B9D-F491-604A6899EDBC}"/>
              </a:ext>
            </a:extLst>
          </p:cNvPr>
          <p:cNvSpPr/>
          <p:nvPr/>
        </p:nvSpPr>
        <p:spPr>
          <a:xfrm>
            <a:off x="3357875" y="4384080"/>
            <a:ext cx="2507394" cy="1033661"/>
          </a:xfrm>
          <a:prstGeom prst="roundRect">
            <a:avLst>
              <a:gd name="adj" fmla="val 7680"/>
            </a:avLst>
          </a:prstGeom>
          <a:solidFill>
            <a:srgbClr val="FFFFFF">
              <a:alpha val="95000"/>
            </a:srgbClr>
          </a:solidFill>
          <a:ln w="25399">
            <a:solidFill>
              <a:srgbClr val="C7C7D0"/>
            </a:solidFill>
            <a:prstDash val="solid"/>
          </a:ln>
        </p:spPr>
        <p:txBody>
          <a:bodyPr/>
          <a:lstStyle/>
          <a:p>
            <a:endParaRPr lang="en-US"/>
          </a:p>
        </p:txBody>
      </p:sp>
      <p:sp>
        <p:nvSpPr>
          <p:cNvPr id="25" name="Text 11">
            <a:extLst>
              <a:ext uri="{FF2B5EF4-FFF2-40B4-BE49-F238E27FC236}">
                <a16:creationId xmlns:a16="http://schemas.microsoft.com/office/drawing/2014/main" id="{A2D836BD-63D4-FC66-9A3D-417442197113}"/>
              </a:ext>
            </a:extLst>
          </p:cNvPr>
          <p:cNvSpPr/>
          <p:nvPr/>
        </p:nvSpPr>
        <p:spPr>
          <a:xfrm>
            <a:off x="3572282" y="4598491"/>
            <a:ext cx="2078581" cy="604838"/>
          </a:xfrm>
          <a:prstGeom prst="rect">
            <a:avLst/>
          </a:prstGeom>
          <a:noFill/>
          <a:ln/>
        </p:spPr>
        <p:txBody>
          <a:bodyPr wrap="square" lIns="0" tIns="0" rIns="0" bIns="0" rtlCol="0" anchor="t">
            <a:normAutofit/>
          </a:bodyPr>
          <a:lstStyle/>
          <a:p>
            <a:pPr marL="0" indent="0" algn="l">
              <a:lnSpc>
                <a:spcPct val="133000"/>
              </a:lnSpc>
              <a:buNone/>
            </a:pPr>
            <a:r>
              <a:rPr lang="en-US" sz="1450" b="1" dirty="0">
                <a:solidFill>
                  <a:srgbClr val="3C3939"/>
                </a:solidFill>
                <a:latin typeface="Roboto Bold" pitchFamily="34" charset="0"/>
                <a:ea typeface="Roboto Bold" pitchFamily="34" charset="-122"/>
                <a:cs typeface="Roboto Bold" pitchFamily="34" charset="-120"/>
              </a:rPr>
              <a:t>evidence_quote</a:t>
            </a:r>
            <a:r>
              <a:rPr lang="en-US" sz="1450" dirty="0">
                <a:solidFill>
                  <a:srgbClr val="3C3939"/>
                </a:solidFill>
                <a:latin typeface="Roboto" pitchFamily="34" charset="0"/>
                <a:ea typeface="Roboto" pitchFamily="34" charset="-122"/>
                <a:cs typeface="Roboto" pitchFamily="34" charset="-120"/>
              </a:rPr>
              <a:t> — Verbatim source citation</a:t>
            </a:r>
            <a:endParaRPr lang="en-US" sz="1450" dirty="0"/>
          </a:p>
        </p:txBody>
      </p:sp>
      <p:sp>
        <p:nvSpPr>
          <p:cNvPr id="27" name="Text 12">
            <a:extLst>
              <a:ext uri="{FF2B5EF4-FFF2-40B4-BE49-F238E27FC236}">
                <a16:creationId xmlns:a16="http://schemas.microsoft.com/office/drawing/2014/main" id="{6E7C1BD1-9C50-A0B9-66D8-601688C1259A}"/>
              </a:ext>
            </a:extLst>
          </p:cNvPr>
          <p:cNvSpPr/>
          <p:nvPr/>
        </p:nvSpPr>
        <p:spPr>
          <a:xfrm>
            <a:off x="6332776" y="2653506"/>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Raleway" pitchFamily="34" charset="0"/>
                <a:ea typeface="Raleway" pitchFamily="34" charset="-122"/>
                <a:cs typeface="Raleway" pitchFamily="34" charset="-120"/>
              </a:rPr>
              <a:t>Controlled Vocabularies</a:t>
            </a:r>
            <a:endParaRPr lang="en-US" sz="1850" dirty="0"/>
          </a:p>
        </p:txBody>
      </p:sp>
      <p:sp>
        <p:nvSpPr>
          <p:cNvPr id="29" name="Text 13">
            <a:extLst>
              <a:ext uri="{FF2B5EF4-FFF2-40B4-BE49-F238E27FC236}">
                <a16:creationId xmlns:a16="http://schemas.microsoft.com/office/drawing/2014/main" id="{53259EDB-0F1D-0486-BC6A-9BC4605B45F0}"/>
              </a:ext>
            </a:extLst>
          </p:cNvPr>
          <p:cNvSpPr/>
          <p:nvPr/>
        </p:nvSpPr>
        <p:spPr>
          <a:xfrm>
            <a:off x="6332776" y="3137793"/>
            <a:ext cx="5203794" cy="1077317"/>
          </a:xfrm>
          <a:prstGeom prst="rect">
            <a:avLst/>
          </a:prstGeom>
          <a:noFill/>
          <a:ln/>
        </p:spPr>
        <p:txBody>
          <a:bodyPr wrap="square" lIns="0" tIns="0" rIns="0" bIns="0" rtlCol="0" anchor="t">
            <a:normAutofit/>
          </a:bodyPr>
          <a:lstStyle/>
          <a:p>
            <a:pPr marL="0" indent="0" algn="l">
              <a:lnSpc>
                <a:spcPct val="133000"/>
              </a:lnSpc>
              <a:spcAft>
                <a:spcPts val="1300"/>
              </a:spcAft>
              <a:buNone/>
            </a:pPr>
            <a:r>
              <a:rPr lang="en-US" sz="1450" b="1" dirty="0">
                <a:solidFill>
                  <a:srgbClr val="3C3939"/>
                </a:solidFill>
                <a:latin typeface="Roboto Bold" pitchFamily="34" charset="0"/>
                <a:ea typeface="Roboto Bold" pitchFamily="34" charset="-122"/>
                <a:cs typeface="Roboto Bold" pitchFamily="34" charset="-120"/>
              </a:rPr>
              <a:t>Categories</a:t>
            </a:r>
            <a:r>
              <a:rPr lang="en-US" sz="1450" dirty="0">
                <a:solidFill>
                  <a:srgbClr val="3C3939"/>
                </a:solidFill>
                <a:latin typeface="Roboto" pitchFamily="34" charset="0"/>
                <a:ea typeface="Roboto" pitchFamily="34" charset="-122"/>
                <a:cs typeface="Roboto" pitchFamily="34" charset="-120"/>
              </a:rPr>
              <a:t>: Functional, Non-Functional, Constraint, Domain Rule</a:t>
            </a:r>
            <a:endParaRPr lang="en-US" sz="1450" dirty="0"/>
          </a:p>
          <a:p>
            <a:pPr marL="0" indent="0" algn="l">
              <a:lnSpc>
                <a:spcPct val="133000"/>
              </a:lnSpc>
              <a:buNone/>
            </a:pPr>
            <a:r>
              <a:rPr lang="en-US" sz="1450" b="1" dirty="0">
                <a:solidFill>
                  <a:srgbClr val="3C3939"/>
                </a:solidFill>
                <a:latin typeface="Roboto Bold" pitchFamily="34" charset="0"/>
                <a:ea typeface="Roboto Bold" pitchFamily="34" charset="-122"/>
                <a:cs typeface="Roboto Bold" pitchFamily="34" charset="-120"/>
              </a:rPr>
              <a:t>Status</a:t>
            </a:r>
            <a:r>
              <a:rPr lang="en-US" sz="1450" dirty="0">
                <a:solidFill>
                  <a:srgbClr val="3C3939"/>
                </a:solidFill>
                <a:latin typeface="Roboto" pitchFamily="34" charset="0"/>
                <a:ea typeface="Roboto" pitchFamily="34" charset="-122"/>
                <a:cs typeface="Roboto" pitchFamily="34" charset="-120"/>
              </a:rPr>
              <a:t>: Pending_Review, Approved, Rejected</a:t>
            </a:r>
            <a:endParaRPr lang="en-US" sz="1450" dirty="0"/>
          </a:p>
        </p:txBody>
      </p:sp>
    </p:spTree>
    <p:extLst>
      <p:ext uri="{BB962C8B-B14F-4D97-AF65-F5344CB8AC3E}">
        <p14:creationId xmlns:p14="http://schemas.microsoft.com/office/powerpoint/2010/main" val="1270644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6A567A04-62E8-3B1F-579E-4FD194456C00}"/>
              </a:ext>
            </a:extLst>
          </p:cNvPr>
          <p:cNvSpPr/>
          <p:nvPr/>
        </p:nvSpPr>
        <p:spPr>
          <a:xfrm>
            <a:off x="661475" y="539948"/>
            <a:ext cx="901777" cy="264616"/>
          </a:xfrm>
          <a:prstGeom prst="roundRect">
            <a:avLst>
              <a:gd name="adj" fmla="val 22126"/>
            </a:avLst>
          </a:prstGeom>
          <a:solidFill>
            <a:srgbClr val="E1E1EA"/>
          </a:solidFill>
          <a:ln/>
        </p:spPr>
        <p:txBody>
          <a:bodyPr/>
          <a:lstStyle/>
          <a:p>
            <a:endParaRPr lang="en-US"/>
          </a:p>
        </p:txBody>
      </p:sp>
      <p:sp>
        <p:nvSpPr>
          <p:cNvPr id="5" name="Text 1">
            <a:extLst>
              <a:ext uri="{FF2B5EF4-FFF2-40B4-BE49-F238E27FC236}">
                <a16:creationId xmlns:a16="http://schemas.microsoft.com/office/drawing/2014/main" id="{C637841C-51CB-0488-5E32-E7FA79659C0A}"/>
              </a:ext>
            </a:extLst>
          </p:cNvPr>
          <p:cNvSpPr/>
          <p:nvPr/>
        </p:nvSpPr>
        <p:spPr>
          <a:xfrm>
            <a:off x="765950" y="592138"/>
            <a:ext cx="1302412" cy="160238"/>
          </a:xfrm>
          <a:prstGeom prst="rect">
            <a:avLst/>
          </a:prstGeom>
          <a:noFill/>
          <a:ln/>
        </p:spPr>
        <p:txBody>
          <a:bodyPr wrap="none" lIns="0" tIns="0" rIns="0" bIns="0" rtlCol="0" anchor="t"/>
          <a:lstStyle/>
          <a:p>
            <a:pPr marL="0" indent="0" algn="l">
              <a:lnSpc>
                <a:spcPct val="96000"/>
              </a:lnSpc>
              <a:buNone/>
            </a:pPr>
            <a:r>
              <a:rPr lang="en-US" sz="1050" dirty="0">
                <a:solidFill>
                  <a:srgbClr val="3C3939"/>
                </a:solidFill>
                <a:latin typeface="Roboto" pitchFamily="34" charset="0"/>
                <a:ea typeface="Roboto" pitchFamily="34" charset="-122"/>
                <a:cs typeface="Roboto" pitchFamily="34" charset="-120"/>
              </a:rPr>
              <a:t>GRAMMAR</a:t>
            </a:r>
            <a:endParaRPr lang="en-US" sz="1050" dirty="0"/>
          </a:p>
        </p:txBody>
      </p:sp>
      <p:sp>
        <p:nvSpPr>
          <p:cNvPr id="7" name="Text 2">
            <a:extLst>
              <a:ext uri="{FF2B5EF4-FFF2-40B4-BE49-F238E27FC236}">
                <a16:creationId xmlns:a16="http://schemas.microsoft.com/office/drawing/2014/main" id="{CAA543FF-C133-0116-7D2E-ECE1814DF644}"/>
              </a:ext>
            </a:extLst>
          </p:cNvPr>
          <p:cNvSpPr/>
          <p:nvPr/>
        </p:nvSpPr>
        <p:spPr>
          <a:xfrm>
            <a:off x="661475" y="868759"/>
            <a:ext cx="10868745" cy="544513"/>
          </a:xfrm>
          <a:prstGeom prst="rect">
            <a:avLst/>
          </a:prstGeom>
          <a:noFill/>
          <a:ln/>
        </p:spPr>
        <p:txBody>
          <a:bodyPr wrap="none" lIns="0" tIns="0" rIns="0" bIns="0" rtlCol="0" anchor="t"/>
          <a:lstStyle/>
          <a:p>
            <a:pPr marL="0" indent="0" algn="l">
              <a:lnSpc>
                <a:spcPct val="104000"/>
              </a:lnSpc>
              <a:buNone/>
            </a:pPr>
            <a:r>
              <a:rPr lang="en-US" sz="3400" dirty="0">
                <a:solidFill>
                  <a:srgbClr val="1B1B27"/>
                </a:solidFill>
                <a:latin typeface="Raleway" pitchFamily="34" charset="0"/>
                <a:ea typeface="Raleway" pitchFamily="34" charset="-122"/>
                <a:cs typeface="Raleway" pitchFamily="34" charset="-120"/>
              </a:rPr>
              <a:t>EARS Grammar Enforcement</a:t>
            </a:r>
            <a:endParaRPr lang="en-US" sz="3400" dirty="0"/>
          </a:p>
        </p:txBody>
      </p:sp>
      <p:pic>
        <p:nvPicPr>
          <p:cNvPr id="9" name="Image 0" descr="preencoded.png">
            <a:extLst>
              <a:ext uri="{FF2B5EF4-FFF2-40B4-BE49-F238E27FC236}">
                <a16:creationId xmlns:a16="http://schemas.microsoft.com/office/drawing/2014/main" id="{D9B32680-371C-733D-C5CE-32506564D8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1475" y="1654175"/>
            <a:ext cx="10868745" cy="1045468"/>
          </a:xfrm>
          <a:prstGeom prst="rect">
            <a:avLst/>
          </a:prstGeom>
        </p:spPr>
      </p:pic>
      <p:sp>
        <p:nvSpPr>
          <p:cNvPr id="11" name="Text 3">
            <a:extLst>
              <a:ext uri="{FF2B5EF4-FFF2-40B4-BE49-F238E27FC236}">
                <a16:creationId xmlns:a16="http://schemas.microsoft.com/office/drawing/2014/main" id="{2EF3E69B-6CFF-C8C6-F35B-7FCCDCB6B333}"/>
              </a:ext>
            </a:extLst>
          </p:cNvPr>
          <p:cNvSpPr/>
          <p:nvPr/>
        </p:nvSpPr>
        <p:spPr>
          <a:xfrm>
            <a:off x="895129" y="2013545"/>
            <a:ext cx="261336" cy="326727"/>
          </a:xfrm>
          <a:prstGeom prst="rect">
            <a:avLst/>
          </a:prstGeom>
          <a:noFill/>
          <a:ln/>
        </p:spPr>
        <p:txBody>
          <a:bodyPr wrap="none" lIns="0" tIns="0" rIns="0" bIns="0" rtlCol="0" anchor="ctr"/>
          <a:lstStyle/>
          <a:p>
            <a:pPr marL="0" indent="0" algn="ctr">
              <a:lnSpc>
                <a:spcPct val="100000"/>
              </a:lnSpc>
              <a:buNone/>
            </a:pPr>
            <a:r>
              <a:rPr lang="en-US" sz="2050" dirty="0">
                <a:solidFill>
                  <a:srgbClr val="3C3939"/>
                </a:solidFill>
                <a:latin typeface="Raleway" pitchFamily="34" charset="0"/>
                <a:ea typeface="Raleway" pitchFamily="34" charset="-122"/>
                <a:cs typeface="Raleway" pitchFamily="34" charset="-120"/>
              </a:rPr>
              <a:t>1</a:t>
            </a:r>
            <a:endParaRPr lang="en-US" sz="2050" dirty="0"/>
          </a:p>
        </p:txBody>
      </p:sp>
      <p:sp>
        <p:nvSpPr>
          <p:cNvPr id="13" name="Text 4">
            <a:extLst>
              <a:ext uri="{FF2B5EF4-FFF2-40B4-BE49-F238E27FC236}">
                <a16:creationId xmlns:a16="http://schemas.microsoft.com/office/drawing/2014/main" id="{C0EA2F89-CC24-C076-8593-48731B2D57EE}"/>
              </a:ext>
            </a:extLst>
          </p:cNvPr>
          <p:cNvSpPr/>
          <p:nvPr/>
        </p:nvSpPr>
        <p:spPr>
          <a:xfrm>
            <a:off x="1538150" y="1847453"/>
            <a:ext cx="9798797" cy="272157"/>
          </a:xfrm>
          <a:prstGeom prst="rect">
            <a:avLst/>
          </a:prstGeom>
          <a:noFill/>
          <a:ln/>
        </p:spPr>
        <p:txBody>
          <a:bodyPr wrap="none" lIns="0" tIns="0" rIns="0" bIns="0" rtlCol="0" anchor="t"/>
          <a:lstStyle/>
          <a:p>
            <a:pPr marL="0" indent="0" algn="l">
              <a:lnSpc>
                <a:spcPct val="104000"/>
              </a:lnSpc>
              <a:buNone/>
            </a:pPr>
            <a:r>
              <a:rPr lang="en-US" sz="1700" dirty="0">
                <a:solidFill>
                  <a:srgbClr val="3C3939"/>
                </a:solidFill>
                <a:latin typeface="Raleway" pitchFamily="34" charset="0"/>
                <a:ea typeface="Raleway" pitchFamily="34" charset="-122"/>
                <a:cs typeface="Raleway" pitchFamily="34" charset="-120"/>
              </a:rPr>
              <a:t>Ubiquitous</a:t>
            </a:r>
            <a:endParaRPr lang="en-US" sz="1700" dirty="0"/>
          </a:p>
        </p:txBody>
      </p:sp>
      <p:sp>
        <p:nvSpPr>
          <p:cNvPr id="15" name="Text 5">
            <a:extLst>
              <a:ext uri="{FF2B5EF4-FFF2-40B4-BE49-F238E27FC236}">
                <a16:creationId xmlns:a16="http://schemas.microsoft.com/office/drawing/2014/main" id="{4D266CEB-679A-4339-01FE-8109FE591925}"/>
              </a:ext>
            </a:extLst>
          </p:cNvPr>
          <p:cNvSpPr/>
          <p:nvPr/>
        </p:nvSpPr>
        <p:spPr>
          <a:xfrm>
            <a:off x="1538150" y="2215952"/>
            <a:ext cx="9798797" cy="267791"/>
          </a:xfrm>
          <a:prstGeom prst="rect">
            <a:avLst/>
          </a:prstGeom>
          <a:noFill/>
          <a:ln/>
        </p:spPr>
        <p:txBody>
          <a:bodyPr wrap="none" lIns="0" tIns="0" rIns="0" bIns="0" rtlCol="0" anchor="t"/>
          <a:lstStyle/>
          <a:p>
            <a:pPr marL="0" indent="0" algn="l">
              <a:lnSpc>
                <a:spcPct val="128000"/>
              </a:lnSpc>
              <a:buNone/>
            </a:pPr>
            <a:r>
              <a:rPr lang="en-US" sz="1350" dirty="0">
                <a:solidFill>
                  <a:srgbClr val="3C3939"/>
                </a:solidFill>
                <a:latin typeface="Roboto" pitchFamily="34" charset="0"/>
                <a:ea typeface="Roboto" pitchFamily="34" charset="-122"/>
                <a:cs typeface="Roboto" pitchFamily="34" charset="-120"/>
              </a:rPr>
              <a:t>The system shall </a:t>
            </a:r>
            <a:r>
              <a:rPr lang="en-US" sz="1350" i="1" dirty="0">
                <a:solidFill>
                  <a:srgbClr val="3C3939"/>
                </a:solidFill>
                <a:latin typeface="Roboto" pitchFamily="34" charset="0"/>
                <a:ea typeface="Roboto" pitchFamily="34" charset="-122"/>
                <a:cs typeface="Roboto" pitchFamily="34" charset="-120"/>
              </a:rPr>
              <a:t>response</a:t>
            </a:r>
            <a:endParaRPr lang="en-US" sz="1350" dirty="0"/>
          </a:p>
        </p:txBody>
      </p:sp>
      <p:pic>
        <p:nvPicPr>
          <p:cNvPr id="17" name="Image 1" descr="preencoded.png">
            <a:extLst>
              <a:ext uri="{FF2B5EF4-FFF2-40B4-BE49-F238E27FC236}">
                <a16:creationId xmlns:a16="http://schemas.microsoft.com/office/drawing/2014/main" id="{0B92FB3F-65BC-C96C-3856-A9D02DA1E2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1475" y="2860278"/>
            <a:ext cx="10868745" cy="1045468"/>
          </a:xfrm>
          <a:prstGeom prst="rect">
            <a:avLst/>
          </a:prstGeom>
        </p:spPr>
      </p:pic>
      <p:sp>
        <p:nvSpPr>
          <p:cNvPr id="19" name="Text 6">
            <a:extLst>
              <a:ext uri="{FF2B5EF4-FFF2-40B4-BE49-F238E27FC236}">
                <a16:creationId xmlns:a16="http://schemas.microsoft.com/office/drawing/2014/main" id="{215697D4-9C91-93CB-12A9-2FFD288E89F3}"/>
              </a:ext>
            </a:extLst>
          </p:cNvPr>
          <p:cNvSpPr/>
          <p:nvPr/>
        </p:nvSpPr>
        <p:spPr>
          <a:xfrm>
            <a:off x="895129" y="3219648"/>
            <a:ext cx="261336" cy="326727"/>
          </a:xfrm>
          <a:prstGeom prst="rect">
            <a:avLst/>
          </a:prstGeom>
          <a:noFill/>
          <a:ln/>
        </p:spPr>
        <p:txBody>
          <a:bodyPr wrap="none" lIns="0" tIns="0" rIns="0" bIns="0" rtlCol="0" anchor="ctr"/>
          <a:lstStyle/>
          <a:p>
            <a:pPr marL="0" indent="0" algn="ctr">
              <a:lnSpc>
                <a:spcPct val="100000"/>
              </a:lnSpc>
              <a:buNone/>
            </a:pPr>
            <a:r>
              <a:rPr lang="en-US" sz="2050" dirty="0">
                <a:solidFill>
                  <a:srgbClr val="3C3939"/>
                </a:solidFill>
                <a:latin typeface="Raleway" pitchFamily="34" charset="0"/>
                <a:ea typeface="Raleway" pitchFamily="34" charset="-122"/>
                <a:cs typeface="Raleway" pitchFamily="34" charset="-120"/>
              </a:rPr>
              <a:t>2</a:t>
            </a:r>
            <a:endParaRPr lang="en-US" sz="2050" dirty="0"/>
          </a:p>
        </p:txBody>
      </p:sp>
      <p:sp>
        <p:nvSpPr>
          <p:cNvPr id="21" name="Text 7">
            <a:extLst>
              <a:ext uri="{FF2B5EF4-FFF2-40B4-BE49-F238E27FC236}">
                <a16:creationId xmlns:a16="http://schemas.microsoft.com/office/drawing/2014/main" id="{005BAECD-A8D7-EA70-0813-FAB15461524F}"/>
              </a:ext>
            </a:extLst>
          </p:cNvPr>
          <p:cNvSpPr/>
          <p:nvPr/>
        </p:nvSpPr>
        <p:spPr>
          <a:xfrm>
            <a:off x="1538150" y="3053556"/>
            <a:ext cx="9798797" cy="272157"/>
          </a:xfrm>
          <a:prstGeom prst="rect">
            <a:avLst/>
          </a:prstGeom>
          <a:noFill/>
          <a:ln/>
        </p:spPr>
        <p:txBody>
          <a:bodyPr wrap="none" lIns="0" tIns="0" rIns="0" bIns="0" rtlCol="0" anchor="t"/>
          <a:lstStyle/>
          <a:p>
            <a:pPr marL="0" indent="0" algn="l">
              <a:lnSpc>
                <a:spcPct val="104000"/>
              </a:lnSpc>
              <a:buNone/>
            </a:pPr>
            <a:r>
              <a:rPr lang="en-US" sz="1700" dirty="0">
                <a:solidFill>
                  <a:srgbClr val="3C3939"/>
                </a:solidFill>
                <a:latin typeface="Raleway" pitchFamily="34" charset="0"/>
                <a:ea typeface="Raleway" pitchFamily="34" charset="-122"/>
                <a:cs typeface="Raleway" pitchFamily="34" charset="-120"/>
              </a:rPr>
              <a:t>Event-Driven</a:t>
            </a:r>
            <a:endParaRPr lang="en-US" sz="1700" dirty="0"/>
          </a:p>
        </p:txBody>
      </p:sp>
      <p:sp>
        <p:nvSpPr>
          <p:cNvPr id="23" name="Text 8">
            <a:extLst>
              <a:ext uri="{FF2B5EF4-FFF2-40B4-BE49-F238E27FC236}">
                <a16:creationId xmlns:a16="http://schemas.microsoft.com/office/drawing/2014/main" id="{9733C56F-0BAE-4AC6-DB7B-FD49047E1361}"/>
              </a:ext>
            </a:extLst>
          </p:cNvPr>
          <p:cNvSpPr/>
          <p:nvPr/>
        </p:nvSpPr>
        <p:spPr>
          <a:xfrm>
            <a:off x="1538150" y="3422055"/>
            <a:ext cx="9798797" cy="267791"/>
          </a:xfrm>
          <a:prstGeom prst="rect">
            <a:avLst/>
          </a:prstGeom>
          <a:noFill/>
          <a:ln/>
        </p:spPr>
        <p:txBody>
          <a:bodyPr wrap="none" lIns="0" tIns="0" rIns="0" bIns="0" rtlCol="0" anchor="t"/>
          <a:lstStyle/>
          <a:p>
            <a:pPr marL="0" indent="0" algn="l">
              <a:lnSpc>
                <a:spcPct val="128000"/>
              </a:lnSpc>
              <a:buNone/>
            </a:pPr>
            <a:r>
              <a:rPr lang="en-US" sz="1350" dirty="0">
                <a:solidFill>
                  <a:srgbClr val="3C3939"/>
                </a:solidFill>
                <a:latin typeface="Roboto" pitchFamily="34" charset="0"/>
                <a:ea typeface="Roboto" pitchFamily="34" charset="-122"/>
                <a:cs typeface="Roboto" pitchFamily="34" charset="-120"/>
              </a:rPr>
              <a:t>WHEN </a:t>
            </a:r>
            <a:r>
              <a:rPr lang="en-US" sz="1350" i="1" dirty="0">
                <a:solidFill>
                  <a:srgbClr val="3C3939"/>
                </a:solidFill>
                <a:latin typeface="Roboto" pitchFamily="34" charset="0"/>
                <a:ea typeface="Roboto" pitchFamily="34" charset="-122"/>
                <a:cs typeface="Roboto" pitchFamily="34" charset="-120"/>
              </a:rPr>
              <a:t>trigger</a:t>
            </a:r>
            <a:r>
              <a:rPr lang="en-US" sz="1350" dirty="0">
                <a:solidFill>
                  <a:srgbClr val="3C3939"/>
                </a:solidFill>
                <a:latin typeface="Roboto" pitchFamily="34" charset="0"/>
                <a:ea typeface="Roboto" pitchFamily="34" charset="-122"/>
                <a:cs typeface="Roboto" pitchFamily="34" charset="-120"/>
              </a:rPr>
              <a:t>, the system shall </a:t>
            </a:r>
            <a:r>
              <a:rPr lang="en-US" sz="1350" i="1" dirty="0">
                <a:solidFill>
                  <a:srgbClr val="3C3939"/>
                </a:solidFill>
                <a:latin typeface="Roboto" pitchFamily="34" charset="0"/>
                <a:ea typeface="Roboto" pitchFamily="34" charset="-122"/>
                <a:cs typeface="Roboto" pitchFamily="34" charset="-120"/>
              </a:rPr>
              <a:t>response</a:t>
            </a:r>
            <a:endParaRPr lang="en-US" sz="1350" dirty="0"/>
          </a:p>
        </p:txBody>
      </p:sp>
      <p:pic>
        <p:nvPicPr>
          <p:cNvPr id="25" name="Image 2" descr="preencoded.png">
            <a:extLst>
              <a:ext uri="{FF2B5EF4-FFF2-40B4-BE49-F238E27FC236}">
                <a16:creationId xmlns:a16="http://schemas.microsoft.com/office/drawing/2014/main" id="{455FF2FF-2559-B878-F27B-CB32ACA2D7C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1475" y="4066381"/>
            <a:ext cx="10868745" cy="1045468"/>
          </a:xfrm>
          <a:prstGeom prst="rect">
            <a:avLst/>
          </a:prstGeom>
        </p:spPr>
      </p:pic>
      <p:sp>
        <p:nvSpPr>
          <p:cNvPr id="27" name="Text 9">
            <a:extLst>
              <a:ext uri="{FF2B5EF4-FFF2-40B4-BE49-F238E27FC236}">
                <a16:creationId xmlns:a16="http://schemas.microsoft.com/office/drawing/2014/main" id="{56DEEE74-7D0A-ADC3-7771-8785A0B1A928}"/>
              </a:ext>
            </a:extLst>
          </p:cNvPr>
          <p:cNvSpPr/>
          <p:nvPr/>
        </p:nvSpPr>
        <p:spPr>
          <a:xfrm>
            <a:off x="895129" y="4425752"/>
            <a:ext cx="261336" cy="326727"/>
          </a:xfrm>
          <a:prstGeom prst="rect">
            <a:avLst/>
          </a:prstGeom>
          <a:noFill/>
          <a:ln/>
        </p:spPr>
        <p:txBody>
          <a:bodyPr wrap="none" lIns="0" tIns="0" rIns="0" bIns="0" rtlCol="0" anchor="ctr"/>
          <a:lstStyle/>
          <a:p>
            <a:pPr marL="0" indent="0" algn="ctr">
              <a:lnSpc>
                <a:spcPct val="100000"/>
              </a:lnSpc>
              <a:buNone/>
            </a:pPr>
            <a:r>
              <a:rPr lang="en-US" sz="2050" dirty="0">
                <a:solidFill>
                  <a:srgbClr val="3C3939"/>
                </a:solidFill>
                <a:latin typeface="Raleway" pitchFamily="34" charset="0"/>
                <a:ea typeface="Raleway" pitchFamily="34" charset="-122"/>
                <a:cs typeface="Raleway" pitchFamily="34" charset="-120"/>
              </a:rPr>
              <a:t>3</a:t>
            </a:r>
            <a:endParaRPr lang="en-US" sz="2050" dirty="0"/>
          </a:p>
        </p:txBody>
      </p:sp>
      <p:sp>
        <p:nvSpPr>
          <p:cNvPr id="29" name="Text 10">
            <a:extLst>
              <a:ext uri="{FF2B5EF4-FFF2-40B4-BE49-F238E27FC236}">
                <a16:creationId xmlns:a16="http://schemas.microsoft.com/office/drawing/2014/main" id="{933B643C-7547-913F-DB93-6D7A99CF501A}"/>
              </a:ext>
            </a:extLst>
          </p:cNvPr>
          <p:cNvSpPr/>
          <p:nvPr/>
        </p:nvSpPr>
        <p:spPr>
          <a:xfrm>
            <a:off x="1538150" y="4259659"/>
            <a:ext cx="9798797" cy="272157"/>
          </a:xfrm>
          <a:prstGeom prst="rect">
            <a:avLst/>
          </a:prstGeom>
          <a:noFill/>
          <a:ln/>
        </p:spPr>
        <p:txBody>
          <a:bodyPr wrap="none" lIns="0" tIns="0" rIns="0" bIns="0" rtlCol="0" anchor="t"/>
          <a:lstStyle/>
          <a:p>
            <a:pPr marL="0" indent="0" algn="l">
              <a:lnSpc>
                <a:spcPct val="104000"/>
              </a:lnSpc>
              <a:buNone/>
            </a:pPr>
            <a:r>
              <a:rPr lang="en-US" sz="1700" dirty="0">
                <a:solidFill>
                  <a:srgbClr val="3C3939"/>
                </a:solidFill>
                <a:latin typeface="Raleway" pitchFamily="34" charset="0"/>
                <a:ea typeface="Raleway" pitchFamily="34" charset="-122"/>
                <a:cs typeface="Raleway" pitchFamily="34" charset="-120"/>
              </a:rPr>
              <a:t>State-Driven</a:t>
            </a:r>
            <a:endParaRPr lang="en-US" sz="1700" dirty="0"/>
          </a:p>
        </p:txBody>
      </p:sp>
      <p:sp>
        <p:nvSpPr>
          <p:cNvPr id="31" name="Text 11">
            <a:extLst>
              <a:ext uri="{FF2B5EF4-FFF2-40B4-BE49-F238E27FC236}">
                <a16:creationId xmlns:a16="http://schemas.microsoft.com/office/drawing/2014/main" id="{07B925DB-9ABA-39D3-C1E5-448815C94C99}"/>
              </a:ext>
            </a:extLst>
          </p:cNvPr>
          <p:cNvSpPr/>
          <p:nvPr/>
        </p:nvSpPr>
        <p:spPr>
          <a:xfrm>
            <a:off x="1538150" y="4628158"/>
            <a:ext cx="9798797" cy="267791"/>
          </a:xfrm>
          <a:prstGeom prst="rect">
            <a:avLst/>
          </a:prstGeom>
          <a:noFill/>
          <a:ln/>
        </p:spPr>
        <p:txBody>
          <a:bodyPr wrap="none" lIns="0" tIns="0" rIns="0" bIns="0" rtlCol="0" anchor="t"/>
          <a:lstStyle/>
          <a:p>
            <a:pPr marL="0" indent="0" algn="l">
              <a:lnSpc>
                <a:spcPct val="128000"/>
              </a:lnSpc>
              <a:buNone/>
            </a:pPr>
            <a:r>
              <a:rPr lang="en-US" sz="1350" dirty="0">
                <a:solidFill>
                  <a:srgbClr val="3C3939"/>
                </a:solidFill>
                <a:latin typeface="Roboto" pitchFamily="34" charset="0"/>
                <a:ea typeface="Roboto" pitchFamily="34" charset="-122"/>
                <a:cs typeface="Roboto" pitchFamily="34" charset="-120"/>
              </a:rPr>
              <a:t>WHILE </a:t>
            </a:r>
            <a:r>
              <a:rPr lang="en-US" sz="1350" i="1" dirty="0">
                <a:solidFill>
                  <a:srgbClr val="3C3939"/>
                </a:solidFill>
                <a:latin typeface="Roboto" pitchFamily="34" charset="0"/>
                <a:ea typeface="Roboto" pitchFamily="34" charset="-122"/>
                <a:cs typeface="Roboto" pitchFamily="34" charset="-120"/>
              </a:rPr>
              <a:t>state</a:t>
            </a:r>
            <a:r>
              <a:rPr lang="en-US" sz="1350" dirty="0">
                <a:solidFill>
                  <a:srgbClr val="3C3939"/>
                </a:solidFill>
                <a:latin typeface="Roboto" pitchFamily="34" charset="0"/>
                <a:ea typeface="Roboto" pitchFamily="34" charset="-122"/>
                <a:cs typeface="Roboto" pitchFamily="34" charset="-120"/>
              </a:rPr>
              <a:t>, the system shall </a:t>
            </a:r>
            <a:r>
              <a:rPr lang="en-US" sz="1350" i="1" dirty="0">
                <a:solidFill>
                  <a:srgbClr val="3C3939"/>
                </a:solidFill>
                <a:latin typeface="Roboto" pitchFamily="34" charset="0"/>
                <a:ea typeface="Roboto" pitchFamily="34" charset="-122"/>
                <a:cs typeface="Roboto" pitchFamily="34" charset="-120"/>
              </a:rPr>
              <a:t>response</a:t>
            </a:r>
            <a:endParaRPr lang="en-US" sz="1350" dirty="0"/>
          </a:p>
        </p:txBody>
      </p:sp>
      <p:pic>
        <p:nvPicPr>
          <p:cNvPr id="33" name="Image 3" descr="preencoded.png">
            <a:extLst>
              <a:ext uri="{FF2B5EF4-FFF2-40B4-BE49-F238E27FC236}">
                <a16:creationId xmlns:a16="http://schemas.microsoft.com/office/drawing/2014/main" id="{20456BD8-4B0B-72EB-DC70-A0F83A9A2D2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1475" y="5272484"/>
            <a:ext cx="10868745" cy="1045468"/>
          </a:xfrm>
          <a:prstGeom prst="rect">
            <a:avLst/>
          </a:prstGeom>
        </p:spPr>
      </p:pic>
      <p:sp>
        <p:nvSpPr>
          <p:cNvPr id="35" name="Text 12">
            <a:extLst>
              <a:ext uri="{FF2B5EF4-FFF2-40B4-BE49-F238E27FC236}">
                <a16:creationId xmlns:a16="http://schemas.microsoft.com/office/drawing/2014/main" id="{A02339BC-078D-5796-D07F-01343CE4A583}"/>
              </a:ext>
            </a:extLst>
          </p:cNvPr>
          <p:cNvSpPr/>
          <p:nvPr/>
        </p:nvSpPr>
        <p:spPr>
          <a:xfrm>
            <a:off x="895129" y="5631855"/>
            <a:ext cx="261336" cy="326727"/>
          </a:xfrm>
          <a:prstGeom prst="rect">
            <a:avLst/>
          </a:prstGeom>
          <a:noFill/>
          <a:ln/>
        </p:spPr>
        <p:txBody>
          <a:bodyPr wrap="none" lIns="0" tIns="0" rIns="0" bIns="0" rtlCol="0" anchor="ctr"/>
          <a:lstStyle/>
          <a:p>
            <a:pPr marL="0" indent="0" algn="ctr">
              <a:lnSpc>
                <a:spcPct val="100000"/>
              </a:lnSpc>
              <a:buNone/>
            </a:pPr>
            <a:r>
              <a:rPr lang="en-US" sz="2050" dirty="0">
                <a:solidFill>
                  <a:srgbClr val="3C3939"/>
                </a:solidFill>
                <a:latin typeface="Raleway" pitchFamily="34" charset="0"/>
                <a:ea typeface="Raleway" pitchFamily="34" charset="-122"/>
                <a:cs typeface="Raleway" pitchFamily="34" charset="-120"/>
              </a:rPr>
              <a:t>4</a:t>
            </a:r>
            <a:endParaRPr lang="en-US" sz="2050" dirty="0"/>
          </a:p>
        </p:txBody>
      </p:sp>
      <p:sp>
        <p:nvSpPr>
          <p:cNvPr id="37" name="Text 13">
            <a:extLst>
              <a:ext uri="{FF2B5EF4-FFF2-40B4-BE49-F238E27FC236}">
                <a16:creationId xmlns:a16="http://schemas.microsoft.com/office/drawing/2014/main" id="{BD4B5ED6-47DF-F81C-13E0-E113F7212F3E}"/>
              </a:ext>
            </a:extLst>
          </p:cNvPr>
          <p:cNvSpPr/>
          <p:nvPr/>
        </p:nvSpPr>
        <p:spPr>
          <a:xfrm>
            <a:off x="1538150" y="5465763"/>
            <a:ext cx="9798797" cy="272157"/>
          </a:xfrm>
          <a:prstGeom prst="rect">
            <a:avLst/>
          </a:prstGeom>
          <a:noFill/>
          <a:ln/>
        </p:spPr>
        <p:txBody>
          <a:bodyPr wrap="none" lIns="0" tIns="0" rIns="0" bIns="0" rtlCol="0" anchor="t"/>
          <a:lstStyle/>
          <a:p>
            <a:pPr marL="0" indent="0" algn="l">
              <a:lnSpc>
                <a:spcPct val="104000"/>
              </a:lnSpc>
              <a:buNone/>
            </a:pPr>
            <a:r>
              <a:rPr lang="en-US" sz="1700" dirty="0">
                <a:solidFill>
                  <a:srgbClr val="3C3939"/>
                </a:solidFill>
                <a:latin typeface="Raleway" pitchFamily="34" charset="0"/>
                <a:ea typeface="Raleway" pitchFamily="34" charset="-122"/>
                <a:cs typeface="Raleway" pitchFamily="34" charset="-120"/>
              </a:rPr>
              <a:t>Unwanted Event</a:t>
            </a:r>
            <a:endParaRPr lang="en-US" sz="1700" dirty="0"/>
          </a:p>
        </p:txBody>
      </p:sp>
      <p:sp>
        <p:nvSpPr>
          <p:cNvPr id="39" name="Text 14">
            <a:extLst>
              <a:ext uri="{FF2B5EF4-FFF2-40B4-BE49-F238E27FC236}">
                <a16:creationId xmlns:a16="http://schemas.microsoft.com/office/drawing/2014/main" id="{C1354DA4-7A5D-CA09-1F8C-2E25C9551D6F}"/>
              </a:ext>
            </a:extLst>
          </p:cNvPr>
          <p:cNvSpPr/>
          <p:nvPr/>
        </p:nvSpPr>
        <p:spPr>
          <a:xfrm>
            <a:off x="1538150" y="5834261"/>
            <a:ext cx="9798797" cy="267791"/>
          </a:xfrm>
          <a:prstGeom prst="rect">
            <a:avLst/>
          </a:prstGeom>
          <a:noFill/>
          <a:ln/>
        </p:spPr>
        <p:txBody>
          <a:bodyPr wrap="none" lIns="0" tIns="0" rIns="0" bIns="0" rtlCol="0" anchor="t"/>
          <a:lstStyle/>
          <a:p>
            <a:pPr marL="0" indent="0" algn="l">
              <a:lnSpc>
                <a:spcPct val="128000"/>
              </a:lnSpc>
              <a:buNone/>
            </a:pPr>
            <a:r>
              <a:rPr lang="en-US" sz="1350" dirty="0">
                <a:solidFill>
                  <a:srgbClr val="3C3939"/>
                </a:solidFill>
                <a:latin typeface="Roboto" pitchFamily="34" charset="0"/>
                <a:ea typeface="Roboto" pitchFamily="34" charset="-122"/>
                <a:cs typeface="Roboto" pitchFamily="34" charset="-120"/>
              </a:rPr>
              <a:t>IF </a:t>
            </a:r>
            <a:r>
              <a:rPr lang="en-US" sz="1350" i="1" dirty="0">
                <a:solidFill>
                  <a:srgbClr val="3C3939"/>
                </a:solidFill>
                <a:latin typeface="Roboto" pitchFamily="34" charset="0"/>
                <a:ea typeface="Roboto" pitchFamily="34" charset="-122"/>
                <a:cs typeface="Roboto" pitchFamily="34" charset="-120"/>
              </a:rPr>
              <a:t>trigger</a:t>
            </a:r>
            <a:r>
              <a:rPr lang="en-US" sz="1350" dirty="0">
                <a:solidFill>
                  <a:srgbClr val="3C3939"/>
                </a:solidFill>
                <a:latin typeface="Roboto" pitchFamily="34" charset="0"/>
                <a:ea typeface="Roboto" pitchFamily="34" charset="-122"/>
                <a:cs typeface="Roboto" pitchFamily="34" charset="-120"/>
              </a:rPr>
              <a:t>, THEN the system shall </a:t>
            </a:r>
            <a:r>
              <a:rPr lang="en-US" sz="1350" i="1" dirty="0">
                <a:solidFill>
                  <a:srgbClr val="3C3939"/>
                </a:solidFill>
                <a:latin typeface="Roboto" pitchFamily="34" charset="0"/>
                <a:ea typeface="Roboto" pitchFamily="34" charset="-122"/>
                <a:cs typeface="Roboto" pitchFamily="34" charset="-120"/>
              </a:rPr>
              <a:t>response</a:t>
            </a:r>
            <a:endParaRPr lang="en-US" sz="1350" dirty="0"/>
          </a:p>
        </p:txBody>
      </p:sp>
    </p:spTree>
    <p:extLst>
      <p:ext uri="{BB962C8B-B14F-4D97-AF65-F5344CB8AC3E}">
        <p14:creationId xmlns:p14="http://schemas.microsoft.com/office/powerpoint/2010/main" val="1812497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8E91F1C7-3FC4-895F-EC71-C39ECFD5651C}"/>
              </a:ext>
            </a:extLst>
          </p:cNvPr>
          <p:cNvSpPr/>
          <p:nvPr/>
        </p:nvSpPr>
        <p:spPr>
          <a:xfrm>
            <a:off x="661475" y="1799530"/>
            <a:ext cx="797004" cy="287139"/>
          </a:xfrm>
          <a:prstGeom prst="roundRect">
            <a:avLst>
              <a:gd name="adj" fmla="val 22118"/>
            </a:avLst>
          </a:prstGeom>
          <a:solidFill>
            <a:srgbClr val="E1E1EA"/>
          </a:solidFill>
          <a:ln/>
        </p:spPr>
        <p:txBody>
          <a:bodyPr/>
          <a:lstStyle/>
          <a:p>
            <a:endParaRPr lang="en-US"/>
          </a:p>
        </p:txBody>
      </p:sp>
      <p:sp>
        <p:nvSpPr>
          <p:cNvPr id="5" name="Text 1">
            <a:extLst>
              <a:ext uri="{FF2B5EF4-FFF2-40B4-BE49-F238E27FC236}">
                <a16:creationId xmlns:a16="http://schemas.microsoft.com/office/drawing/2014/main" id="{8F3D76C9-0173-9DD4-EBA1-0CA5F8ADE2D5}"/>
              </a:ext>
            </a:extLst>
          </p:cNvPr>
          <p:cNvSpPr/>
          <p:nvPr/>
        </p:nvSpPr>
        <p:spPr>
          <a:xfrm>
            <a:off x="774879" y="1856184"/>
            <a:ext cx="1179781"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LINTING</a:t>
            </a:r>
            <a:endParaRPr lang="en-US" sz="1150" dirty="0"/>
          </a:p>
        </p:txBody>
      </p:sp>
      <p:sp>
        <p:nvSpPr>
          <p:cNvPr id="7" name="Text 2">
            <a:extLst>
              <a:ext uri="{FF2B5EF4-FFF2-40B4-BE49-F238E27FC236}">
                <a16:creationId xmlns:a16="http://schemas.microsoft.com/office/drawing/2014/main" id="{64810F19-3051-BF0F-32C6-19B92C47122C}"/>
              </a:ext>
            </a:extLst>
          </p:cNvPr>
          <p:cNvSpPr/>
          <p:nvPr/>
        </p:nvSpPr>
        <p:spPr>
          <a:xfrm>
            <a:off x="661475" y="2162274"/>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Banned Vague Words Dictionary</a:t>
            </a:r>
            <a:endParaRPr lang="en-US" sz="3700" dirty="0"/>
          </a:p>
        </p:txBody>
      </p:sp>
      <p:sp>
        <p:nvSpPr>
          <p:cNvPr id="9" name="Text 3">
            <a:extLst>
              <a:ext uri="{FF2B5EF4-FFF2-40B4-BE49-F238E27FC236}">
                <a16:creationId xmlns:a16="http://schemas.microsoft.com/office/drawing/2014/main" id="{3208F656-235A-0072-3AA8-E175E43BFCCE}"/>
              </a:ext>
            </a:extLst>
          </p:cNvPr>
          <p:cNvSpPr/>
          <p:nvPr/>
        </p:nvSpPr>
        <p:spPr>
          <a:xfrm>
            <a:off x="661475" y="2828528"/>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Raleway" pitchFamily="34" charset="0"/>
                <a:ea typeface="Raleway" pitchFamily="34" charset="-122"/>
                <a:cs typeface="Raleway" pitchFamily="34" charset="-120"/>
              </a:rPr>
              <a:t>Prohibited Terms by Category</a:t>
            </a:r>
            <a:endParaRPr lang="en-US" sz="1850" dirty="0"/>
          </a:p>
        </p:txBody>
      </p:sp>
      <p:graphicFrame>
        <p:nvGraphicFramePr>
          <p:cNvPr id="11" name="Table 0">
            <a:extLst>
              <a:ext uri="{FF2B5EF4-FFF2-40B4-BE49-F238E27FC236}">
                <a16:creationId xmlns:a16="http://schemas.microsoft.com/office/drawing/2014/main" id="{FF83D2AA-20B1-651C-4B35-88E6C9DCED7C}"/>
              </a:ext>
            </a:extLst>
          </p:cNvPr>
          <p:cNvGraphicFramePr>
            <a:graphicFrameLocks noGrp="1"/>
          </p:cNvGraphicFramePr>
          <p:nvPr>
            <p:extLst>
              <p:ext uri="{D42A27DB-BD31-4B8C-83A1-F6EECF244321}">
                <p14:modId xmlns:p14="http://schemas.microsoft.com/office/powerpoint/2010/main" val="191237992"/>
              </p:ext>
            </p:extLst>
          </p:nvPr>
        </p:nvGraphicFramePr>
        <p:xfrm>
          <a:off x="661475" y="3407271"/>
          <a:ext cx="10868745" cy="1638457"/>
        </p:xfrm>
        <a:graphic>
          <a:graphicData uri="http://schemas.openxmlformats.org/drawingml/2006/table">
            <a:tbl>
              <a:tblPr/>
              <a:tblGrid>
                <a:gridCol w="3622915">
                  <a:extLst>
                    <a:ext uri="{9D8B030D-6E8A-4147-A177-3AD203B41FA5}">
                      <a16:colId xmlns:a16="http://schemas.microsoft.com/office/drawing/2014/main" val="20000"/>
                    </a:ext>
                  </a:extLst>
                </a:gridCol>
                <a:gridCol w="3622915">
                  <a:extLst>
                    <a:ext uri="{9D8B030D-6E8A-4147-A177-3AD203B41FA5}">
                      <a16:colId xmlns:a16="http://schemas.microsoft.com/office/drawing/2014/main" val="20001"/>
                    </a:ext>
                  </a:extLst>
                </a:gridCol>
                <a:gridCol w="3622915">
                  <a:extLst>
                    <a:ext uri="{9D8B030D-6E8A-4147-A177-3AD203B41FA5}">
                      <a16:colId xmlns:a16="http://schemas.microsoft.com/office/drawing/2014/main" val="20002"/>
                    </a:ext>
                  </a:extLst>
                </a:gridCol>
              </a:tblGrid>
              <a:tr h="545094">
                <a:tc>
                  <a:txBody>
                    <a:bodyPr/>
                    <a:lstStyle/>
                    <a:p>
                      <a:pPr marL="0" indent="0">
                        <a:buNone/>
                      </a:pPr>
                      <a:r>
                        <a:rPr lang="en-US" sz="1450" b="1" dirty="0">
                          <a:solidFill>
                            <a:srgbClr val="3C3939"/>
                          </a:solidFill>
                          <a:latin typeface="Roboto" pitchFamily="34" charset="0"/>
                          <a:ea typeface="Roboto" pitchFamily="34" charset="-122"/>
                          <a:cs typeface="Roboto" pitchFamily="34" charset="-120"/>
                        </a:rPr>
                        <a:t>Category</a:t>
                      </a:r>
                      <a:endParaRPr lang="en-US" sz="1450" dirty="0">
                        <a:latin typeface="Roboto" charset="0"/>
                        <a:ea typeface="Roboto" charset="0"/>
                        <a:cs typeface="Roboto" charset="0"/>
                      </a:endParaRPr>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1450" b="1" dirty="0">
                          <a:solidFill>
                            <a:srgbClr val="3C3939"/>
                          </a:solidFill>
                          <a:latin typeface="Roboto" pitchFamily="34" charset="0"/>
                          <a:ea typeface="Roboto" pitchFamily="34" charset="-122"/>
                          <a:cs typeface="Roboto" pitchFamily="34" charset="-120"/>
                        </a:rPr>
                        <a:t>Banned Terms</a:t>
                      </a:r>
                      <a:endParaRPr lang="en-US" sz="1450" dirty="0">
                        <a:latin typeface="Roboto" charset="0"/>
                        <a:ea typeface="Roboto" charset="0"/>
                        <a:cs typeface="Roboto" charset="0"/>
                      </a:endParaRPr>
                    </a:p>
                  </a:txBody>
                  <a:tcPr marL="189018" marR="189018" marT="6350" marB="6350" anchor="ctr">
                    <a:lnL w="12700" cap="flat" cmpd="sng" algn="ctr">
                      <a:solidFill>
                        <a:srgbClr val="FEFEFE"/>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1450" b="1" dirty="0">
                          <a:solidFill>
                            <a:srgbClr val="3C3939"/>
                          </a:solidFill>
                          <a:latin typeface="Roboto" pitchFamily="34" charset="0"/>
                          <a:ea typeface="Roboto" pitchFamily="34" charset="-122"/>
                          <a:cs typeface="Roboto" pitchFamily="34" charset="-120"/>
                        </a:rPr>
                        <a:t>Replace With</a:t>
                      </a:r>
                      <a:endParaRPr lang="en-US" sz="1450" dirty="0">
                        <a:latin typeface="Roboto" charset="0"/>
                        <a:ea typeface="Roboto" charset="0"/>
                        <a:cs typeface="Roboto" charset="0"/>
                      </a:endParaRPr>
                    </a:p>
                  </a:txBody>
                  <a:tcPr marL="189018" marR="189018"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extLst>
                  <a:ext uri="{0D108BD9-81ED-4DB2-BD59-A6C34878D82A}">
                    <a16:rowId xmlns:a16="http://schemas.microsoft.com/office/drawing/2014/main" val="10000"/>
                  </a:ext>
                </a:extLst>
              </a:tr>
              <a:tr h="548269">
                <a:tc>
                  <a:txBody>
                    <a:bodyPr/>
                    <a:lstStyle/>
                    <a:p>
                      <a:pPr marL="0" indent="0">
                        <a:buNone/>
                      </a:pPr>
                      <a:r>
                        <a:rPr lang="en-US" sz="1450" dirty="0">
                          <a:solidFill>
                            <a:srgbClr val="3C3939"/>
                          </a:solidFill>
                          <a:latin typeface="Roboto" pitchFamily="34" charset="0"/>
                          <a:ea typeface="Roboto" pitchFamily="34" charset="-122"/>
                          <a:cs typeface="Roboto" pitchFamily="34" charset="-120"/>
                        </a:rPr>
                        <a:t>Performance</a:t>
                      </a:r>
                      <a:endParaRPr lang="en-US" sz="1450" dirty="0">
                        <a:latin typeface="Roboto" charset="0"/>
                        <a:ea typeface="Roboto" charset="0"/>
                        <a:cs typeface="Roboto" charset="0"/>
                      </a:endParaRPr>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1450" dirty="0">
                          <a:solidFill>
                            <a:srgbClr val="3C3939"/>
                          </a:solidFill>
                          <a:latin typeface="Roboto" pitchFamily="34" charset="0"/>
                          <a:ea typeface="Roboto" pitchFamily="34" charset="-122"/>
                          <a:cs typeface="Roboto" pitchFamily="34" charset="-120"/>
                        </a:rPr>
                        <a:t>fast, slow, quickly, extremely</a:t>
                      </a:r>
                      <a:endParaRPr lang="en-US" sz="1450" dirty="0">
                        <a:latin typeface="Roboto" charset="0"/>
                        <a:ea typeface="Roboto" charset="0"/>
                        <a:cs typeface="Roboto" charset="0"/>
                      </a:endParaRPr>
                    </a:p>
                  </a:txBody>
                  <a:tcPr marL="189018" marR="189018" marT="6350" marB="6350" anchor="ctr">
                    <a:lnL w="12700" cap="flat" cmpd="sng" algn="ctr">
                      <a:solidFill>
                        <a:srgbClr val="FEFEFE"/>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1450" dirty="0">
                          <a:solidFill>
                            <a:srgbClr val="3C3939"/>
                          </a:solidFill>
                          <a:latin typeface="Roboto" pitchFamily="34" charset="0"/>
                          <a:ea typeface="Roboto" pitchFamily="34" charset="-122"/>
                          <a:cs typeface="Roboto" pitchFamily="34" charset="-120"/>
                        </a:rPr>
                        <a:t>ms, s</a:t>
                      </a:r>
                      <a:endParaRPr lang="en-US" sz="1450" dirty="0">
                        <a:latin typeface="Roboto" charset="0"/>
                        <a:ea typeface="Roboto" charset="0"/>
                        <a:cs typeface="Roboto" charset="0"/>
                      </a:endParaRPr>
                    </a:p>
                  </a:txBody>
                  <a:tcPr marL="189018" marR="189018"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extLst>
                  <a:ext uri="{0D108BD9-81ED-4DB2-BD59-A6C34878D82A}">
                    <a16:rowId xmlns:a16="http://schemas.microsoft.com/office/drawing/2014/main" val="10001"/>
                  </a:ext>
                </a:extLst>
              </a:tr>
              <a:tr h="545094">
                <a:tc>
                  <a:txBody>
                    <a:bodyPr/>
                    <a:lstStyle/>
                    <a:p>
                      <a:pPr marL="0" indent="0">
                        <a:buNone/>
                      </a:pPr>
                      <a:r>
                        <a:rPr lang="en-US" sz="1450" dirty="0">
                          <a:solidFill>
                            <a:srgbClr val="3C3939"/>
                          </a:solidFill>
                          <a:latin typeface="Roboto" pitchFamily="34" charset="0"/>
                          <a:ea typeface="Roboto" pitchFamily="34" charset="-122"/>
                          <a:cs typeface="Roboto" pitchFamily="34" charset="-120"/>
                        </a:rPr>
                        <a:t>Usability</a:t>
                      </a:r>
                      <a:endParaRPr lang="en-US" sz="1450" dirty="0">
                        <a:latin typeface="Roboto" charset="0"/>
                        <a:ea typeface="Roboto" charset="0"/>
                        <a:cs typeface="Roboto" charset="0"/>
                      </a:endParaRPr>
                    </a:p>
                  </a:txBody>
                  <a:tcPr marL="189018" marR="189018"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1450" dirty="0">
                          <a:solidFill>
                            <a:srgbClr val="3C3939"/>
                          </a:solidFill>
                          <a:latin typeface="Roboto" pitchFamily="34" charset="0"/>
                          <a:ea typeface="Roboto" pitchFamily="34" charset="-122"/>
                          <a:cs typeface="Roboto" pitchFamily="34" charset="-120"/>
                        </a:rPr>
                        <a:t>user-friendly, intuitive, easy</a:t>
                      </a:r>
                      <a:endParaRPr lang="en-US" sz="1450" dirty="0">
                        <a:latin typeface="Roboto" charset="0"/>
                        <a:ea typeface="Roboto" charset="0"/>
                        <a:cs typeface="Roboto" charset="0"/>
                      </a:endParaRPr>
                    </a:p>
                  </a:txBody>
                  <a:tcPr marL="189018" marR="189018" marT="6350" marB="6350" anchor="ctr">
                    <a:lnL w="12700" cap="flat" cmpd="sng" algn="ctr">
                      <a:solidFill>
                        <a:srgbClr val="FEFEFE"/>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1450" dirty="0">
                          <a:solidFill>
                            <a:srgbClr val="3C3939"/>
                          </a:solidFill>
                          <a:latin typeface="Roboto" pitchFamily="34" charset="0"/>
                          <a:ea typeface="Roboto" pitchFamily="34" charset="-122"/>
                          <a:cs typeface="Roboto" pitchFamily="34" charset="-120"/>
                        </a:rPr>
                        <a:t>workflow metrics</a:t>
                      </a:r>
                      <a:endParaRPr lang="en-US" sz="1450" dirty="0">
                        <a:latin typeface="Roboto" charset="0"/>
                        <a:ea typeface="Roboto" charset="0"/>
                        <a:cs typeface="Roboto" charset="0"/>
                      </a:endParaRPr>
                    </a:p>
                  </a:txBody>
                  <a:tcPr marL="189018" marR="189018"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28125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8C50D6A0-F7A0-7B2A-6B7A-06A6D1404528}"/>
              </a:ext>
            </a:extLst>
          </p:cNvPr>
          <p:cNvSpPr/>
          <p:nvPr/>
        </p:nvSpPr>
        <p:spPr>
          <a:xfrm>
            <a:off x="661475" y="1287066"/>
            <a:ext cx="1233655" cy="287139"/>
          </a:xfrm>
          <a:prstGeom prst="roundRect">
            <a:avLst>
              <a:gd name="adj" fmla="val 22118"/>
            </a:avLst>
          </a:prstGeom>
          <a:solidFill>
            <a:srgbClr val="E1E1EA"/>
          </a:solidFill>
          <a:ln/>
        </p:spPr>
        <p:txBody>
          <a:bodyPr/>
          <a:lstStyle/>
          <a:p>
            <a:endParaRPr lang="en-US"/>
          </a:p>
        </p:txBody>
      </p:sp>
      <p:sp>
        <p:nvSpPr>
          <p:cNvPr id="5" name="Text 1">
            <a:extLst>
              <a:ext uri="{FF2B5EF4-FFF2-40B4-BE49-F238E27FC236}">
                <a16:creationId xmlns:a16="http://schemas.microsoft.com/office/drawing/2014/main" id="{C011AF25-30AE-CE16-FD56-055098D45EF6}"/>
              </a:ext>
            </a:extLst>
          </p:cNvPr>
          <p:cNvSpPr/>
          <p:nvPr/>
        </p:nvSpPr>
        <p:spPr>
          <a:xfrm>
            <a:off x="774879" y="1343720"/>
            <a:ext cx="1616431"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QUALITY GATE</a:t>
            </a:r>
            <a:endParaRPr lang="en-US" sz="1150" dirty="0"/>
          </a:p>
        </p:txBody>
      </p:sp>
      <p:sp>
        <p:nvSpPr>
          <p:cNvPr id="7" name="Text 2">
            <a:extLst>
              <a:ext uri="{FF2B5EF4-FFF2-40B4-BE49-F238E27FC236}">
                <a16:creationId xmlns:a16="http://schemas.microsoft.com/office/drawing/2014/main" id="{417A29AA-B931-DD95-6124-3823CD9F787D}"/>
              </a:ext>
            </a:extLst>
          </p:cNvPr>
          <p:cNvSpPr/>
          <p:nvPr/>
        </p:nvSpPr>
        <p:spPr>
          <a:xfrm>
            <a:off x="661475" y="164980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The Automated Quality Gate: Python Linter</a:t>
            </a:r>
            <a:endParaRPr lang="en-US" sz="3700" dirty="0"/>
          </a:p>
        </p:txBody>
      </p:sp>
      <p:pic>
        <p:nvPicPr>
          <p:cNvPr id="9" name="Image 0" descr="preencoded.png">
            <a:extLst>
              <a:ext uri="{FF2B5EF4-FFF2-40B4-BE49-F238E27FC236}">
                <a16:creationId xmlns:a16="http://schemas.microsoft.com/office/drawing/2014/main" id="{D6EDBD9B-A0FE-F90C-FB85-2D27A23C597B}"/>
              </a:ext>
            </a:extLst>
          </p:cNvPr>
          <p:cNvPicPr>
            <a:picLocks noChangeAspect="1"/>
          </p:cNvPicPr>
          <p:nvPr/>
        </p:nvPicPr>
        <p:blipFill>
          <a:blip r:embed="rId2"/>
          <a:stretch>
            <a:fillRect/>
          </a:stretch>
        </p:blipFill>
        <p:spPr>
          <a:xfrm>
            <a:off x="2767042" y="2523927"/>
            <a:ext cx="6657610" cy="3047008"/>
          </a:xfrm>
          <a:prstGeom prst="rect">
            <a:avLst/>
          </a:prstGeom>
        </p:spPr>
      </p:pic>
      <p:sp>
        <p:nvSpPr>
          <p:cNvPr id="11" name="Text 3">
            <a:extLst>
              <a:ext uri="{FF2B5EF4-FFF2-40B4-BE49-F238E27FC236}">
                <a16:creationId xmlns:a16="http://schemas.microsoft.com/office/drawing/2014/main" id="{69042E1C-0FC7-CD48-38D8-9F055606C687}"/>
              </a:ext>
            </a:extLst>
          </p:cNvPr>
          <p:cNvSpPr/>
          <p:nvPr/>
        </p:nvSpPr>
        <p:spPr>
          <a:xfrm>
            <a:off x="7864783" y="4606582"/>
            <a:ext cx="1249901" cy="722350"/>
          </a:xfrm>
          <a:prstGeom prst="rect">
            <a:avLst/>
          </a:prstGeom>
          <a:noFill/>
          <a:ln/>
        </p:spPr>
        <p:txBody>
          <a:bodyPr wrap="square" lIns="0" tIns="0" rIns="0" bIns="0" rtlCol="0" anchor="t">
            <a:normAutofit/>
          </a:bodyPr>
          <a:lstStyle/>
          <a:p>
            <a:pPr marL="0" indent="0" algn="ctr">
              <a:lnSpc>
                <a:spcPct val="104000"/>
              </a:lnSpc>
              <a:buNone/>
            </a:pPr>
            <a:r>
              <a:rPr lang="en-US" sz="1500" dirty="0">
                <a:solidFill>
                  <a:srgbClr val="3C3939"/>
                </a:solidFill>
                <a:latin typeface="Raleway" pitchFamily="34" charset="0"/>
                <a:ea typeface="Raleway" pitchFamily="34" charset="-122"/>
                <a:cs typeface="Raleway" pitchFamily="34" charset="-120"/>
              </a:rPr>
              <a:t>Verify Evidence Quotes</a:t>
            </a:r>
            <a:endParaRPr lang="en-US" sz="1500" dirty="0"/>
          </a:p>
        </p:txBody>
      </p:sp>
      <p:sp>
        <p:nvSpPr>
          <p:cNvPr id="13" name="Text 4">
            <a:extLst>
              <a:ext uri="{FF2B5EF4-FFF2-40B4-BE49-F238E27FC236}">
                <a16:creationId xmlns:a16="http://schemas.microsoft.com/office/drawing/2014/main" id="{D13C62E0-69C6-3AD8-AA6B-D378A6FDF93B}"/>
              </a:ext>
            </a:extLst>
          </p:cNvPr>
          <p:cNvSpPr/>
          <p:nvPr/>
        </p:nvSpPr>
        <p:spPr>
          <a:xfrm>
            <a:off x="6289565" y="4606582"/>
            <a:ext cx="1249901" cy="722350"/>
          </a:xfrm>
          <a:prstGeom prst="rect">
            <a:avLst/>
          </a:prstGeom>
          <a:noFill/>
          <a:ln/>
        </p:spPr>
        <p:txBody>
          <a:bodyPr wrap="square" lIns="0" tIns="0" rIns="0" bIns="0" rtlCol="0" anchor="t">
            <a:normAutofit/>
          </a:bodyPr>
          <a:lstStyle/>
          <a:p>
            <a:pPr marL="0" indent="0" algn="ctr">
              <a:lnSpc>
                <a:spcPct val="104000"/>
              </a:lnSpc>
              <a:buNone/>
            </a:pPr>
            <a:r>
              <a:rPr lang="en-US" sz="1500" dirty="0">
                <a:solidFill>
                  <a:srgbClr val="3C3939"/>
                </a:solidFill>
                <a:latin typeface="Raleway" pitchFamily="34" charset="0"/>
                <a:ea typeface="Raleway" pitchFamily="34" charset="-122"/>
                <a:cs typeface="Raleway" pitchFamily="34" charset="-120"/>
              </a:rPr>
              <a:t>Scan for Vague Adjectives</a:t>
            </a:r>
            <a:endParaRPr lang="en-US" sz="1500" dirty="0"/>
          </a:p>
        </p:txBody>
      </p:sp>
      <p:sp>
        <p:nvSpPr>
          <p:cNvPr id="15" name="Text 5">
            <a:extLst>
              <a:ext uri="{FF2B5EF4-FFF2-40B4-BE49-F238E27FC236}">
                <a16:creationId xmlns:a16="http://schemas.microsoft.com/office/drawing/2014/main" id="{6220845F-5B15-D68E-1E95-FCEC628442C5}"/>
              </a:ext>
            </a:extLst>
          </p:cNvPr>
          <p:cNvSpPr/>
          <p:nvPr/>
        </p:nvSpPr>
        <p:spPr>
          <a:xfrm>
            <a:off x="4722908" y="4726974"/>
            <a:ext cx="1249901" cy="481566"/>
          </a:xfrm>
          <a:prstGeom prst="rect">
            <a:avLst/>
          </a:prstGeom>
          <a:noFill/>
          <a:ln/>
        </p:spPr>
        <p:txBody>
          <a:bodyPr wrap="square" lIns="0" tIns="0" rIns="0" bIns="0" rtlCol="0" anchor="t">
            <a:normAutofit/>
          </a:bodyPr>
          <a:lstStyle/>
          <a:p>
            <a:pPr marL="0" indent="0" algn="ctr">
              <a:lnSpc>
                <a:spcPct val="104000"/>
              </a:lnSpc>
              <a:buNone/>
            </a:pPr>
            <a:r>
              <a:rPr lang="en-US" sz="1500" dirty="0">
                <a:solidFill>
                  <a:srgbClr val="3C3939"/>
                </a:solidFill>
                <a:latin typeface="Raleway" pitchFamily="34" charset="0"/>
                <a:ea typeface="Raleway" pitchFamily="34" charset="-122"/>
                <a:cs typeface="Raleway" pitchFamily="34" charset="-120"/>
              </a:rPr>
              <a:t>Check EARS 'shall'</a:t>
            </a:r>
            <a:endParaRPr lang="en-US" sz="1500" dirty="0"/>
          </a:p>
        </p:txBody>
      </p:sp>
      <p:sp>
        <p:nvSpPr>
          <p:cNvPr id="17" name="Text 6">
            <a:extLst>
              <a:ext uri="{FF2B5EF4-FFF2-40B4-BE49-F238E27FC236}">
                <a16:creationId xmlns:a16="http://schemas.microsoft.com/office/drawing/2014/main" id="{1049DD70-876F-CF36-D4E2-A96D51B20232}"/>
              </a:ext>
            </a:extLst>
          </p:cNvPr>
          <p:cNvSpPr/>
          <p:nvPr/>
        </p:nvSpPr>
        <p:spPr>
          <a:xfrm>
            <a:off x="3122007" y="4726974"/>
            <a:ext cx="1249901" cy="481566"/>
          </a:xfrm>
          <a:prstGeom prst="rect">
            <a:avLst/>
          </a:prstGeom>
          <a:noFill/>
          <a:ln/>
        </p:spPr>
        <p:txBody>
          <a:bodyPr wrap="square" lIns="0" tIns="0" rIns="0" bIns="0" rtlCol="0" anchor="t">
            <a:normAutofit/>
          </a:bodyPr>
          <a:lstStyle/>
          <a:p>
            <a:pPr marL="0" indent="0" algn="ctr">
              <a:lnSpc>
                <a:spcPct val="104000"/>
              </a:lnSpc>
              <a:buNone/>
            </a:pPr>
            <a:r>
              <a:rPr lang="en-US" sz="1500" dirty="0">
                <a:solidFill>
                  <a:srgbClr val="3C3939"/>
                </a:solidFill>
                <a:latin typeface="Raleway" pitchFamily="34" charset="0"/>
                <a:ea typeface="Raleway" pitchFamily="34" charset="-122"/>
                <a:cs typeface="Raleway" pitchFamily="34" charset="-120"/>
              </a:rPr>
              <a:t>Validate YAML</a:t>
            </a:r>
            <a:endParaRPr lang="en-US" sz="1500" dirty="0"/>
          </a:p>
        </p:txBody>
      </p:sp>
    </p:spTree>
    <p:extLst>
      <p:ext uri="{BB962C8B-B14F-4D97-AF65-F5344CB8AC3E}">
        <p14:creationId xmlns:p14="http://schemas.microsoft.com/office/powerpoint/2010/main" val="2237036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D39B1AFD-EE58-BF30-F21B-CB2AB18DA25E}"/>
              </a:ext>
            </a:extLst>
          </p:cNvPr>
          <p:cNvSpPr/>
          <p:nvPr/>
        </p:nvSpPr>
        <p:spPr>
          <a:xfrm>
            <a:off x="661475" y="2012355"/>
            <a:ext cx="1198235" cy="287139"/>
          </a:xfrm>
          <a:prstGeom prst="roundRect">
            <a:avLst>
              <a:gd name="adj" fmla="val 22118"/>
            </a:avLst>
          </a:prstGeom>
          <a:solidFill>
            <a:srgbClr val="E1E1EA"/>
          </a:solidFill>
          <a:ln/>
        </p:spPr>
        <p:txBody>
          <a:bodyPr/>
          <a:lstStyle/>
          <a:p>
            <a:endParaRPr lang="en-US"/>
          </a:p>
        </p:txBody>
      </p:sp>
      <p:sp>
        <p:nvSpPr>
          <p:cNvPr id="5" name="Text 1">
            <a:extLst>
              <a:ext uri="{FF2B5EF4-FFF2-40B4-BE49-F238E27FC236}">
                <a16:creationId xmlns:a16="http://schemas.microsoft.com/office/drawing/2014/main" id="{F3D21BBD-52BA-724C-6151-64C903ED5736}"/>
              </a:ext>
            </a:extLst>
          </p:cNvPr>
          <p:cNvSpPr/>
          <p:nvPr/>
        </p:nvSpPr>
        <p:spPr>
          <a:xfrm>
            <a:off x="774879" y="2069009"/>
            <a:ext cx="1581011"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VERIFICATION</a:t>
            </a:r>
            <a:endParaRPr lang="en-US" sz="1150" dirty="0"/>
          </a:p>
        </p:txBody>
      </p:sp>
      <p:sp>
        <p:nvSpPr>
          <p:cNvPr id="7" name="Text 2">
            <a:extLst>
              <a:ext uri="{FF2B5EF4-FFF2-40B4-BE49-F238E27FC236}">
                <a16:creationId xmlns:a16="http://schemas.microsoft.com/office/drawing/2014/main" id="{EE44961E-381E-6299-B557-596828B69456}"/>
              </a:ext>
            </a:extLst>
          </p:cNvPr>
          <p:cNvSpPr/>
          <p:nvPr/>
        </p:nvSpPr>
        <p:spPr>
          <a:xfrm>
            <a:off x="661475" y="2375098"/>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Dynamic Grounding Verification</a:t>
            </a:r>
            <a:endParaRPr lang="en-US" sz="3700" dirty="0"/>
          </a:p>
        </p:txBody>
      </p:sp>
      <p:sp>
        <p:nvSpPr>
          <p:cNvPr id="9" name="Text 3">
            <a:extLst>
              <a:ext uri="{FF2B5EF4-FFF2-40B4-BE49-F238E27FC236}">
                <a16:creationId xmlns:a16="http://schemas.microsoft.com/office/drawing/2014/main" id="{0EB07B90-E89F-1AEC-2F29-5E34D1CDE205}"/>
              </a:ext>
            </a:extLst>
          </p:cNvPr>
          <p:cNvSpPr/>
          <p:nvPr/>
        </p:nvSpPr>
        <p:spPr>
          <a:xfrm>
            <a:off x="661475" y="3249216"/>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3C3939"/>
                </a:solidFill>
                <a:latin typeface="Raleway Light" pitchFamily="34" charset="0"/>
                <a:ea typeface="Raleway Light" pitchFamily="34" charset="-122"/>
                <a:cs typeface="Raleway Light" pitchFamily="34" charset="-120"/>
              </a:rPr>
              <a:t>01</a:t>
            </a:r>
            <a:endParaRPr lang="en-US" sz="1450" dirty="0"/>
          </a:p>
        </p:txBody>
      </p:sp>
      <p:sp>
        <p:nvSpPr>
          <p:cNvPr id="11" name="Shape 4">
            <a:extLst>
              <a:ext uri="{FF2B5EF4-FFF2-40B4-BE49-F238E27FC236}">
                <a16:creationId xmlns:a16="http://schemas.microsoft.com/office/drawing/2014/main" id="{760301DE-443C-6B8A-3327-DF5D25F908D8}"/>
              </a:ext>
            </a:extLst>
          </p:cNvPr>
          <p:cNvSpPr/>
          <p:nvPr/>
        </p:nvSpPr>
        <p:spPr>
          <a:xfrm>
            <a:off x="661475" y="3545086"/>
            <a:ext cx="3496877" cy="25400"/>
          </a:xfrm>
          <a:prstGeom prst="rect">
            <a:avLst/>
          </a:prstGeom>
          <a:solidFill>
            <a:srgbClr val="1B1B27"/>
          </a:solidFill>
          <a:ln/>
        </p:spPr>
        <p:txBody>
          <a:bodyPr/>
          <a:lstStyle/>
          <a:p>
            <a:endParaRPr lang="en-US"/>
          </a:p>
        </p:txBody>
      </p:sp>
      <p:sp>
        <p:nvSpPr>
          <p:cNvPr id="13" name="Text 5">
            <a:extLst>
              <a:ext uri="{FF2B5EF4-FFF2-40B4-BE49-F238E27FC236}">
                <a16:creationId xmlns:a16="http://schemas.microsoft.com/office/drawing/2014/main" id="{857F2339-F75C-D73F-99E8-BAC9FED10D7C}"/>
              </a:ext>
            </a:extLst>
          </p:cNvPr>
          <p:cNvSpPr/>
          <p:nvPr/>
        </p:nvSpPr>
        <p:spPr>
          <a:xfrm>
            <a:off x="661475" y="3690342"/>
            <a:ext cx="3496877"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Open Source</a:t>
            </a:r>
            <a:endParaRPr lang="en-US" sz="1850" dirty="0"/>
          </a:p>
        </p:txBody>
      </p:sp>
      <p:sp>
        <p:nvSpPr>
          <p:cNvPr id="15" name="Text 6">
            <a:extLst>
              <a:ext uri="{FF2B5EF4-FFF2-40B4-BE49-F238E27FC236}">
                <a16:creationId xmlns:a16="http://schemas.microsoft.com/office/drawing/2014/main" id="{681BE0D8-A2D1-A12C-5291-ABB47A98DDDD}"/>
              </a:ext>
            </a:extLst>
          </p:cNvPr>
          <p:cNvSpPr/>
          <p:nvPr/>
        </p:nvSpPr>
        <p:spPr>
          <a:xfrm>
            <a:off x="661475" y="4099024"/>
            <a:ext cx="349687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Open the transcript and extract the cited line range.</a:t>
            </a:r>
            <a:endParaRPr lang="en-US" sz="1450" dirty="0"/>
          </a:p>
        </p:txBody>
      </p:sp>
      <p:sp>
        <p:nvSpPr>
          <p:cNvPr id="17" name="Text 7">
            <a:extLst>
              <a:ext uri="{FF2B5EF4-FFF2-40B4-BE49-F238E27FC236}">
                <a16:creationId xmlns:a16="http://schemas.microsoft.com/office/drawing/2014/main" id="{42B7EA11-040B-585A-0833-DFE7DA053E7C}"/>
              </a:ext>
            </a:extLst>
          </p:cNvPr>
          <p:cNvSpPr/>
          <p:nvPr/>
        </p:nvSpPr>
        <p:spPr>
          <a:xfrm>
            <a:off x="4347359" y="3249216"/>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3C3939"/>
                </a:solidFill>
                <a:latin typeface="Raleway Light" pitchFamily="34" charset="0"/>
                <a:ea typeface="Raleway Light" pitchFamily="34" charset="-122"/>
                <a:cs typeface="Raleway Light" pitchFamily="34" charset="-120"/>
              </a:rPr>
              <a:t>02</a:t>
            </a:r>
            <a:endParaRPr lang="en-US" sz="1450" dirty="0"/>
          </a:p>
        </p:txBody>
      </p:sp>
      <p:sp>
        <p:nvSpPr>
          <p:cNvPr id="19" name="Shape 8">
            <a:extLst>
              <a:ext uri="{FF2B5EF4-FFF2-40B4-BE49-F238E27FC236}">
                <a16:creationId xmlns:a16="http://schemas.microsoft.com/office/drawing/2014/main" id="{4CA07BAA-438C-02DD-820E-11D44DD74D36}"/>
              </a:ext>
            </a:extLst>
          </p:cNvPr>
          <p:cNvSpPr/>
          <p:nvPr/>
        </p:nvSpPr>
        <p:spPr>
          <a:xfrm>
            <a:off x="4347359" y="3545086"/>
            <a:ext cx="3496877" cy="25400"/>
          </a:xfrm>
          <a:prstGeom prst="rect">
            <a:avLst/>
          </a:prstGeom>
          <a:solidFill>
            <a:srgbClr val="1B1B27"/>
          </a:solidFill>
          <a:ln/>
        </p:spPr>
        <p:txBody>
          <a:bodyPr/>
          <a:lstStyle/>
          <a:p>
            <a:endParaRPr lang="en-US"/>
          </a:p>
        </p:txBody>
      </p:sp>
      <p:sp>
        <p:nvSpPr>
          <p:cNvPr id="21" name="Text 9">
            <a:extLst>
              <a:ext uri="{FF2B5EF4-FFF2-40B4-BE49-F238E27FC236}">
                <a16:creationId xmlns:a16="http://schemas.microsoft.com/office/drawing/2014/main" id="{5CDD112E-7E58-2BF3-77CE-C2C04D22E2A5}"/>
              </a:ext>
            </a:extLst>
          </p:cNvPr>
          <p:cNvSpPr/>
          <p:nvPr/>
        </p:nvSpPr>
        <p:spPr>
          <a:xfrm>
            <a:off x="4347359" y="3690342"/>
            <a:ext cx="3496877"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Compare</a:t>
            </a:r>
            <a:endParaRPr lang="en-US" sz="1850" dirty="0"/>
          </a:p>
        </p:txBody>
      </p:sp>
      <p:sp>
        <p:nvSpPr>
          <p:cNvPr id="23" name="Text 10">
            <a:extLst>
              <a:ext uri="{FF2B5EF4-FFF2-40B4-BE49-F238E27FC236}">
                <a16:creationId xmlns:a16="http://schemas.microsoft.com/office/drawing/2014/main" id="{75381FC8-571C-28F9-558D-3204BE22BDF6}"/>
              </a:ext>
            </a:extLst>
          </p:cNvPr>
          <p:cNvSpPr/>
          <p:nvPr/>
        </p:nvSpPr>
        <p:spPr>
          <a:xfrm>
            <a:off x="4347359" y="4099024"/>
            <a:ext cx="349687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Normalize whitespace and encoding, then compare quote to source.</a:t>
            </a:r>
            <a:endParaRPr lang="en-US" sz="1450" dirty="0"/>
          </a:p>
        </p:txBody>
      </p:sp>
      <p:sp>
        <p:nvSpPr>
          <p:cNvPr id="25" name="Text 11">
            <a:extLst>
              <a:ext uri="{FF2B5EF4-FFF2-40B4-BE49-F238E27FC236}">
                <a16:creationId xmlns:a16="http://schemas.microsoft.com/office/drawing/2014/main" id="{D97F1BE6-FD0B-AC1F-56C5-1A045202616F}"/>
              </a:ext>
            </a:extLst>
          </p:cNvPr>
          <p:cNvSpPr/>
          <p:nvPr/>
        </p:nvSpPr>
        <p:spPr>
          <a:xfrm>
            <a:off x="8033244" y="3249216"/>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3C3939"/>
                </a:solidFill>
                <a:latin typeface="Raleway Light" pitchFamily="34" charset="0"/>
                <a:ea typeface="Raleway Light" pitchFamily="34" charset="-122"/>
                <a:cs typeface="Raleway Light" pitchFamily="34" charset="-120"/>
              </a:rPr>
              <a:t>03</a:t>
            </a:r>
            <a:endParaRPr lang="en-US" sz="1450" dirty="0"/>
          </a:p>
        </p:txBody>
      </p:sp>
      <p:sp>
        <p:nvSpPr>
          <p:cNvPr id="27" name="Shape 12">
            <a:extLst>
              <a:ext uri="{FF2B5EF4-FFF2-40B4-BE49-F238E27FC236}">
                <a16:creationId xmlns:a16="http://schemas.microsoft.com/office/drawing/2014/main" id="{F628157A-FA1C-1966-9473-FB623E48AFDD}"/>
              </a:ext>
            </a:extLst>
          </p:cNvPr>
          <p:cNvSpPr/>
          <p:nvPr/>
        </p:nvSpPr>
        <p:spPr>
          <a:xfrm>
            <a:off x="8033244" y="3545086"/>
            <a:ext cx="3496877" cy="25400"/>
          </a:xfrm>
          <a:prstGeom prst="rect">
            <a:avLst/>
          </a:prstGeom>
          <a:solidFill>
            <a:srgbClr val="1B1B27"/>
          </a:solidFill>
          <a:ln/>
        </p:spPr>
        <p:txBody>
          <a:bodyPr/>
          <a:lstStyle/>
          <a:p>
            <a:endParaRPr lang="en-US"/>
          </a:p>
        </p:txBody>
      </p:sp>
      <p:sp>
        <p:nvSpPr>
          <p:cNvPr id="29" name="Text 13">
            <a:extLst>
              <a:ext uri="{FF2B5EF4-FFF2-40B4-BE49-F238E27FC236}">
                <a16:creationId xmlns:a16="http://schemas.microsoft.com/office/drawing/2014/main" id="{C061D0A2-A19F-E96C-126B-6B3F50E586CA}"/>
              </a:ext>
            </a:extLst>
          </p:cNvPr>
          <p:cNvSpPr/>
          <p:nvPr/>
        </p:nvSpPr>
        <p:spPr>
          <a:xfrm>
            <a:off x="8033244" y="3690342"/>
            <a:ext cx="3496877"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Abort or Seal</a:t>
            </a:r>
            <a:endParaRPr lang="en-US" sz="1850" dirty="0"/>
          </a:p>
        </p:txBody>
      </p:sp>
      <p:sp>
        <p:nvSpPr>
          <p:cNvPr id="31" name="Text 14">
            <a:extLst>
              <a:ext uri="{FF2B5EF4-FFF2-40B4-BE49-F238E27FC236}">
                <a16:creationId xmlns:a16="http://schemas.microsoft.com/office/drawing/2014/main" id="{A20B8E55-CFA4-7D81-CDB3-B5FBDFD24C45}"/>
              </a:ext>
            </a:extLst>
          </p:cNvPr>
          <p:cNvSpPr/>
          <p:nvPr/>
        </p:nvSpPr>
        <p:spPr>
          <a:xfrm>
            <a:off x="8033244" y="4099024"/>
            <a:ext cx="349687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Abort on any mismatch; otherwise create an immutable audit trail.</a:t>
            </a:r>
            <a:endParaRPr lang="en-US" sz="1450" dirty="0"/>
          </a:p>
        </p:txBody>
      </p:sp>
    </p:spTree>
    <p:extLst>
      <p:ext uri="{BB962C8B-B14F-4D97-AF65-F5344CB8AC3E}">
        <p14:creationId xmlns:p14="http://schemas.microsoft.com/office/powerpoint/2010/main" val="3465634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31F24E98-52E3-17A2-DCF0-08A8A5A9DB40}"/>
              </a:ext>
            </a:extLst>
          </p:cNvPr>
          <p:cNvSpPr/>
          <p:nvPr/>
        </p:nvSpPr>
        <p:spPr>
          <a:xfrm>
            <a:off x="661475" y="2105223"/>
            <a:ext cx="1132554" cy="287139"/>
          </a:xfrm>
          <a:prstGeom prst="roundRect">
            <a:avLst>
              <a:gd name="adj" fmla="val 22118"/>
            </a:avLst>
          </a:prstGeom>
          <a:solidFill>
            <a:srgbClr val="E1E1EA"/>
          </a:solidFill>
          <a:ln/>
        </p:spPr>
        <p:txBody>
          <a:bodyPr/>
          <a:lstStyle/>
          <a:p>
            <a:endParaRPr lang="en-US"/>
          </a:p>
        </p:txBody>
      </p:sp>
      <p:sp>
        <p:nvSpPr>
          <p:cNvPr id="5" name="Text 1">
            <a:extLst>
              <a:ext uri="{FF2B5EF4-FFF2-40B4-BE49-F238E27FC236}">
                <a16:creationId xmlns:a16="http://schemas.microsoft.com/office/drawing/2014/main" id="{38527DE1-3E78-4186-3622-8914D1071A93}"/>
              </a:ext>
            </a:extLst>
          </p:cNvPr>
          <p:cNvSpPr/>
          <p:nvPr/>
        </p:nvSpPr>
        <p:spPr>
          <a:xfrm>
            <a:off x="774879" y="2161877"/>
            <a:ext cx="1515330"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PROTECTION</a:t>
            </a:r>
            <a:endParaRPr lang="en-US" sz="1150" dirty="0"/>
          </a:p>
        </p:txBody>
      </p:sp>
      <p:sp>
        <p:nvSpPr>
          <p:cNvPr id="7" name="Text 2">
            <a:extLst>
              <a:ext uri="{FF2B5EF4-FFF2-40B4-BE49-F238E27FC236}">
                <a16:creationId xmlns:a16="http://schemas.microsoft.com/office/drawing/2014/main" id="{908B7228-8748-D2D1-977E-A52FA1215BE8}"/>
              </a:ext>
            </a:extLst>
          </p:cNvPr>
          <p:cNvSpPr/>
          <p:nvPr/>
        </p:nvSpPr>
        <p:spPr>
          <a:xfrm>
            <a:off x="661475" y="246796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Pre-Tool Interception Hook</a:t>
            </a:r>
            <a:endParaRPr lang="en-US" sz="3700" dirty="0"/>
          </a:p>
        </p:txBody>
      </p:sp>
      <p:sp>
        <p:nvSpPr>
          <p:cNvPr id="9" name="Shape 3">
            <a:extLst>
              <a:ext uri="{FF2B5EF4-FFF2-40B4-BE49-F238E27FC236}">
                <a16:creationId xmlns:a16="http://schemas.microsoft.com/office/drawing/2014/main" id="{D62F2474-0E68-698C-ADCE-03FF06096327}"/>
              </a:ext>
            </a:extLst>
          </p:cNvPr>
          <p:cNvSpPr/>
          <p:nvPr/>
        </p:nvSpPr>
        <p:spPr>
          <a:xfrm>
            <a:off x="661475" y="3342084"/>
            <a:ext cx="5339820" cy="1410593"/>
          </a:xfrm>
          <a:prstGeom prst="roundRect">
            <a:avLst>
              <a:gd name="adj" fmla="val 5628"/>
            </a:avLst>
          </a:prstGeom>
          <a:solidFill>
            <a:srgbClr val="E1E1EA"/>
          </a:solidFill>
          <a:ln w="6350">
            <a:solidFill>
              <a:srgbClr val="C7C7D0"/>
            </a:solidFill>
            <a:prstDash val="solid"/>
          </a:ln>
        </p:spPr>
        <p:txBody>
          <a:bodyPr/>
          <a:lstStyle/>
          <a:p>
            <a:endParaRPr lang="en-US"/>
          </a:p>
        </p:txBody>
      </p:sp>
      <p:sp>
        <p:nvSpPr>
          <p:cNvPr id="11" name="Text 4">
            <a:extLst>
              <a:ext uri="{FF2B5EF4-FFF2-40B4-BE49-F238E27FC236}">
                <a16:creationId xmlns:a16="http://schemas.microsoft.com/office/drawing/2014/main" id="{941FD50C-6A04-265D-EC49-5D703A0D2C4B}"/>
              </a:ext>
            </a:extLst>
          </p:cNvPr>
          <p:cNvSpPr/>
          <p:nvPr/>
        </p:nvSpPr>
        <p:spPr>
          <a:xfrm>
            <a:off x="856832" y="3537446"/>
            <a:ext cx="4949106"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Bash Script Guard</a:t>
            </a:r>
            <a:endParaRPr lang="en-US" sz="1850" dirty="0"/>
          </a:p>
        </p:txBody>
      </p:sp>
      <p:sp>
        <p:nvSpPr>
          <p:cNvPr id="13" name="Text 5">
            <a:extLst>
              <a:ext uri="{FF2B5EF4-FFF2-40B4-BE49-F238E27FC236}">
                <a16:creationId xmlns:a16="http://schemas.microsoft.com/office/drawing/2014/main" id="{9BE79976-E42A-801D-E111-DBF2A9DC3A6F}"/>
              </a:ext>
            </a:extLst>
          </p:cNvPr>
          <p:cNvSpPr/>
          <p:nvPr/>
        </p:nvSpPr>
        <p:spPr>
          <a:xfrm>
            <a:off x="856832" y="3946128"/>
            <a:ext cx="4949106" cy="61118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highlight>
                  <a:srgbClr val="F2F2F2"/>
                </a:highlight>
                <a:latin typeface="Consolas" pitchFamily="34" charset="0"/>
                <a:ea typeface="Consolas" pitchFamily="34" charset="-122"/>
                <a:cs typeface="Consolas" pitchFamily="34" charset="-120"/>
              </a:rPr>
              <a:t>.claude/hooks/protect-evidence.sh</a:t>
            </a:r>
            <a:r>
              <a:rPr lang="en-US" sz="1450" dirty="0">
                <a:solidFill>
                  <a:srgbClr val="3C3939"/>
                </a:solidFill>
                <a:latin typeface="Roboto" pitchFamily="34" charset="0"/>
                <a:ea typeface="Roboto" pitchFamily="34" charset="-122"/>
                <a:cs typeface="Roboto" pitchFamily="34" charset="-120"/>
              </a:rPr>
              <a:t> runs before every agent tool execution targeting the evidence folder.</a:t>
            </a:r>
            <a:endParaRPr lang="en-US" sz="1450" dirty="0"/>
          </a:p>
        </p:txBody>
      </p:sp>
      <p:sp>
        <p:nvSpPr>
          <p:cNvPr id="15" name="Shape 6">
            <a:extLst>
              <a:ext uri="{FF2B5EF4-FFF2-40B4-BE49-F238E27FC236}">
                <a16:creationId xmlns:a16="http://schemas.microsoft.com/office/drawing/2014/main" id="{D49CC11F-B199-0B2C-9071-5E18C799E21B}"/>
              </a:ext>
            </a:extLst>
          </p:cNvPr>
          <p:cNvSpPr/>
          <p:nvPr/>
        </p:nvSpPr>
        <p:spPr>
          <a:xfrm>
            <a:off x="6190301" y="3342084"/>
            <a:ext cx="5339919" cy="1410593"/>
          </a:xfrm>
          <a:prstGeom prst="roundRect">
            <a:avLst>
              <a:gd name="adj" fmla="val 5628"/>
            </a:avLst>
          </a:prstGeom>
          <a:solidFill>
            <a:srgbClr val="E1E1EA"/>
          </a:solidFill>
          <a:ln w="6350">
            <a:solidFill>
              <a:srgbClr val="C7C7D0"/>
            </a:solidFill>
            <a:prstDash val="solid"/>
          </a:ln>
        </p:spPr>
        <p:txBody>
          <a:bodyPr/>
          <a:lstStyle/>
          <a:p>
            <a:endParaRPr lang="en-US"/>
          </a:p>
        </p:txBody>
      </p:sp>
      <p:sp>
        <p:nvSpPr>
          <p:cNvPr id="17" name="Text 7">
            <a:extLst>
              <a:ext uri="{FF2B5EF4-FFF2-40B4-BE49-F238E27FC236}">
                <a16:creationId xmlns:a16="http://schemas.microsoft.com/office/drawing/2014/main" id="{CC616BC4-CBB2-3847-17EC-0C1FA4EDCAE2}"/>
              </a:ext>
            </a:extLst>
          </p:cNvPr>
          <p:cNvSpPr/>
          <p:nvPr/>
        </p:nvSpPr>
        <p:spPr>
          <a:xfrm>
            <a:off x="6385658" y="3537446"/>
            <a:ext cx="494920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Hard Abort: Exit Code 2</a:t>
            </a:r>
            <a:endParaRPr lang="en-US" sz="1850" dirty="0"/>
          </a:p>
        </p:txBody>
      </p:sp>
      <p:sp>
        <p:nvSpPr>
          <p:cNvPr id="19" name="Text 8">
            <a:extLst>
              <a:ext uri="{FF2B5EF4-FFF2-40B4-BE49-F238E27FC236}">
                <a16:creationId xmlns:a16="http://schemas.microsoft.com/office/drawing/2014/main" id="{3A501B2F-222C-EA85-BADC-ABF4CA3979B9}"/>
              </a:ext>
            </a:extLst>
          </p:cNvPr>
          <p:cNvSpPr/>
          <p:nvPr/>
        </p:nvSpPr>
        <p:spPr>
          <a:xfrm>
            <a:off x="6385658" y="3946128"/>
            <a:ext cx="4949205"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Exit code 2 stops execution immediately with no override.</a:t>
            </a:r>
            <a:endParaRPr lang="en-US" sz="1450" dirty="0"/>
          </a:p>
        </p:txBody>
      </p:sp>
    </p:spTree>
    <p:extLst>
      <p:ext uri="{BB962C8B-B14F-4D97-AF65-F5344CB8AC3E}">
        <p14:creationId xmlns:p14="http://schemas.microsoft.com/office/powerpoint/2010/main" val="1251697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72E4A0BA-EBB1-F993-3652-CC6916FA4CBD}"/>
              </a:ext>
            </a:extLst>
          </p:cNvPr>
          <p:cNvSpPr/>
          <p:nvPr/>
        </p:nvSpPr>
        <p:spPr>
          <a:xfrm>
            <a:off x="661475" y="533301"/>
            <a:ext cx="498959" cy="228898"/>
          </a:xfrm>
          <a:prstGeom prst="roundRect">
            <a:avLst>
              <a:gd name="adj" fmla="val 22110"/>
            </a:avLst>
          </a:prstGeom>
          <a:solidFill>
            <a:srgbClr val="E1E1EA"/>
          </a:solidFill>
          <a:ln/>
        </p:spPr>
        <p:txBody>
          <a:bodyPr/>
          <a:lstStyle/>
          <a:p>
            <a:endParaRPr lang="en-US"/>
          </a:p>
        </p:txBody>
      </p:sp>
      <p:sp>
        <p:nvSpPr>
          <p:cNvPr id="5" name="Text 1">
            <a:extLst>
              <a:ext uri="{FF2B5EF4-FFF2-40B4-BE49-F238E27FC236}">
                <a16:creationId xmlns:a16="http://schemas.microsoft.com/office/drawing/2014/main" id="{86F3CD66-27C4-C76F-8A68-255DABEE92BA}"/>
              </a:ext>
            </a:extLst>
          </p:cNvPr>
          <p:cNvSpPr/>
          <p:nvPr/>
        </p:nvSpPr>
        <p:spPr>
          <a:xfrm>
            <a:off x="751762" y="578445"/>
            <a:ext cx="927970" cy="138609"/>
          </a:xfrm>
          <a:prstGeom prst="rect">
            <a:avLst/>
          </a:prstGeom>
          <a:noFill/>
          <a:ln/>
        </p:spPr>
        <p:txBody>
          <a:bodyPr wrap="none" lIns="0" tIns="0" rIns="0" bIns="0" rtlCol="0" anchor="t"/>
          <a:lstStyle/>
          <a:p>
            <a:pPr marL="0" indent="0" algn="l">
              <a:lnSpc>
                <a:spcPct val="96000"/>
              </a:lnSpc>
              <a:buNone/>
            </a:pPr>
            <a:r>
              <a:rPr lang="en-US" sz="900" dirty="0">
                <a:solidFill>
                  <a:srgbClr val="3C3939"/>
                </a:solidFill>
                <a:latin typeface="Roboto" pitchFamily="34" charset="0"/>
                <a:ea typeface="Roboto" pitchFamily="34" charset="-122"/>
                <a:cs typeface="Roboto" pitchFamily="34" charset="-120"/>
              </a:rPr>
              <a:t>CI/CD</a:t>
            </a:r>
            <a:endParaRPr lang="en-US" sz="900" dirty="0"/>
          </a:p>
        </p:txBody>
      </p:sp>
      <p:sp>
        <p:nvSpPr>
          <p:cNvPr id="7" name="Text 2">
            <a:extLst>
              <a:ext uri="{FF2B5EF4-FFF2-40B4-BE49-F238E27FC236}">
                <a16:creationId xmlns:a16="http://schemas.microsoft.com/office/drawing/2014/main" id="{C9E8BE46-EC00-F9AC-46AF-39CE8E24C4E9}"/>
              </a:ext>
            </a:extLst>
          </p:cNvPr>
          <p:cNvSpPr/>
          <p:nvPr/>
        </p:nvSpPr>
        <p:spPr>
          <a:xfrm>
            <a:off x="661475" y="810121"/>
            <a:ext cx="10868745" cy="470595"/>
          </a:xfrm>
          <a:prstGeom prst="rect">
            <a:avLst/>
          </a:prstGeom>
          <a:noFill/>
          <a:ln/>
        </p:spPr>
        <p:txBody>
          <a:bodyPr wrap="none" lIns="0" tIns="0" rIns="0" bIns="0" rtlCol="0" anchor="t"/>
          <a:lstStyle/>
          <a:p>
            <a:pPr marL="0" indent="0" algn="l">
              <a:lnSpc>
                <a:spcPct val="104000"/>
              </a:lnSpc>
              <a:buNone/>
            </a:pPr>
            <a:r>
              <a:rPr lang="en-US" sz="2950" dirty="0">
                <a:solidFill>
                  <a:srgbClr val="1B1B27"/>
                </a:solidFill>
                <a:latin typeface="Raleway" pitchFamily="34" charset="0"/>
                <a:ea typeface="Raleway" pitchFamily="34" charset="-122"/>
                <a:cs typeface="Raleway" pitchFamily="34" charset="-120"/>
              </a:rPr>
              <a:t>GitHub Actions CI/CD Workflow</a:t>
            </a:r>
            <a:endParaRPr lang="en-US" sz="2950" dirty="0"/>
          </a:p>
        </p:txBody>
      </p:sp>
      <p:pic>
        <p:nvPicPr>
          <p:cNvPr id="9" name="Image 0" descr="preencoded.png">
            <a:extLst>
              <a:ext uri="{FF2B5EF4-FFF2-40B4-BE49-F238E27FC236}">
                <a16:creationId xmlns:a16="http://schemas.microsoft.com/office/drawing/2014/main" id="{FA47D578-687E-3928-1F7A-F8097CA5616E}"/>
              </a:ext>
            </a:extLst>
          </p:cNvPr>
          <p:cNvPicPr>
            <a:picLocks noChangeAspect="1"/>
          </p:cNvPicPr>
          <p:nvPr/>
        </p:nvPicPr>
        <p:blipFill>
          <a:blip r:embed="rId2"/>
          <a:stretch>
            <a:fillRect/>
          </a:stretch>
        </p:blipFill>
        <p:spPr>
          <a:xfrm>
            <a:off x="661475" y="1595636"/>
            <a:ext cx="4594011" cy="4594126"/>
          </a:xfrm>
          <a:prstGeom prst="rect">
            <a:avLst/>
          </a:prstGeom>
        </p:spPr>
      </p:pic>
      <p:sp>
        <p:nvSpPr>
          <p:cNvPr id="11" name="Text 3">
            <a:extLst>
              <a:ext uri="{FF2B5EF4-FFF2-40B4-BE49-F238E27FC236}">
                <a16:creationId xmlns:a16="http://schemas.microsoft.com/office/drawing/2014/main" id="{A34EE13E-5940-8148-AB6F-FB0054B27820}"/>
              </a:ext>
            </a:extLst>
          </p:cNvPr>
          <p:cNvSpPr/>
          <p:nvPr/>
        </p:nvSpPr>
        <p:spPr>
          <a:xfrm>
            <a:off x="6847708" y="3558977"/>
            <a:ext cx="4688762" cy="733425"/>
          </a:xfrm>
          <a:prstGeom prst="rect">
            <a:avLst/>
          </a:prstGeom>
          <a:noFill/>
          <a:ln/>
        </p:spPr>
        <p:txBody>
          <a:bodyPr wrap="square" lIns="0" tIns="0" rIns="0" bIns="0" rtlCol="0" anchor="t">
            <a:normAutofit/>
          </a:bodyPr>
          <a:lstStyle/>
          <a:p>
            <a:pPr marL="233680" indent="-233680" algn="l">
              <a:lnSpc>
                <a:spcPct val="120000"/>
              </a:lnSpc>
              <a:buSzPct val="100000"/>
              <a:buChar char="•"/>
            </a:pPr>
            <a:r>
              <a:rPr lang="en-US" sz="1150" dirty="0">
                <a:solidFill>
                  <a:srgbClr val="3C3939"/>
                </a:solidFill>
                <a:latin typeface="Roboto" pitchFamily="34" charset="0"/>
                <a:ea typeface="Roboto" pitchFamily="34" charset="-122"/>
                <a:cs typeface="Roboto" pitchFamily="34" charset="-120"/>
              </a:rPr>
              <a:t>Python linter runs as the automated quality firewall</a:t>
            </a:r>
            <a:endParaRPr lang="en-US" sz="1150" dirty="0"/>
          </a:p>
          <a:p>
            <a:pPr marL="233680" indent="-233680" algn="l">
              <a:lnSpc>
                <a:spcPct val="120000"/>
              </a:lnSpc>
              <a:buSzPct val="100000"/>
              <a:buChar char="•"/>
            </a:pPr>
            <a:r>
              <a:rPr lang="en-US" sz="1150" dirty="0">
                <a:solidFill>
                  <a:srgbClr val="3C3939"/>
                </a:solidFill>
                <a:latin typeface="Roboto" pitchFamily="34" charset="0"/>
                <a:ea typeface="Roboto" pitchFamily="34" charset="-122"/>
                <a:cs typeface="Roboto" pitchFamily="34" charset="-120"/>
              </a:rPr>
              <a:t>All requirements validated before merge is permitted</a:t>
            </a:r>
            <a:endParaRPr lang="en-US" sz="1150" dirty="0"/>
          </a:p>
          <a:p>
            <a:pPr marL="233680" indent="-233680" algn="l">
              <a:lnSpc>
                <a:spcPct val="120000"/>
              </a:lnSpc>
              <a:buSzPct val="100000"/>
              <a:buChar char="•"/>
            </a:pPr>
            <a:r>
              <a:rPr lang="en-US" sz="1150" dirty="0">
                <a:solidFill>
                  <a:srgbClr val="3C3939"/>
                </a:solidFill>
                <a:latin typeface="Roboto" pitchFamily="34" charset="0"/>
                <a:ea typeface="Roboto" pitchFamily="34" charset="-122"/>
                <a:cs typeface="Roboto" pitchFamily="34" charset="-120"/>
              </a:rPr>
              <a:t>Non-compliant specifications never reach production</a:t>
            </a:r>
            <a:endParaRPr lang="en-US" sz="1150" dirty="0"/>
          </a:p>
        </p:txBody>
      </p:sp>
    </p:spTree>
    <p:extLst>
      <p:ext uri="{BB962C8B-B14F-4D97-AF65-F5344CB8AC3E}">
        <p14:creationId xmlns:p14="http://schemas.microsoft.com/office/powerpoint/2010/main" val="4241216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EBE2FB8-E1B4-795B-7F8B-99EE0ADA289C}"/>
              </a:ext>
            </a:extLst>
          </p:cNvPr>
          <p:cNvSpPr/>
          <p:nvPr/>
        </p:nvSpPr>
        <p:spPr>
          <a:xfrm>
            <a:off x="661475" y="654844"/>
            <a:ext cx="1047426" cy="269180"/>
          </a:xfrm>
          <a:prstGeom prst="roundRect">
            <a:avLst>
              <a:gd name="adj" fmla="val 22119"/>
            </a:avLst>
          </a:prstGeom>
          <a:noFill/>
          <a:ln w="6350">
            <a:solidFill>
              <a:srgbClr val="1B1B27"/>
            </a:solidFill>
            <a:prstDash val="solid"/>
          </a:ln>
        </p:spPr>
        <p:txBody>
          <a:bodyPr/>
          <a:lstStyle/>
          <a:p>
            <a:endParaRPr lang="en-US"/>
          </a:p>
        </p:txBody>
      </p:sp>
      <p:sp>
        <p:nvSpPr>
          <p:cNvPr id="5" name="Text 1">
            <a:extLst>
              <a:ext uri="{FF2B5EF4-FFF2-40B4-BE49-F238E27FC236}">
                <a16:creationId xmlns:a16="http://schemas.microsoft.com/office/drawing/2014/main" id="{529E5A7C-4EA0-7ECD-C858-0D3F7D505901}"/>
              </a:ext>
            </a:extLst>
          </p:cNvPr>
          <p:cNvSpPr/>
          <p:nvPr/>
        </p:nvSpPr>
        <p:spPr>
          <a:xfrm>
            <a:off x="767735" y="707926"/>
            <a:ext cx="1444490" cy="163016"/>
          </a:xfrm>
          <a:prstGeom prst="rect">
            <a:avLst/>
          </a:prstGeom>
          <a:noFill/>
          <a:ln/>
        </p:spPr>
        <p:txBody>
          <a:bodyPr wrap="none" lIns="0" tIns="0" rIns="0" bIns="0" rtlCol="0" anchor="t"/>
          <a:lstStyle/>
          <a:p>
            <a:pPr marL="0" indent="0" algn="l">
              <a:lnSpc>
                <a:spcPct val="96000"/>
              </a:lnSpc>
              <a:buNone/>
            </a:pPr>
            <a:r>
              <a:rPr lang="en-US" sz="1100" dirty="0">
                <a:solidFill>
                  <a:srgbClr val="1B1B27"/>
                </a:solidFill>
                <a:latin typeface="Roboto" pitchFamily="34" charset="0"/>
                <a:ea typeface="Roboto" pitchFamily="34" charset="-122"/>
                <a:cs typeface="Roboto" pitchFamily="34" charset="-120"/>
              </a:rPr>
              <a:t>AUDIT 1 OF 4</a:t>
            </a:r>
            <a:endParaRPr lang="en-US" sz="1100" dirty="0"/>
          </a:p>
        </p:txBody>
      </p:sp>
      <p:sp>
        <p:nvSpPr>
          <p:cNvPr id="7" name="Text 2">
            <a:extLst>
              <a:ext uri="{FF2B5EF4-FFF2-40B4-BE49-F238E27FC236}">
                <a16:creationId xmlns:a16="http://schemas.microsoft.com/office/drawing/2014/main" id="{A637CCAA-D4CE-6314-45FC-31E3D13E35F0}"/>
              </a:ext>
            </a:extLst>
          </p:cNvPr>
          <p:cNvSpPr/>
          <p:nvPr/>
        </p:nvSpPr>
        <p:spPr>
          <a:xfrm>
            <a:off x="661475" y="990402"/>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1B1B27"/>
                </a:solidFill>
                <a:latin typeface="Raleway" pitchFamily="34" charset="0"/>
                <a:ea typeface="Raleway" pitchFamily="34" charset="-122"/>
                <a:cs typeface="Raleway" pitchFamily="34" charset="-120"/>
              </a:rPr>
              <a:t>SMS Dispatch Requirement</a:t>
            </a:r>
            <a:endParaRPr lang="en-US" sz="3450" dirty="0"/>
          </a:p>
        </p:txBody>
      </p:sp>
      <p:sp>
        <p:nvSpPr>
          <p:cNvPr id="9" name="Text 3">
            <a:extLst>
              <a:ext uri="{FF2B5EF4-FFF2-40B4-BE49-F238E27FC236}">
                <a16:creationId xmlns:a16="http://schemas.microsoft.com/office/drawing/2014/main" id="{7939F95F-D07B-6680-CAB0-2BE0556532A7}"/>
              </a:ext>
            </a:extLst>
          </p:cNvPr>
          <p:cNvSpPr/>
          <p:nvPr/>
        </p:nvSpPr>
        <p:spPr>
          <a:xfrm>
            <a:off x="661475" y="1793280"/>
            <a:ext cx="11478330" cy="274638"/>
          </a:xfrm>
          <a:prstGeom prst="rect">
            <a:avLst/>
          </a:prstGeom>
          <a:noFill/>
          <a:ln/>
        </p:spPr>
        <p:txBody>
          <a:bodyPr wrap="none" lIns="0" tIns="0" rIns="0" bIns="0" rtlCol="0" anchor="t"/>
          <a:lstStyle/>
          <a:p>
            <a:pPr marL="0" indent="0" algn="l">
              <a:lnSpc>
                <a:spcPct val="129000"/>
              </a:lnSpc>
              <a:buNone/>
            </a:pPr>
            <a:r>
              <a:rPr lang="en-US" sz="1350" dirty="0">
                <a:solidFill>
                  <a:srgbClr val="3C3939"/>
                </a:solidFill>
                <a:latin typeface="Roboto" pitchFamily="34" charset="0"/>
                <a:ea typeface="Roboto" pitchFamily="34" charset="-122"/>
                <a:cs typeface="Roboto" pitchFamily="34" charset="-120"/>
              </a:rPr>
              <a:t>A single word separates an operational system from one that crashes on same-day schedules. Here is what the two approaches produce.</a:t>
            </a:r>
            <a:endParaRPr lang="en-US" sz="1350" dirty="0"/>
          </a:p>
        </p:txBody>
      </p:sp>
      <p:sp>
        <p:nvSpPr>
          <p:cNvPr id="11" name="Shape 4">
            <a:extLst>
              <a:ext uri="{FF2B5EF4-FFF2-40B4-BE49-F238E27FC236}">
                <a16:creationId xmlns:a16="http://schemas.microsoft.com/office/drawing/2014/main" id="{252F834B-C53F-48E5-CBC5-F74B2A8B4973}"/>
              </a:ext>
            </a:extLst>
          </p:cNvPr>
          <p:cNvSpPr/>
          <p:nvPr/>
        </p:nvSpPr>
        <p:spPr>
          <a:xfrm>
            <a:off x="533982" y="2254746"/>
            <a:ext cx="5473265" cy="3948410"/>
          </a:xfrm>
          <a:prstGeom prst="roundRect">
            <a:avLst>
              <a:gd name="adj" fmla="val 3231"/>
            </a:avLst>
          </a:prstGeom>
          <a:solidFill>
            <a:srgbClr val="1B1B27">
              <a:alpha val="95000"/>
            </a:srgbClr>
          </a:solidFill>
          <a:ln/>
        </p:spPr>
        <p:txBody>
          <a:bodyPr/>
          <a:lstStyle/>
          <a:p>
            <a:endParaRPr lang="en-US"/>
          </a:p>
        </p:txBody>
      </p:sp>
      <p:sp>
        <p:nvSpPr>
          <p:cNvPr id="13" name="Text 5">
            <a:extLst>
              <a:ext uri="{FF2B5EF4-FFF2-40B4-BE49-F238E27FC236}">
                <a16:creationId xmlns:a16="http://schemas.microsoft.com/office/drawing/2014/main" id="{C3667A21-DA16-3423-7906-AF05960488E6}"/>
              </a:ext>
            </a:extLst>
          </p:cNvPr>
          <p:cNvSpPr/>
          <p:nvPr/>
        </p:nvSpPr>
        <p:spPr>
          <a:xfrm>
            <a:off x="711182" y="2420838"/>
            <a:ext cx="5118865" cy="276920"/>
          </a:xfrm>
          <a:prstGeom prst="rect">
            <a:avLst/>
          </a:prstGeom>
          <a:noFill/>
          <a:ln/>
        </p:spPr>
        <p:txBody>
          <a:bodyPr wrap="none" lIns="0" tIns="0" rIns="0" bIns="0" rtlCol="0" anchor="t"/>
          <a:lstStyle/>
          <a:p>
            <a:pPr marL="0" indent="0" algn="l">
              <a:lnSpc>
                <a:spcPct val="104000"/>
              </a:lnSpc>
              <a:buNone/>
            </a:pPr>
            <a:r>
              <a:rPr lang="en-US" sz="1700" dirty="0">
                <a:solidFill>
                  <a:srgbClr val="FFFFFF"/>
                </a:solidFill>
                <a:latin typeface="Raleway" pitchFamily="34" charset="0"/>
                <a:ea typeface="Raleway" pitchFamily="34" charset="-122"/>
                <a:cs typeface="Raleway" pitchFamily="34" charset="-120"/>
              </a:rPr>
              <a:t>Unguided LLM</a:t>
            </a:r>
            <a:endParaRPr lang="en-US" sz="1700" dirty="0"/>
          </a:p>
        </p:txBody>
      </p:sp>
      <p:sp>
        <p:nvSpPr>
          <p:cNvPr id="15" name="Shape 6">
            <a:extLst>
              <a:ext uri="{FF2B5EF4-FFF2-40B4-BE49-F238E27FC236}">
                <a16:creationId xmlns:a16="http://schemas.microsoft.com/office/drawing/2014/main" id="{DCFB481A-E066-BE63-C8D7-6CC2EECEAD92}"/>
              </a:ext>
            </a:extLst>
          </p:cNvPr>
          <p:cNvSpPr/>
          <p:nvPr/>
        </p:nvSpPr>
        <p:spPr>
          <a:xfrm>
            <a:off x="711182" y="2884587"/>
            <a:ext cx="5118865" cy="661988"/>
          </a:xfrm>
          <a:prstGeom prst="roundRect">
            <a:avLst>
              <a:gd name="adj" fmla="val 11243"/>
            </a:avLst>
          </a:prstGeom>
          <a:solidFill>
            <a:srgbClr val="4B3F02"/>
          </a:solidFill>
          <a:ln/>
        </p:spPr>
        <p:txBody>
          <a:bodyPr/>
          <a:lstStyle/>
          <a:p>
            <a:endParaRPr lang="en-US"/>
          </a:p>
        </p:txBody>
      </p:sp>
      <p:pic>
        <p:nvPicPr>
          <p:cNvPr id="17" name="Image 0" descr="preencoded.png">
            <a:extLst>
              <a:ext uri="{FF2B5EF4-FFF2-40B4-BE49-F238E27FC236}">
                <a16:creationId xmlns:a16="http://schemas.microsoft.com/office/drawing/2014/main" id="{3D3C3047-C377-B110-CFFE-82930B96E9EF}"/>
              </a:ext>
            </a:extLst>
          </p:cNvPr>
          <p:cNvPicPr>
            <a:picLocks noChangeAspect="1"/>
          </p:cNvPicPr>
          <p:nvPr/>
        </p:nvPicPr>
        <p:blipFill>
          <a:blip r:embed="rId2"/>
          <a:stretch>
            <a:fillRect/>
          </a:stretch>
        </p:blipFill>
        <p:spPr>
          <a:xfrm>
            <a:off x="888382" y="3136702"/>
            <a:ext cx="221451" cy="177205"/>
          </a:xfrm>
          <a:prstGeom prst="rect">
            <a:avLst/>
          </a:prstGeom>
        </p:spPr>
      </p:pic>
      <p:sp>
        <p:nvSpPr>
          <p:cNvPr id="19" name="Text 7">
            <a:extLst>
              <a:ext uri="{FF2B5EF4-FFF2-40B4-BE49-F238E27FC236}">
                <a16:creationId xmlns:a16="http://schemas.microsoft.com/office/drawing/2014/main" id="{B4C79EDF-509C-E458-3384-B255AA3655BB}"/>
              </a:ext>
            </a:extLst>
          </p:cNvPr>
          <p:cNvSpPr/>
          <p:nvPr/>
        </p:nvSpPr>
        <p:spPr>
          <a:xfrm>
            <a:off x="1287033" y="3078262"/>
            <a:ext cx="4975398" cy="274638"/>
          </a:xfrm>
          <a:prstGeom prst="rect">
            <a:avLst/>
          </a:prstGeom>
          <a:noFill/>
          <a:ln/>
        </p:spPr>
        <p:txBody>
          <a:bodyPr wrap="none" lIns="0" tIns="0" rIns="0" bIns="0" rtlCol="0" anchor="t"/>
          <a:lstStyle/>
          <a:p>
            <a:pPr marL="0" indent="0" algn="l">
              <a:lnSpc>
                <a:spcPct val="129000"/>
              </a:lnSpc>
              <a:buNone/>
            </a:pPr>
            <a:r>
              <a:rPr lang="en-US" sz="1350" dirty="0">
                <a:solidFill>
                  <a:srgbClr val="FFFFFF"/>
                </a:solidFill>
                <a:latin typeface="Roboto" pitchFamily="34" charset="0"/>
                <a:ea typeface="Roboto" pitchFamily="34" charset="-122"/>
                <a:cs typeface="Roboto" pitchFamily="34" charset="-120"/>
              </a:rPr>
              <a:t>Vague Deadline</a:t>
            </a:r>
            <a:endParaRPr lang="en-US" sz="1350" dirty="0"/>
          </a:p>
        </p:txBody>
      </p:sp>
      <p:sp>
        <p:nvSpPr>
          <p:cNvPr id="21" name="Text 8">
            <a:extLst>
              <a:ext uri="{FF2B5EF4-FFF2-40B4-BE49-F238E27FC236}">
                <a16:creationId xmlns:a16="http://schemas.microsoft.com/office/drawing/2014/main" id="{9580ECCE-2452-AC37-0347-2BD9DE9EA92E}"/>
              </a:ext>
            </a:extLst>
          </p:cNvPr>
          <p:cNvSpPr/>
          <p:nvPr/>
        </p:nvSpPr>
        <p:spPr>
          <a:xfrm>
            <a:off x="711182" y="3733403"/>
            <a:ext cx="5728450" cy="274638"/>
          </a:xfrm>
          <a:prstGeom prst="rect">
            <a:avLst/>
          </a:prstGeom>
          <a:noFill/>
          <a:ln/>
        </p:spPr>
        <p:txBody>
          <a:bodyPr wrap="none" lIns="0" tIns="0" rIns="0" bIns="0" rtlCol="0" anchor="t"/>
          <a:lstStyle/>
          <a:p>
            <a:pPr marL="0" indent="0" algn="l">
              <a:lnSpc>
                <a:spcPct val="129000"/>
              </a:lnSpc>
              <a:buNone/>
            </a:pPr>
            <a:r>
              <a:rPr lang="en-US" sz="1350" b="1" dirty="0">
                <a:solidFill>
                  <a:srgbClr val="FFFFFF"/>
                </a:solidFill>
                <a:latin typeface="Roboto Bold" pitchFamily="34" charset="0"/>
                <a:ea typeface="Roboto Bold" pitchFamily="34" charset="-122"/>
                <a:cs typeface="Roboto Bold" pitchFamily="34" charset="-120"/>
              </a:rPr>
              <a:t>Requirement produced:</a:t>
            </a:r>
            <a:endParaRPr lang="en-US" sz="1350" dirty="0"/>
          </a:p>
        </p:txBody>
      </p:sp>
      <p:sp>
        <p:nvSpPr>
          <p:cNvPr id="23" name="Text 9">
            <a:extLst>
              <a:ext uri="{FF2B5EF4-FFF2-40B4-BE49-F238E27FC236}">
                <a16:creationId xmlns:a16="http://schemas.microsoft.com/office/drawing/2014/main" id="{245387FB-43F2-56E3-3B53-84AEEF1F14DC}"/>
              </a:ext>
            </a:extLst>
          </p:cNvPr>
          <p:cNvSpPr/>
          <p:nvPr/>
        </p:nvSpPr>
        <p:spPr>
          <a:xfrm>
            <a:off x="976983" y="4344293"/>
            <a:ext cx="5462649" cy="274638"/>
          </a:xfrm>
          <a:prstGeom prst="rect">
            <a:avLst/>
          </a:prstGeom>
          <a:noFill/>
          <a:ln/>
        </p:spPr>
        <p:txBody>
          <a:bodyPr wrap="none" lIns="0" tIns="0" rIns="0" bIns="0" rtlCol="0" anchor="t"/>
          <a:lstStyle/>
          <a:p>
            <a:pPr marL="0" indent="0" algn="l">
              <a:lnSpc>
                <a:spcPct val="129000"/>
              </a:lnSpc>
              <a:buNone/>
            </a:pPr>
            <a:r>
              <a:rPr lang="en-US" sz="1350" dirty="0">
                <a:solidFill>
                  <a:srgbClr val="FFFFFF"/>
                </a:solidFill>
                <a:latin typeface="Roboto" pitchFamily="34" charset="0"/>
                <a:ea typeface="Roboto" pitchFamily="34" charset="-122"/>
                <a:cs typeface="Roboto" pitchFamily="34" charset="-120"/>
              </a:rPr>
              <a:t>Send SMS 24 hours before appointment.</a:t>
            </a:r>
            <a:endParaRPr lang="en-US" sz="1350" dirty="0"/>
          </a:p>
        </p:txBody>
      </p:sp>
      <p:sp>
        <p:nvSpPr>
          <p:cNvPr id="25" name="Shape 10">
            <a:extLst>
              <a:ext uri="{FF2B5EF4-FFF2-40B4-BE49-F238E27FC236}">
                <a16:creationId xmlns:a16="http://schemas.microsoft.com/office/drawing/2014/main" id="{53452935-9AFE-75DF-616A-A678CB7A31FC}"/>
              </a:ext>
            </a:extLst>
          </p:cNvPr>
          <p:cNvSpPr/>
          <p:nvPr/>
        </p:nvSpPr>
        <p:spPr>
          <a:xfrm>
            <a:off x="711182" y="4194870"/>
            <a:ext cx="19050" cy="573484"/>
          </a:xfrm>
          <a:prstGeom prst="roundRect">
            <a:avLst>
              <a:gd name="adj" fmla="val 49999"/>
            </a:avLst>
          </a:prstGeom>
          <a:solidFill>
            <a:srgbClr val="1B1B27"/>
          </a:solidFill>
          <a:ln/>
        </p:spPr>
        <p:txBody>
          <a:bodyPr/>
          <a:lstStyle/>
          <a:p>
            <a:endParaRPr lang="en-US"/>
          </a:p>
        </p:txBody>
      </p:sp>
      <p:sp>
        <p:nvSpPr>
          <p:cNvPr id="27" name="Text 11">
            <a:extLst>
              <a:ext uri="{FF2B5EF4-FFF2-40B4-BE49-F238E27FC236}">
                <a16:creationId xmlns:a16="http://schemas.microsoft.com/office/drawing/2014/main" id="{4341F081-74C5-5FE5-3870-4585519278C8}"/>
              </a:ext>
            </a:extLst>
          </p:cNvPr>
          <p:cNvSpPr/>
          <p:nvPr/>
        </p:nvSpPr>
        <p:spPr>
          <a:xfrm>
            <a:off x="711182" y="4955183"/>
            <a:ext cx="5118865" cy="1098550"/>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FFFFFF"/>
                </a:solidFill>
                <a:latin typeface="Roboto" pitchFamily="34" charset="0"/>
                <a:ea typeface="Roboto" pitchFamily="34" charset="-122"/>
                <a:cs typeface="Roboto" pitchFamily="34" charset="-120"/>
              </a:rPr>
              <a:t>The phrase "24 hours before" is ambiguous. Does it mean midnight? The appointment hour minus 24? Systems implement this differently, and same-day appointments booked after the 24-hour window receive no SMS at all, wasting slots.</a:t>
            </a:r>
            <a:endParaRPr lang="en-US" sz="1350" dirty="0"/>
          </a:p>
        </p:txBody>
      </p:sp>
      <p:sp>
        <p:nvSpPr>
          <p:cNvPr id="29" name="Text 12">
            <a:extLst>
              <a:ext uri="{FF2B5EF4-FFF2-40B4-BE49-F238E27FC236}">
                <a16:creationId xmlns:a16="http://schemas.microsoft.com/office/drawing/2014/main" id="{05750948-A3CB-C33F-8399-D1231A684648}"/>
              </a:ext>
            </a:extLst>
          </p:cNvPr>
          <p:cNvSpPr/>
          <p:nvPr/>
        </p:nvSpPr>
        <p:spPr>
          <a:xfrm>
            <a:off x="6318290" y="2420838"/>
            <a:ext cx="5218280" cy="276920"/>
          </a:xfrm>
          <a:prstGeom prst="rect">
            <a:avLst/>
          </a:prstGeom>
          <a:noFill/>
          <a:ln/>
        </p:spPr>
        <p:txBody>
          <a:bodyPr wrap="none" lIns="0" tIns="0" rIns="0" bIns="0" rtlCol="0" anchor="t"/>
          <a:lstStyle/>
          <a:p>
            <a:pPr marL="0" indent="0" algn="l">
              <a:lnSpc>
                <a:spcPct val="104000"/>
              </a:lnSpc>
              <a:buNone/>
            </a:pPr>
            <a:r>
              <a:rPr lang="en-US" sz="1700" dirty="0">
                <a:solidFill>
                  <a:srgbClr val="1B1B27"/>
                </a:solidFill>
                <a:latin typeface="Raleway" pitchFamily="34" charset="0"/>
                <a:ea typeface="Raleway" pitchFamily="34" charset="-122"/>
                <a:cs typeface="Raleway" pitchFamily="34" charset="-120"/>
              </a:rPr>
              <a:t>Agentic Workflow</a:t>
            </a:r>
            <a:endParaRPr lang="en-US" sz="1700" dirty="0"/>
          </a:p>
        </p:txBody>
      </p:sp>
      <p:sp>
        <p:nvSpPr>
          <p:cNvPr id="31" name="Shape 13">
            <a:extLst>
              <a:ext uri="{FF2B5EF4-FFF2-40B4-BE49-F238E27FC236}">
                <a16:creationId xmlns:a16="http://schemas.microsoft.com/office/drawing/2014/main" id="{059E216F-D842-9D87-D731-00325F667A85}"/>
              </a:ext>
            </a:extLst>
          </p:cNvPr>
          <p:cNvSpPr/>
          <p:nvPr/>
        </p:nvSpPr>
        <p:spPr>
          <a:xfrm>
            <a:off x="6318290" y="2884587"/>
            <a:ext cx="5218280" cy="661988"/>
          </a:xfrm>
          <a:prstGeom prst="roundRect">
            <a:avLst>
              <a:gd name="adj" fmla="val 11243"/>
            </a:avLst>
          </a:prstGeom>
          <a:solidFill>
            <a:srgbClr val="B6FCB8"/>
          </a:solidFill>
          <a:ln/>
        </p:spPr>
        <p:txBody>
          <a:bodyPr/>
          <a:lstStyle/>
          <a:p>
            <a:endParaRPr lang="en-US"/>
          </a:p>
        </p:txBody>
      </p:sp>
      <p:pic>
        <p:nvPicPr>
          <p:cNvPr id="33" name="Image 1" descr="preencoded.png">
            <a:extLst>
              <a:ext uri="{FF2B5EF4-FFF2-40B4-BE49-F238E27FC236}">
                <a16:creationId xmlns:a16="http://schemas.microsoft.com/office/drawing/2014/main" id="{8AD577BD-B4FC-AC30-FBFE-B064CE6B9486}"/>
              </a:ext>
            </a:extLst>
          </p:cNvPr>
          <p:cNvPicPr>
            <a:picLocks noChangeAspect="1"/>
          </p:cNvPicPr>
          <p:nvPr/>
        </p:nvPicPr>
        <p:blipFill>
          <a:blip r:embed="rId3"/>
          <a:stretch>
            <a:fillRect/>
          </a:stretch>
        </p:blipFill>
        <p:spPr>
          <a:xfrm>
            <a:off x="6495491" y="3136702"/>
            <a:ext cx="221451" cy="177205"/>
          </a:xfrm>
          <a:prstGeom prst="rect">
            <a:avLst/>
          </a:prstGeom>
        </p:spPr>
      </p:pic>
      <p:sp>
        <p:nvSpPr>
          <p:cNvPr id="35" name="Text 14">
            <a:extLst>
              <a:ext uri="{FF2B5EF4-FFF2-40B4-BE49-F238E27FC236}">
                <a16:creationId xmlns:a16="http://schemas.microsoft.com/office/drawing/2014/main" id="{EB27785B-A528-005F-BD86-B983223EEA16}"/>
              </a:ext>
            </a:extLst>
          </p:cNvPr>
          <p:cNvSpPr/>
          <p:nvPr/>
        </p:nvSpPr>
        <p:spPr>
          <a:xfrm>
            <a:off x="6894142" y="3078262"/>
            <a:ext cx="5074813" cy="274638"/>
          </a:xfrm>
          <a:prstGeom prst="rect">
            <a:avLst/>
          </a:prstGeom>
          <a:noFill/>
          <a:ln/>
        </p:spPr>
        <p:txBody>
          <a:bodyPr wrap="none" lIns="0" tIns="0" rIns="0" bIns="0" rtlCol="0" anchor="t"/>
          <a:lstStyle/>
          <a:p>
            <a:pPr marL="0" indent="0" algn="l">
              <a:lnSpc>
                <a:spcPct val="129000"/>
              </a:lnSpc>
              <a:buNone/>
            </a:pPr>
            <a:r>
              <a:rPr lang="en-US" sz="1350" dirty="0">
                <a:solidFill>
                  <a:srgbClr val="000000"/>
                </a:solidFill>
                <a:latin typeface="Roboto" pitchFamily="34" charset="0"/>
                <a:ea typeface="Roboto" pitchFamily="34" charset="-122"/>
                <a:cs typeface="Roboto" pitchFamily="34" charset="-120"/>
              </a:rPr>
              <a:t>Operationally Precise</a:t>
            </a:r>
            <a:endParaRPr lang="en-US" sz="1350" dirty="0"/>
          </a:p>
        </p:txBody>
      </p:sp>
      <p:sp>
        <p:nvSpPr>
          <p:cNvPr id="37" name="Text 15">
            <a:extLst>
              <a:ext uri="{FF2B5EF4-FFF2-40B4-BE49-F238E27FC236}">
                <a16:creationId xmlns:a16="http://schemas.microsoft.com/office/drawing/2014/main" id="{3BD3ED3F-B61F-6A29-6DDA-BA7158123D56}"/>
              </a:ext>
            </a:extLst>
          </p:cNvPr>
          <p:cNvSpPr/>
          <p:nvPr/>
        </p:nvSpPr>
        <p:spPr>
          <a:xfrm>
            <a:off x="6318290" y="3733403"/>
            <a:ext cx="5827864" cy="274638"/>
          </a:xfrm>
          <a:prstGeom prst="rect">
            <a:avLst/>
          </a:prstGeom>
          <a:noFill/>
          <a:ln/>
        </p:spPr>
        <p:txBody>
          <a:bodyPr wrap="none" lIns="0" tIns="0" rIns="0" bIns="0" rtlCol="0" anchor="t"/>
          <a:lstStyle/>
          <a:p>
            <a:pPr marL="0" indent="0" algn="l">
              <a:lnSpc>
                <a:spcPct val="129000"/>
              </a:lnSpc>
              <a:buNone/>
            </a:pPr>
            <a:r>
              <a:rPr lang="en-US" sz="1350" b="1" dirty="0">
                <a:solidFill>
                  <a:srgbClr val="3C3939"/>
                </a:solidFill>
                <a:latin typeface="Roboto Bold" pitchFamily="34" charset="0"/>
                <a:ea typeface="Roboto Bold" pitchFamily="34" charset="-122"/>
                <a:cs typeface="Roboto Bold" pitchFamily="34" charset="-120"/>
              </a:rPr>
              <a:t>Requirement produced:</a:t>
            </a:r>
            <a:endParaRPr lang="en-US" sz="1350" dirty="0"/>
          </a:p>
        </p:txBody>
      </p:sp>
      <p:sp>
        <p:nvSpPr>
          <p:cNvPr id="39" name="Text 16">
            <a:extLst>
              <a:ext uri="{FF2B5EF4-FFF2-40B4-BE49-F238E27FC236}">
                <a16:creationId xmlns:a16="http://schemas.microsoft.com/office/drawing/2014/main" id="{E2BE3F32-0ECA-FDDA-08DD-B09C8FBB3A4D}"/>
              </a:ext>
            </a:extLst>
          </p:cNvPr>
          <p:cNvSpPr/>
          <p:nvPr/>
        </p:nvSpPr>
        <p:spPr>
          <a:xfrm>
            <a:off x="6584091" y="4344293"/>
            <a:ext cx="4952479"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3C3939"/>
                </a:solidFill>
                <a:latin typeface="Roboto" pitchFamily="34" charset="0"/>
                <a:ea typeface="Roboto" pitchFamily="34" charset="-122"/>
                <a:cs typeface="Roboto" pitchFamily="34" charset="-120"/>
              </a:rPr>
              <a:t>WHEN appointment is scheduled for the next calendar day, THEN send SMS by 18:00 local time on the day prior.</a:t>
            </a:r>
            <a:endParaRPr lang="en-US" sz="1350" dirty="0"/>
          </a:p>
        </p:txBody>
      </p:sp>
      <p:sp>
        <p:nvSpPr>
          <p:cNvPr id="41" name="Shape 17">
            <a:extLst>
              <a:ext uri="{FF2B5EF4-FFF2-40B4-BE49-F238E27FC236}">
                <a16:creationId xmlns:a16="http://schemas.microsoft.com/office/drawing/2014/main" id="{4C6B1620-A7DE-2B35-FA4C-B33E27C63CFE}"/>
              </a:ext>
            </a:extLst>
          </p:cNvPr>
          <p:cNvSpPr/>
          <p:nvPr/>
        </p:nvSpPr>
        <p:spPr>
          <a:xfrm>
            <a:off x="6318290" y="4194870"/>
            <a:ext cx="19050" cy="848122"/>
          </a:xfrm>
          <a:prstGeom prst="roundRect">
            <a:avLst>
              <a:gd name="adj" fmla="val 49999"/>
            </a:avLst>
          </a:prstGeom>
          <a:solidFill>
            <a:srgbClr val="1B1B27"/>
          </a:solidFill>
          <a:ln/>
        </p:spPr>
        <p:txBody>
          <a:bodyPr/>
          <a:lstStyle/>
          <a:p>
            <a:endParaRPr lang="en-US"/>
          </a:p>
        </p:txBody>
      </p:sp>
      <p:sp>
        <p:nvSpPr>
          <p:cNvPr id="43" name="Text 18">
            <a:extLst>
              <a:ext uri="{FF2B5EF4-FFF2-40B4-BE49-F238E27FC236}">
                <a16:creationId xmlns:a16="http://schemas.microsoft.com/office/drawing/2014/main" id="{83B4F63F-E52E-8D91-5B9F-2EC85C534F54}"/>
              </a:ext>
            </a:extLst>
          </p:cNvPr>
          <p:cNvSpPr/>
          <p:nvPr/>
        </p:nvSpPr>
        <p:spPr>
          <a:xfrm>
            <a:off x="6318290" y="5229820"/>
            <a:ext cx="5218280" cy="823913"/>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3C3939"/>
                </a:solidFill>
                <a:latin typeface="Roboto" pitchFamily="34" charset="0"/>
                <a:ea typeface="Roboto" pitchFamily="34" charset="-122"/>
                <a:cs typeface="Roboto" pitchFamily="34" charset="-120"/>
              </a:rPr>
              <a:t>The trigger is deterministic. The deadline is clock-bound. Any scheduler, QA engineer, or on-call team member can verify compliance without ambiguity. Slot waste is eliminated.</a:t>
            </a:r>
            <a:endParaRPr lang="en-US" sz="1350" dirty="0"/>
          </a:p>
        </p:txBody>
      </p:sp>
    </p:spTree>
    <p:extLst>
      <p:ext uri="{BB962C8B-B14F-4D97-AF65-F5344CB8AC3E}">
        <p14:creationId xmlns:p14="http://schemas.microsoft.com/office/powerpoint/2010/main" val="1917102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26554"/>
            <a:ext cx="1117274" cy="287139"/>
          </a:xfrm>
          <a:prstGeom prst="roundRect">
            <a:avLst>
              <a:gd name="adj" fmla="val 22118"/>
            </a:avLst>
          </a:prstGeom>
          <a:noFill/>
          <a:ln w="6350">
            <a:solidFill>
              <a:srgbClr val="1B1B27"/>
            </a:solidFill>
            <a:prstDash val="solid"/>
          </a:ln>
        </p:spPr>
        <p:txBody>
          <a:bodyPr/>
          <a:lstStyle/>
          <a:p>
            <a:endParaRPr lang="en-US"/>
          </a:p>
        </p:txBody>
      </p:sp>
      <p:sp>
        <p:nvSpPr>
          <p:cNvPr id="3" name="Text 1"/>
          <p:cNvSpPr/>
          <p:nvPr/>
        </p:nvSpPr>
        <p:spPr>
          <a:xfrm>
            <a:off x="774879" y="583208"/>
            <a:ext cx="1500051" cy="173831"/>
          </a:xfrm>
          <a:prstGeom prst="rect">
            <a:avLst/>
          </a:prstGeom>
          <a:noFill/>
          <a:ln/>
        </p:spPr>
        <p:txBody>
          <a:bodyPr wrap="none" lIns="0" tIns="0" rIns="0" bIns="0" rtlCol="0" anchor="t"/>
          <a:lstStyle/>
          <a:p>
            <a:pPr marL="0" indent="0" algn="l">
              <a:lnSpc>
                <a:spcPct val="96000"/>
              </a:lnSpc>
              <a:buNone/>
            </a:pPr>
            <a:r>
              <a:rPr lang="en-US" sz="1150" dirty="0">
                <a:solidFill>
                  <a:srgbClr val="1B1B27"/>
                </a:solidFill>
                <a:latin typeface="Roboto" pitchFamily="34" charset="0"/>
                <a:ea typeface="Roboto" pitchFamily="34" charset="-122"/>
                <a:cs typeface="Roboto" pitchFamily="34" charset="-120"/>
              </a:rPr>
              <a:t>AUDIT 2 OF 4</a:t>
            </a:r>
            <a:endParaRPr lang="en-US" sz="1150" dirty="0"/>
          </a:p>
        </p:txBody>
      </p:sp>
      <p:sp>
        <p:nvSpPr>
          <p:cNvPr id="4" name="Text 2"/>
          <p:cNvSpPr/>
          <p:nvPr/>
        </p:nvSpPr>
        <p:spPr>
          <a:xfrm>
            <a:off x="661475" y="889298"/>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Patient SMS Cancellation</a:t>
            </a:r>
            <a:endParaRPr lang="en-US" sz="3700" dirty="0"/>
          </a:p>
        </p:txBody>
      </p:sp>
      <p:sp>
        <p:nvSpPr>
          <p:cNvPr id="5" name="Text 3"/>
          <p:cNvSpPr/>
          <p:nvPr/>
        </p:nvSpPr>
        <p:spPr>
          <a:xfrm>
            <a:off x="661475" y="1763415"/>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The word </a:t>
            </a:r>
            <a:r>
              <a:rPr lang="en-US" sz="1450" b="1" dirty="0">
                <a:solidFill>
                  <a:srgbClr val="3C3939"/>
                </a:solidFill>
                <a:latin typeface="Roboto Bold" pitchFamily="34" charset="0"/>
                <a:ea typeface="Roboto Bold" pitchFamily="34" charset="-122"/>
                <a:cs typeface="Roboto Bold" pitchFamily="34" charset="-120"/>
              </a:rPr>
              <a:t>"immediately"</a:t>
            </a:r>
            <a:r>
              <a:rPr lang="en-US" sz="1450" dirty="0">
                <a:solidFill>
                  <a:srgbClr val="3C3939"/>
                </a:solidFill>
                <a:latin typeface="Roboto" pitchFamily="34" charset="0"/>
                <a:ea typeface="Roboto" pitchFamily="34" charset="-122"/>
                <a:cs typeface="Roboto" pitchFamily="34" charset="-120"/>
              </a:rPr>
              <a:t> is the most dangerous word in a software requirement. It sounds precise but is entirely untestable.</a:t>
            </a:r>
            <a:endParaRPr lang="en-US" sz="14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491085"/>
            <a:ext cx="2507394" cy="3627735"/>
          </a:xfrm>
          <a:prstGeom prst="rect">
            <a:avLst/>
          </a:prstGeom>
        </p:spPr>
      </p:pic>
      <p:sp>
        <p:nvSpPr>
          <p:cNvPr id="7" name="Text 4"/>
          <p:cNvSpPr/>
          <p:nvPr/>
        </p:nvSpPr>
        <p:spPr>
          <a:xfrm>
            <a:off x="977479" y="2705497"/>
            <a:ext cx="1976983"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Unguided LLM Requirement</a:t>
            </a:r>
            <a:endParaRPr lang="en-US" sz="1850" dirty="0"/>
          </a:p>
        </p:txBody>
      </p:sp>
      <p:sp>
        <p:nvSpPr>
          <p:cNvPr id="8" name="Text 5"/>
          <p:cNvSpPr/>
          <p:nvPr/>
        </p:nvSpPr>
        <p:spPr>
          <a:xfrm>
            <a:off x="977479" y="3485059"/>
            <a:ext cx="1976983"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Upon receiving a cancellation reply, update appointment status, release the slot, and send confirmation </a:t>
            </a:r>
            <a:r>
              <a:rPr lang="en-US" sz="1450" b="1" dirty="0">
                <a:solidFill>
                  <a:srgbClr val="3C3939"/>
                </a:solidFill>
                <a:latin typeface="Roboto Bold" pitchFamily="34" charset="0"/>
                <a:ea typeface="Roboto Bold" pitchFamily="34" charset="-122"/>
                <a:cs typeface="Roboto Bold" pitchFamily="34" charset="-120"/>
              </a:rPr>
              <a:t>immediately</a:t>
            </a:r>
            <a:r>
              <a:rPr lang="en-US" sz="1450" dirty="0">
                <a:solidFill>
                  <a:srgbClr val="3C3939"/>
                </a:solidFill>
                <a:latin typeface="Roboto" pitchFamily="34" charset="0"/>
                <a:ea typeface="Roboto" pitchFamily="34" charset="-122"/>
                <a:cs typeface="Roboto" pitchFamily="34" charset="-120"/>
              </a:rPr>
              <a:t>.</a:t>
            </a:r>
            <a:endParaRPr lang="en-US" sz="14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7875" y="2491085"/>
            <a:ext cx="2507394" cy="3627735"/>
          </a:xfrm>
          <a:prstGeom prst="rect">
            <a:avLst/>
          </a:prstGeom>
        </p:spPr>
      </p:pic>
      <p:sp>
        <p:nvSpPr>
          <p:cNvPr id="10" name="Text 6"/>
          <p:cNvSpPr/>
          <p:nvPr/>
        </p:nvSpPr>
        <p:spPr>
          <a:xfrm>
            <a:off x="3673879" y="2705497"/>
            <a:ext cx="1976983"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Three Actions, No Atomicity</a:t>
            </a:r>
            <a:endParaRPr lang="en-US" sz="1850" dirty="0"/>
          </a:p>
        </p:txBody>
      </p:sp>
      <p:sp>
        <p:nvSpPr>
          <p:cNvPr id="11" name="Text 7"/>
          <p:cNvSpPr/>
          <p:nvPr/>
        </p:nvSpPr>
        <p:spPr>
          <a:xfrm>
            <a:off x="3673879" y="3485059"/>
            <a:ext cx="1976983" cy="2419350"/>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The three steps are listed but not bound. A partial failure leaves status updated but slot unreleased, creating phantom bookings and double-occupancy errors.</a:t>
            </a:r>
            <a:endParaRPr lang="en-US" sz="1450" dirty="0"/>
          </a:p>
        </p:txBody>
      </p:sp>
      <p:sp>
        <p:nvSpPr>
          <p:cNvPr id="12" name="Shape 8"/>
          <p:cNvSpPr/>
          <p:nvPr/>
        </p:nvSpPr>
        <p:spPr>
          <a:xfrm>
            <a:off x="6332776" y="2491085"/>
            <a:ext cx="2507394" cy="3589635"/>
          </a:xfrm>
          <a:prstGeom prst="roundRect">
            <a:avLst>
              <a:gd name="adj" fmla="val 3166"/>
            </a:avLst>
          </a:prstGeom>
          <a:solidFill>
            <a:srgbClr val="E1E1EA"/>
          </a:solidFill>
          <a:ln w="6350">
            <a:solidFill>
              <a:srgbClr val="C7C7D0"/>
            </a:solidFill>
            <a:prstDash val="solid"/>
          </a:ln>
        </p:spPr>
        <p:txBody>
          <a:bodyPr/>
          <a:lstStyle/>
          <a:p>
            <a:endParaRPr lang="en-US"/>
          </a:p>
        </p:txBody>
      </p:sp>
      <p:sp>
        <p:nvSpPr>
          <p:cNvPr id="13" name="Text 9"/>
          <p:cNvSpPr/>
          <p:nvPr/>
        </p:nvSpPr>
        <p:spPr>
          <a:xfrm>
            <a:off x="6528133" y="2686447"/>
            <a:ext cx="211668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Agentic Workflow Requirement</a:t>
            </a:r>
            <a:endParaRPr lang="en-US" sz="1850" dirty="0"/>
          </a:p>
        </p:txBody>
      </p:sp>
      <p:sp>
        <p:nvSpPr>
          <p:cNvPr id="14" name="Text 10"/>
          <p:cNvSpPr/>
          <p:nvPr/>
        </p:nvSpPr>
        <p:spPr>
          <a:xfrm>
            <a:off x="6528133" y="3466009"/>
            <a:ext cx="2116680"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WHEN patient replies CANCEL, THEN mark appointment cancelled AND release slot AND send confirmation, all within </a:t>
            </a:r>
            <a:r>
              <a:rPr lang="en-US" sz="1450" b="1" dirty="0">
                <a:solidFill>
                  <a:srgbClr val="3C3939"/>
                </a:solidFill>
                <a:latin typeface="Roboto Bold" pitchFamily="34" charset="0"/>
                <a:ea typeface="Roboto Bold" pitchFamily="34" charset="-122"/>
                <a:cs typeface="Roboto Bold" pitchFamily="34" charset="-120"/>
              </a:rPr>
              <a:t>30 seconds</a:t>
            </a:r>
            <a:r>
              <a:rPr lang="en-US" sz="1450" dirty="0">
                <a:solidFill>
                  <a:srgbClr val="3C3939"/>
                </a:solidFill>
                <a:latin typeface="Roboto" pitchFamily="34" charset="0"/>
                <a:ea typeface="Roboto" pitchFamily="34" charset="-122"/>
                <a:cs typeface="Roboto" pitchFamily="34" charset="-120"/>
              </a:rPr>
              <a:t>.</a:t>
            </a:r>
            <a:endParaRPr lang="en-US" sz="1450" dirty="0"/>
          </a:p>
        </p:txBody>
      </p:sp>
      <p:sp>
        <p:nvSpPr>
          <p:cNvPr id="15" name="Shape 11"/>
          <p:cNvSpPr/>
          <p:nvPr/>
        </p:nvSpPr>
        <p:spPr>
          <a:xfrm>
            <a:off x="9029176" y="2491085"/>
            <a:ext cx="2507394" cy="3589635"/>
          </a:xfrm>
          <a:prstGeom prst="roundRect">
            <a:avLst>
              <a:gd name="adj" fmla="val 3166"/>
            </a:avLst>
          </a:prstGeom>
          <a:solidFill>
            <a:srgbClr val="E1E1EA"/>
          </a:solidFill>
          <a:ln w="6350">
            <a:solidFill>
              <a:srgbClr val="C7C7D0"/>
            </a:solidFill>
            <a:prstDash val="solid"/>
          </a:ln>
        </p:spPr>
        <p:txBody>
          <a:bodyPr/>
          <a:lstStyle/>
          <a:p>
            <a:endParaRPr lang="en-US"/>
          </a:p>
        </p:txBody>
      </p:sp>
      <p:sp>
        <p:nvSpPr>
          <p:cNvPr id="16" name="Text 12"/>
          <p:cNvSpPr/>
          <p:nvPr/>
        </p:nvSpPr>
        <p:spPr>
          <a:xfrm>
            <a:off x="9224533" y="2686447"/>
            <a:ext cx="211668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Quantifiable and Atomic</a:t>
            </a:r>
            <a:endParaRPr lang="en-US" sz="1850" dirty="0"/>
          </a:p>
        </p:txBody>
      </p:sp>
      <p:sp>
        <p:nvSpPr>
          <p:cNvPr id="17" name="Text 13"/>
          <p:cNvSpPr/>
          <p:nvPr/>
        </p:nvSpPr>
        <p:spPr>
          <a:xfrm>
            <a:off x="9224533" y="3466009"/>
            <a:ext cx="2116680" cy="2419350"/>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The 30-second SLA is measurable in any test harness. The AND binding enforces atomicity: all three actions must succeed together or roll back together.</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726976"/>
            <a:ext cx="1100209" cy="282674"/>
          </a:xfrm>
          <a:prstGeom prst="roundRect">
            <a:avLst>
              <a:gd name="adj" fmla="val 22117"/>
            </a:avLst>
          </a:prstGeom>
          <a:noFill/>
          <a:ln w="6350">
            <a:solidFill>
              <a:srgbClr val="1B1B27"/>
            </a:solidFill>
            <a:prstDash val="solid"/>
          </a:ln>
        </p:spPr>
        <p:txBody>
          <a:bodyPr/>
          <a:lstStyle/>
          <a:p>
            <a:endParaRPr lang="en-US"/>
          </a:p>
        </p:txBody>
      </p:sp>
      <p:sp>
        <p:nvSpPr>
          <p:cNvPr id="3" name="Text 1"/>
          <p:cNvSpPr/>
          <p:nvPr/>
        </p:nvSpPr>
        <p:spPr>
          <a:xfrm>
            <a:off x="773093" y="782737"/>
            <a:ext cx="1486557" cy="171152"/>
          </a:xfrm>
          <a:prstGeom prst="rect">
            <a:avLst/>
          </a:prstGeom>
          <a:noFill/>
          <a:ln/>
        </p:spPr>
        <p:txBody>
          <a:bodyPr wrap="none" lIns="0" tIns="0" rIns="0" bIns="0" rtlCol="0" anchor="t"/>
          <a:lstStyle/>
          <a:p>
            <a:pPr marL="0" indent="0" algn="l">
              <a:lnSpc>
                <a:spcPct val="96000"/>
              </a:lnSpc>
              <a:buNone/>
            </a:pPr>
            <a:r>
              <a:rPr lang="en-US" sz="1150" dirty="0">
                <a:solidFill>
                  <a:srgbClr val="1B1B27"/>
                </a:solidFill>
                <a:latin typeface="Roboto" pitchFamily="34" charset="0"/>
                <a:ea typeface="Roboto" pitchFamily="34" charset="-122"/>
                <a:cs typeface="Roboto" pitchFamily="34" charset="-120"/>
              </a:rPr>
              <a:t>AUDIT 3 OF 4</a:t>
            </a:r>
            <a:endParaRPr lang="en-US" sz="1150" dirty="0"/>
          </a:p>
        </p:txBody>
      </p:sp>
      <p:sp>
        <p:nvSpPr>
          <p:cNvPr id="4" name="Text 2"/>
          <p:cNvSpPr/>
          <p:nvPr/>
        </p:nvSpPr>
        <p:spPr>
          <a:xfrm>
            <a:off x="661475" y="1082873"/>
            <a:ext cx="10868745" cy="581422"/>
          </a:xfrm>
          <a:prstGeom prst="rect">
            <a:avLst/>
          </a:prstGeom>
          <a:noFill/>
          <a:ln/>
        </p:spPr>
        <p:txBody>
          <a:bodyPr wrap="none" lIns="0" tIns="0" rIns="0" bIns="0" rtlCol="0" anchor="t"/>
          <a:lstStyle/>
          <a:p>
            <a:pPr marL="0" indent="0" algn="l">
              <a:lnSpc>
                <a:spcPct val="104000"/>
              </a:lnSpc>
              <a:buNone/>
            </a:pPr>
            <a:r>
              <a:rPr lang="en-US" sz="3650" dirty="0">
                <a:solidFill>
                  <a:srgbClr val="1B1B27"/>
                </a:solidFill>
                <a:latin typeface="Raleway" pitchFamily="34" charset="0"/>
                <a:ea typeface="Raleway" pitchFamily="34" charset="-122"/>
                <a:cs typeface="Raleway" pitchFamily="34" charset="-120"/>
              </a:rPr>
              <a:t>Front-Desk Notification Requirement</a:t>
            </a:r>
            <a:endParaRPr lang="en-US" sz="3650" dirty="0"/>
          </a:p>
        </p:txBody>
      </p:sp>
      <p:sp>
        <p:nvSpPr>
          <p:cNvPr id="5" name="Text 3"/>
          <p:cNvSpPr/>
          <p:nvPr/>
        </p:nvSpPr>
        <p:spPr>
          <a:xfrm>
            <a:off x="661475" y="1939032"/>
            <a:ext cx="10868745"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3C3939"/>
                </a:solidFill>
                <a:latin typeface="Roboto" pitchFamily="34" charset="0"/>
                <a:ea typeface="Roboto" pitchFamily="34" charset="-122"/>
                <a:cs typeface="Roboto" pitchFamily="34" charset="-120"/>
              </a:rPr>
              <a:t>Displaying a cancelled patient's name on a public reception screen is a PHI exposure event. One approach creates this risk; the other eliminates it by design.</a:t>
            </a:r>
            <a:endParaRPr lang="en-US" sz="1450" dirty="0"/>
          </a:p>
        </p:txBody>
      </p:sp>
      <p:pic>
        <p:nvPicPr>
          <p:cNvPr id="6" name="Image 0" descr="preencoded.png"/>
          <p:cNvPicPr>
            <a:picLocks noChangeAspect="1"/>
          </p:cNvPicPr>
          <p:nvPr/>
        </p:nvPicPr>
        <p:blipFill>
          <a:blip r:embed="rId3"/>
          <a:stretch>
            <a:fillRect/>
          </a:stretch>
        </p:blipFill>
        <p:spPr>
          <a:xfrm>
            <a:off x="661475" y="2735560"/>
            <a:ext cx="3622882" cy="744240"/>
          </a:xfrm>
          <a:prstGeom prst="rect">
            <a:avLst/>
          </a:prstGeom>
        </p:spPr>
      </p:pic>
      <p:sp>
        <p:nvSpPr>
          <p:cNvPr id="7" name="Text 4"/>
          <p:cNvSpPr/>
          <p:nvPr/>
        </p:nvSpPr>
        <p:spPr>
          <a:xfrm>
            <a:off x="847505" y="3662958"/>
            <a:ext cx="3250821" cy="290711"/>
          </a:xfrm>
          <a:prstGeom prst="rect">
            <a:avLst/>
          </a:prstGeom>
          <a:noFill/>
          <a:ln/>
        </p:spPr>
        <p:txBody>
          <a:bodyPr wrap="none" lIns="0" tIns="0" rIns="0" bIns="0" rtlCol="0" anchor="t"/>
          <a:lstStyle/>
          <a:p>
            <a:pPr marL="0" indent="0" algn="l">
              <a:lnSpc>
                <a:spcPct val="104000"/>
              </a:lnSpc>
              <a:buNone/>
            </a:pPr>
            <a:r>
              <a:rPr lang="en-US" sz="1800" dirty="0">
                <a:solidFill>
                  <a:srgbClr val="3C3939"/>
                </a:solidFill>
                <a:latin typeface="Raleway" pitchFamily="34" charset="0"/>
                <a:ea typeface="Raleway" pitchFamily="34" charset="-122"/>
                <a:cs typeface="Raleway" pitchFamily="34" charset="-120"/>
              </a:rPr>
              <a:t>Unguided LLM</a:t>
            </a:r>
            <a:endParaRPr lang="en-US" sz="1800" dirty="0"/>
          </a:p>
        </p:txBody>
      </p:sp>
      <p:sp>
        <p:nvSpPr>
          <p:cNvPr id="8" name="Text 5"/>
          <p:cNvSpPr/>
          <p:nvPr/>
        </p:nvSpPr>
        <p:spPr>
          <a:xfrm>
            <a:off x="847505" y="4063504"/>
            <a:ext cx="3250821" cy="1881485"/>
          </a:xfrm>
          <a:prstGeom prst="rect">
            <a:avLst/>
          </a:prstGeom>
          <a:noFill/>
          <a:ln/>
        </p:spPr>
        <p:txBody>
          <a:bodyPr wrap="square" lIns="0" tIns="0" rIns="0" bIns="0" rtlCol="0" anchor="t">
            <a:normAutofit/>
          </a:bodyPr>
          <a:lstStyle/>
          <a:p>
            <a:pPr marL="0" indent="0" algn="l">
              <a:lnSpc>
                <a:spcPct val="132000"/>
              </a:lnSpc>
              <a:spcAft>
                <a:spcPts val="850"/>
              </a:spcAft>
              <a:buNone/>
            </a:pPr>
            <a:r>
              <a:rPr lang="en-US" sz="1450" dirty="0">
                <a:solidFill>
                  <a:srgbClr val="3C3939"/>
                </a:solidFill>
                <a:latin typeface="Roboto" pitchFamily="34" charset="0"/>
                <a:ea typeface="Roboto" pitchFamily="34" charset="-122"/>
                <a:cs typeface="Roboto" pitchFamily="34" charset="-120"/>
              </a:rPr>
              <a:t>Display freed slot </a:t>
            </a:r>
            <a:r>
              <a:rPr lang="en-US" sz="1450" b="1" dirty="0">
                <a:solidFill>
                  <a:srgbClr val="3C3939"/>
                </a:solidFill>
                <a:latin typeface="Roboto Bold" pitchFamily="34" charset="0"/>
                <a:ea typeface="Roboto Bold" pitchFamily="34" charset="-122"/>
                <a:cs typeface="Roboto Bold" pitchFamily="34" charset="-120"/>
              </a:rPr>
              <a:t>date, time, practitioner name, and cancelled patient name</a:t>
            </a:r>
            <a:r>
              <a:rPr lang="en-US" sz="1450" dirty="0">
                <a:solidFill>
                  <a:srgbClr val="3C3939"/>
                </a:solidFill>
                <a:latin typeface="Roboto" pitchFamily="34" charset="0"/>
                <a:ea typeface="Roboto" pitchFamily="34" charset="-122"/>
                <a:cs typeface="Roboto" pitchFamily="34" charset="-120"/>
              </a:rPr>
              <a:t> on the front-desk screen.</a:t>
            </a:r>
            <a:endParaRPr lang="en-US" sz="1450" dirty="0"/>
          </a:p>
          <a:p>
            <a:pPr marL="0" indent="0" algn="l">
              <a:lnSpc>
                <a:spcPct val="132000"/>
              </a:lnSpc>
              <a:buNone/>
            </a:pPr>
            <a:r>
              <a:rPr lang="en-US" sz="1450" dirty="0">
                <a:solidFill>
                  <a:srgbClr val="3C3939"/>
                </a:solidFill>
                <a:latin typeface="Roboto" pitchFamily="34" charset="0"/>
                <a:ea typeface="Roboto" pitchFamily="34" charset="-122"/>
                <a:cs typeface="Roboto" pitchFamily="34" charset="-120"/>
              </a:rPr>
              <a:t>Patient name is PHI. Visible in a shared reception area, this violates privacy regulations and institutional policy.</a:t>
            </a:r>
            <a:endParaRPr lang="en-US" sz="1450" dirty="0"/>
          </a:p>
        </p:txBody>
      </p:sp>
      <p:pic>
        <p:nvPicPr>
          <p:cNvPr id="9" name="Image 1" descr="preencoded.png"/>
          <p:cNvPicPr>
            <a:picLocks noChangeAspect="1"/>
          </p:cNvPicPr>
          <p:nvPr/>
        </p:nvPicPr>
        <p:blipFill>
          <a:blip r:embed="rId4"/>
          <a:stretch>
            <a:fillRect/>
          </a:stretch>
        </p:blipFill>
        <p:spPr>
          <a:xfrm>
            <a:off x="4284357" y="2735560"/>
            <a:ext cx="3622882" cy="744240"/>
          </a:xfrm>
          <a:prstGeom prst="rect">
            <a:avLst/>
          </a:prstGeom>
        </p:spPr>
      </p:pic>
      <p:sp>
        <p:nvSpPr>
          <p:cNvPr id="10" name="Text 6"/>
          <p:cNvSpPr/>
          <p:nvPr/>
        </p:nvSpPr>
        <p:spPr>
          <a:xfrm>
            <a:off x="4470387" y="3662958"/>
            <a:ext cx="3250821" cy="290711"/>
          </a:xfrm>
          <a:prstGeom prst="rect">
            <a:avLst/>
          </a:prstGeom>
          <a:noFill/>
          <a:ln/>
        </p:spPr>
        <p:txBody>
          <a:bodyPr wrap="none" lIns="0" tIns="0" rIns="0" bIns="0" rtlCol="0" anchor="t"/>
          <a:lstStyle/>
          <a:p>
            <a:pPr marL="0" indent="0" algn="l">
              <a:lnSpc>
                <a:spcPct val="104000"/>
              </a:lnSpc>
              <a:buNone/>
            </a:pPr>
            <a:r>
              <a:rPr lang="en-US" sz="1800" dirty="0">
                <a:solidFill>
                  <a:srgbClr val="3C3939"/>
                </a:solidFill>
                <a:latin typeface="Raleway" pitchFamily="34" charset="0"/>
                <a:ea typeface="Raleway" pitchFamily="34" charset="-122"/>
                <a:cs typeface="Raleway" pitchFamily="34" charset="-120"/>
              </a:rPr>
              <a:t>Agentic Workflow</a:t>
            </a:r>
            <a:endParaRPr lang="en-US" sz="1800" dirty="0"/>
          </a:p>
        </p:txBody>
      </p:sp>
      <p:sp>
        <p:nvSpPr>
          <p:cNvPr id="11" name="Text 7"/>
          <p:cNvSpPr/>
          <p:nvPr/>
        </p:nvSpPr>
        <p:spPr>
          <a:xfrm>
            <a:off x="4470387" y="4063504"/>
            <a:ext cx="3250821" cy="1881485"/>
          </a:xfrm>
          <a:prstGeom prst="rect">
            <a:avLst/>
          </a:prstGeom>
          <a:noFill/>
          <a:ln/>
        </p:spPr>
        <p:txBody>
          <a:bodyPr wrap="square" lIns="0" tIns="0" rIns="0" bIns="0" rtlCol="0" anchor="t">
            <a:normAutofit/>
          </a:bodyPr>
          <a:lstStyle/>
          <a:p>
            <a:pPr marL="0" indent="0" algn="l">
              <a:lnSpc>
                <a:spcPct val="132000"/>
              </a:lnSpc>
              <a:spcAft>
                <a:spcPts val="850"/>
              </a:spcAft>
              <a:buNone/>
            </a:pPr>
            <a:r>
              <a:rPr lang="en-US" sz="1450" dirty="0">
                <a:solidFill>
                  <a:srgbClr val="3C3939"/>
                </a:solidFill>
                <a:latin typeface="Roboto" pitchFamily="34" charset="0"/>
                <a:ea typeface="Roboto" pitchFamily="34" charset="-122"/>
                <a:cs typeface="Roboto" pitchFamily="34" charset="-120"/>
              </a:rPr>
              <a:t>Display freed </a:t>
            </a:r>
            <a:r>
              <a:rPr lang="en-US" sz="1450" b="1" dirty="0">
                <a:solidFill>
                  <a:srgbClr val="3C3939"/>
                </a:solidFill>
                <a:latin typeface="Roboto Bold" pitchFamily="34" charset="0"/>
                <a:ea typeface="Roboto Bold" pitchFamily="34" charset="-122"/>
                <a:cs typeface="Roboto Bold" pitchFamily="34" charset="-120"/>
              </a:rPr>
              <a:t>date, time, and slot duration only</a:t>
            </a:r>
            <a:r>
              <a:rPr lang="en-US" sz="1450" dirty="0">
                <a:solidFill>
                  <a:srgbClr val="3C3939"/>
                </a:solidFill>
                <a:latin typeface="Roboto" pitchFamily="34" charset="0"/>
                <a:ea typeface="Roboto" pitchFamily="34" charset="-122"/>
                <a:cs typeface="Roboto" pitchFamily="34" charset="-120"/>
              </a:rPr>
              <a:t>, within 60 seconds of cancellation.</a:t>
            </a:r>
            <a:endParaRPr lang="en-US" sz="1450" dirty="0"/>
          </a:p>
          <a:p>
            <a:pPr marL="0" indent="0" algn="l">
              <a:lnSpc>
                <a:spcPct val="132000"/>
              </a:lnSpc>
              <a:buNone/>
            </a:pPr>
            <a:r>
              <a:rPr lang="en-US" sz="1450" dirty="0">
                <a:solidFill>
                  <a:srgbClr val="3C3939"/>
                </a:solidFill>
                <a:latin typeface="Roboto" pitchFamily="34" charset="0"/>
                <a:ea typeface="Roboto" pitchFamily="34" charset="-122"/>
                <a:cs typeface="Roboto" pitchFamily="34" charset="-120"/>
              </a:rPr>
              <a:t>No patient identity. No practitioner name. Staff see what they need to act; nothing more is exposed.</a:t>
            </a:r>
            <a:endParaRPr lang="en-US" sz="1450" dirty="0"/>
          </a:p>
        </p:txBody>
      </p:sp>
      <p:pic>
        <p:nvPicPr>
          <p:cNvPr id="12" name="Image 2" descr="preencoded.png"/>
          <p:cNvPicPr>
            <a:picLocks noChangeAspect="1"/>
          </p:cNvPicPr>
          <p:nvPr/>
        </p:nvPicPr>
        <p:blipFill>
          <a:blip r:embed="rId5"/>
          <a:stretch>
            <a:fillRect/>
          </a:stretch>
        </p:blipFill>
        <p:spPr>
          <a:xfrm>
            <a:off x="7907239" y="2735560"/>
            <a:ext cx="3622882" cy="744240"/>
          </a:xfrm>
          <a:prstGeom prst="rect">
            <a:avLst/>
          </a:prstGeom>
        </p:spPr>
      </p:pic>
      <p:sp>
        <p:nvSpPr>
          <p:cNvPr id="13" name="Text 8"/>
          <p:cNvSpPr/>
          <p:nvPr/>
        </p:nvSpPr>
        <p:spPr>
          <a:xfrm>
            <a:off x="8093269" y="3662958"/>
            <a:ext cx="3250821" cy="290711"/>
          </a:xfrm>
          <a:prstGeom prst="rect">
            <a:avLst/>
          </a:prstGeom>
          <a:noFill/>
          <a:ln/>
        </p:spPr>
        <p:txBody>
          <a:bodyPr wrap="none" lIns="0" tIns="0" rIns="0" bIns="0" rtlCol="0" anchor="t"/>
          <a:lstStyle/>
          <a:p>
            <a:pPr marL="0" indent="0" algn="l">
              <a:lnSpc>
                <a:spcPct val="104000"/>
              </a:lnSpc>
              <a:buNone/>
            </a:pPr>
            <a:r>
              <a:rPr lang="en-US" sz="1800" dirty="0">
                <a:solidFill>
                  <a:srgbClr val="3C3939"/>
                </a:solidFill>
                <a:latin typeface="Raleway" pitchFamily="34" charset="0"/>
                <a:ea typeface="Raleway" pitchFamily="34" charset="-122"/>
                <a:cs typeface="Raleway" pitchFamily="34" charset="-120"/>
              </a:rPr>
              <a:t>Compliance Win</a:t>
            </a:r>
            <a:endParaRPr lang="en-US" sz="1800" dirty="0"/>
          </a:p>
        </p:txBody>
      </p:sp>
      <p:sp>
        <p:nvSpPr>
          <p:cNvPr id="14" name="Text 9"/>
          <p:cNvSpPr/>
          <p:nvPr/>
        </p:nvSpPr>
        <p:spPr>
          <a:xfrm>
            <a:off x="8093269" y="4063504"/>
            <a:ext cx="3250821" cy="1476375"/>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3C3939"/>
                </a:solidFill>
                <a:latin typeface="Roboto" pitchFamily="34" charset="0"/>
                <a:ea typeface="Roboto" pitchFamily="34" charset="-122"/>
                <a:cs typeface="Roboto" pitchFamily="34" charset="-120"/>
              </a:rPr>
              <a:t>PHI is kept off public displays entirely. The 60-second SLA keeps the workflow responsive. Both correctness and privacy are enforced at the requirement level, not patched in later.</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50862"/>
            <a:ext cx="960215" cy="246856"/>
          </a:xfrm>
          <a:prstGeom prst="roundRect">
            <a:avLst>
              <a:gd name="adj" fmla="val 22110"/>
            </a:avLst>
          </a:prstGeom>
          <a:noFill/>
          <a:ln w="6350">
            <a:solidFill>
              <a:srgbClr val="1B1B27"/>
            </a:solidFill>
            <a:prstDash val="solid"/>
          </a:ln>
        </p:spPr>
        <p:txBody>
          <a:bodyPr/>
          <a:lstStyle/>
          <a:p>
            <a:endParaRPr lang="en-US"/>
          </a:p>
        </p:txBody>
      </p:sp>
      <p:sp>
        <p:nvSpPr>
          <p:cNvPr id="3" name="Text 1"/>
          <p:cNvSpPr/>
          <p:nvPr/>
        </p:nvSpPr>
        <p:spPr>
          <a:xfrm>
            <a:off x="758905" y="599579"/>
            <a:ext cx="1374939" cy="149423"/>
          </a:xfrm>
          <a:prstGeom prst="rect">
            <a:avLst/>
          </a:prstGeom>
          <a:noFill/>
          <a:ln/>
        </p:spPr>
        <p:txBody>
          <a:bodyPr wrap="none" lIns="0" tIns="0" rIns="0" bIns="0" rtlCol="0" anchor="t"/>
          <a:lstStyle/>
          <a:p>
            <a:pPr marL="0" indent="0" algn="l">
              <a:lnSpc>
                <a:spcPct val="96000"/>
              </a:lnSpc>
              <a:buNone/>
            </a:pPr>
            <a:r>
              <a:rPr lang="en-US" sz="1000" dirty="0">
                <a:solidFill>
                  <a:srgbClr val="1B1B27"/>
                </a:solidFill>
                <a:latin typeface="Roboto" pitchFamily="34" charset="0"/>
                <a:ea typeface="Roboto" pitchFamily="34" charset="-122"/>
                <a:cs typeface="Roboto" pitchFamily="34" charset="-120"/>
              </a:rPr>
              <a:t>AUDIT 4 OF 4</a:t>
            </a:r>
            <a:endParaRPr lang="en-US" sz="1000" dirty="0"/>
          </a:p>
        </p:txBody>
      </p:sp>
      <p:sp>
        <p:nvSpPr>
          <p:cNvPr id="4" name="Text 2"/>
          <p:cNvSpPr/>
          <p:nvPr/>
        </p:nvSpPr>
        <p:spPr>
          <a:xfrm>
            <a:off x="661475" y="853480"/>
            <a:ext cx="10868745" cy="507603"/>
          </a:xfrm>
          <a:prstGeom prst="rect">
            <a:avLst/>
          </a:prstGeom>
          <a:noFill/>
          <a:ln/>
        </p:spPr>
        <p:txBody>
          <a:bodyPr wrap="none" lIns="0" tIns="0" rIns="0" bIns="0" rtlCol="0" anchor="t"/>
          <a:lstStyle/>
          <a:p>
            <a:pPr marL="0" indent="0" algn="l">
              <a:lnSpc>
                <a:spcPct val="104000"/>
              </a:lnSpc>
              <a:buNone/>
            </a:pPr>
            <a:r>
              <a:rPr lang="en-US" sz="3150" dirty="0">
                <a:solidFill>
                  <a:srgbClr val="1B1B27"/>
                </a:solidFill>
                <a:latin typeface="Raleway" pitchFamily="34" charset="0"/>
                <a:ea typeface="Raleway" pitchFamily="34" charset="-122"/>
                <a:cs typeface="Raleway" pitchFamily="34" charset="-120"/>
              </a:rPr>
              <a:t>Workstation Session Security</a:t>
            </a:r>
            <a:endParaRPr lang="en-US" sz="3150" dirty="0"/>
          </a:p>
        </p:txBody>
      </p:sp>
      <p:sp>
        <p:nvSpPr>
          <p:cNvPr id="5" name="Text 3"/>
          <p:cNvSpPr/>
          <p:nvPr/>
        </p:nvSpPr>
        <p:spPr>
          <a:xfrm>
            <a:off x="661475" y="1709936"/>
            <a:ext cx="5236238" cy="253802"/>
          </a:xfrm>
          <a:prstGeom prst="rect">
            <a:avLst/>
          </a:prstGeom>
          <a:noFill/>
          <a:ln/>
        </p:spPr>
        <p:txBody>
          <a:bodyPr wrap="none" lIns="0" tIns="0" rIns="0" bIns="0" rtlCol="0" anchor="t"/>
          <a:lstStyle/>
          <a:p>
            <a:pPr marL="0" indent="0" algn="l">
              <a:lnSpc>
                <a:spcPct val="104000"/>
              </a:lnSpc>
              <a:buNone/>
            </a:pPr>
            <a:r>
              <a:rPr lang="en-US" sz="1550" dirty="0">
                <a:solidFill>
                  <a:srgbClr val="1B1B27"/>
                </a:solidFill>
                <a:latin typeface="Raleway" pitchFamily="34" charset="0"/>
                <a:ea typeface="Raleway" pitchFamily="34" charset="-122"/>
                <a:cs typeface="Raleway" pitchFamily="34" charset="-120"/>
              </a:rPr>
              <a:t>Unguided LLM</a:t>
            </a:r>
            <a:endParaRPr lang="en-US" sz="15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120702"/>
            <a:ext cx="2548370" cy="2682379"/>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13872" y="2258417"/>
            <a:ext cx="243576" cy="243582"/>
          </a:xfrm>
          <a:prstGeom prst="rect">
            <a:avLst/>
          </a:prstGeom>
        </p:spPr>
      </p:pic>
      <p:sp>
        <p:nvSpPr>
          <p:cNvPr id="8" name="Text 4"/>
          <p:cNvSpPr/>
          <p:nvPr/>
        </p:nvSpPr>
        <p:spPr>
          <a:xfrm>
            <a:off x="842941" y="2766516"/>
            <a:ext cx="2185437" cy="507603"/>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3C3939"/>
                </a:solidFill>
                <a:latin typeface="Raleway" pitchFamily="34" charset="0"/>
                <a:ea typeface="Raleway" pitchFamily="34" charset="-122"/>
                <a:cs typeface="Raleway" pitchFamily="34" charset="-120"/>
              </a:rPr>
              <a:t>8-Hour Session Window</a:t>
            </a:r>
            <a:endParaRPr lang="en-US" sz="1550" dirty="0"/>
          </a:p>
        </p:txBody>
      </p:sp>
      <p:sp>
        <p:nvSpPr>
          <p:cNvPr id="9" name="Text 5"/>
          <p:cNvSpPr/>
          <p:nvPr/>
        </p:nvSpPr>
        <p:spPr>
          <a:xfrm>
            <a:off x="842941" y="3413621"/>
            <a:ext cx="2185437" cy="1207988"/>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A session lasting eight hours spans an entire clinical shift. Any unattended workstation during that window is a live, authenticated entry point.</a:t>
            </a:r>
            <a:endParaRPr lang="en-US" sz="12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9343" y="2120702"/>
            <a:ext cx="2548370" cy="2682379"/>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01740" y="2258417"/>
            <a:ext cx="243576" cy="243582"/>
          </a:xfrm>
          <a:prstGeom prst="rect">
            <a:avLst/>
          </a:prstGeom>
        </p:spPr>
      </p:pic>
      <p:sp>
        <p:nvSpPr>
          <p:cNvPr id="12" name="Text 6"/>
          <p:cNvSpPr/>
          <p:nvPr/>
        </p:nvSpPr>
        <p:spPr>
          <a:xfrm>
            <a:off x="3530809" y="2766516"/>
            <a:ext cx="2185437" cy="253802"/>
          </a:xfrm>
          <a:prstGeom prst="rect">
            <a:avLst/>
          </a:prstGeom>
          <a:noFill/>
          <a:ln/>
        </p:spPr>
        <p:txBody>
          <a:bodyPr wrap="none" lIns="0" tIns="0" rIns="0" bIns="0" rtlCol="0" anchor="t"/>
          <a:lstStyle/>
          <a:p>
            <a:pPr marL="0" indent="0" algn="l">
              <a:lnSpc>
                <a:spcPct val="104000"/>
              </a:lnSpc>
              <a:buNone/>
            </a:pPr>
            <a:r>
              <a:rPr lang="en-US" sz="1550" dirty="0">
                <a:solidFill>
                  <a:srgbClr val="3C3939"/>
                </a:solidFill>
                <a:latin typeface="Raleway" pitchFamily="34" charset="0"/>
                <a:ea typeface="Raleway" pitchFamily="34" charset="-122"/>
                <a:cs typeface="Raleway" pitchFamily="34" charset="-120"/>
              </a:rPr>
              <a:t>30-Minute Idle + PIN</a:t>
            </a:r>
            <a:endParaRPr lang="en-US" sz="1550" dirty="0"/>
          </a:p>
        </p:txBody>
      </p:sp>
      <p:sp>
        <p:nvSpPr>
          <p:cNvPr id="13" name="Text 7"/>
          <p:cNvSpPr/>
          <p:nvPr/>
        </p:nvSpPr>
        <p:spPr>
          <a:xfrm>
            <a:off x="3530809" y="3159820"/>
            <a:ext cx="2185437" cy="1449586"/>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Thirty minutes of idle time is long enough to expose patient records. A PIN can be observed by a bystander, leaving shoulder-surfing as a viable attack.</a:t>
            </a:r>
            <a:endParaRPr lang="en-US" sz="1250" dirty="0"/>
          </a:p>
        </p:txBody>
      </p:sp>
      <p:sp>
        <p:nvSpPr>
          <p:cNvPr id="14" name="Shape 8"/>
          <p:cNvSpPr/>
          <p:nvPr/>
        </p:nvSpPr>
        <p:spPr>
          <a:xfrm>
            <a:off x="6183356" y="1570434"/>
            <a:ext cx="5470190" cy="4736604"/>
          </a:xfrm>
          <a:prstGeom prst="roundRect">
            <a:avLst>
              <a:gd name="adj" fmla="val 2469"/>
            </a:avLst>
          </a:prstGeom>
          <a:solidFill>
            <a:srgbClr val="1B1B27">
              <a:alpha val="95000"/>
            </a:srgbClr>
          </a:solidFill>
          <a:ln/>
        </p:spPr>
        <p:txBody>
          <a:bodyPr/>
          <a:lstStyle/>
          <a:p>
            <a:endParaRPr lang="en-US"/>
          </a:p>
        </p:txBody>
      </p:sp>
      <p:sp>
        <p:nvSpPr>
          <p:cNvPr id="15" name="Text 9"/>
          <p:cNvSpPr/>
          <p:nvPr/>
        </p:nvSpPr>
        <p:spPr>
          <a:xfrm>
            <a:off x="6345773" y="1709936"/>
            <a:ext cx="5145356" cy="253802"/>
          </a:xfrm>
          <a:prstGeom prst="rect">
            <a:avLst/>
          </a:prstGeom>
          <a:noFill/>
          <a:ln/>
        </p:spPr>
        <p:txBody>
          <a:bodyPr wrap="none" lIns="0" tIns="0" rIns="0" bIns="0" rtlCol="0" anchor="t"/>
          <a:lstStyle/>
          <a:p>
            <a:pPr marL="0" indent="0" algn="l">
              <a:lnSpc>
                <a:spcPct val="104000"/>
              </a:lnSpc>
              <a:buNone/>
            </a:pPr>
            <a:r>
              <a:rPr lang="en-US" sz="1550" dirty="0">
                <a:solidFill>
                  <a:srgbClr val="FFFFFF"/>
                </a:solidFill>
                <a:latin typeface="Raleway" pitchFamily="34" charset="0"/>
                <a:ea typeface="Raleway" pitchFamily="34" charset="-122"/>
                <a:cs typeface="Raleway" pitchFamily="34" charset="-120"/>
              </a:rPr>
              <a:t>Agentic Workflow</a:t>
            </a:r>
            <a:endParaRPr lang="en-US" sz="1550" dirty="0"/>
          </a:p>
        </p:txBody>
      </p:sp>
      <p:sp>
        <p:nvSpPr>
          <p:cNvPr id="16" name="Shape 10"/>
          <p:cNvSpPr/>
          <p:nvPr/>
        </p:nvSpPr>
        <p:spPr>
          <a:xfrm>
            <a:off x="6345773" y="2120702"/>
            <a:ext cx="2502929" cy="2192635"/>
          </a:xfrm>
          <a:prstGeom prst="roundRect">
            <a:avLst>
              <a:gd name="adj" fmla="val 3112"/>
            </a:avLst>
          </a:prstGeom>
          <a:solidFill>
            <a:srgbClr val="E1E1EA"/>
          </a:solidFill>
          <a:ln w="6350">
            <a:solidFill>
              <a:srgbClr val="C7C7D0"/>
            </a:solidFill>
            <a:prstDash val="solid"/>
          </a:ln>
        </p:spPr>
        <p:txBody>
          <a:bodyPr/>
          <a:lstStyle/>
          <a:p>
            <a:endParaRPr lang="en-US"/>
          </a:p>
        </p:txBody>
      </p:sp>
      <p:sp>
        <p:nvSpPr>
          <p:cNvPr id="17" name="Text 11"/>
          <p:cNvSpPr/>
          <p:nvPr/>
        </p:nvSpPr>
        <p:spPr>
          <a:xfrm>
            <a:off x="6514540" y="2289473"/>
            <a:ext cx="2165395" cy="507603"/>
          </a:xfrm>
          <a:prstGeom prst="rect">
            <a:avLst/>
          </a:prstGeom>
          <a:noFill/>
          <a:ln/>
        </p:spPr>
        <p:txBody>
          <a:bodyPr wrap="square" lIns="0" tIns="0" rIns="0" bIns="0" rtlCol="0" anchor="t">
            <a:normAutofit/>
          </a:bodyPr>
          <a:lstStyle/>
          <a:p>
            <a:pPr marL="0" indent="0" algn="l">
              <a:lnSpc>
                <a:spcPct val="104000"/>
              </a:lnSpc>
              <a:buNone/>
            </a:pPr>
            <a:r>
              <a:rPr lang="en-US" sz="1550" dirty="0">
                <a:solidFill>
                  <a:srgbClr val="000000"/>
                </a:solidFill>
                <a:latin typeface="Raleway" pitchFamily="34" charset="0"/>
                <a:ea typeface="Raleway" pitchFamily="34" charset="-122"/>
                <a:cs typeface="Raleway" pitchFamily="34" charset="-120"/>
              </a:rPr>
              <a:t>60-Minute Max Session</a:t>
            </a:r>
            <a:endParaRPr lang="en-US" sz="1550" dirty="0"/>
          </a:p>
        </p:txBody>
      </p:sp>
      <p:sp>
        <p:nvSpPr>
          <p:cNvPr id="18" name="Text 12"/>
          <p:cNvSpPr/>
          <p:nvPr/>
        </p:nvSpPr>
        <p:spPr>
          <a:xfrm>
            <a:off x="6514540" y="2936577"/>
            <a:ext cx="2165395" cy="1207988"/>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000000"/>
                </a:solidFill>
                <a:latin typeface="Roboto" pitchFamily="34" charset="0"/>
                <a:ea typeface="Roboto" pitchFamily="34" charset="-122"/>
                <a:cs typeface="Roboto" pitchFamily="34" charset="-120"/>
              </a:rPr>
              <a:t>Hard session cap reduces the blast radius of any unattended or compromised workstation to a single clinical hour.</a:t>
            </a:r>
            <a:endParaRPr lang="en-US" sz="1250" dirty="0"/>
          </a:p>
        </p:txBody>
      </p:sp>
      <p:sp>
        <p:nvSpPr>
          <p:cNvPr id="19" name="Shape 13"/>
          <p:cNvSpPr/>
          <p:nvPr/>
        </p:nvSpPr>
        <p:spPr>
          <a:xfrm>
            <a:off x="8988200" y="2120702"/>
            <a:ext cx="2502929" cy="2192635"/>
          </a:xfrm>
          <a:prstGeom prst="roundRect">
            <a:avLst>
              <a:gd name="adj" fmla="val 3112"/>
            </a:avLst>
          </a:prstGeom>
          <a:solidFill>
            <a:srgbClr val="E1E1EA"/>
          </a:solidFill>
          <a:ln w="6350">
            <a:solidFill>
              <a:srgbClr val="C7C7D0"/>
            </a:solidFill>
            <a:prstDash val="solid"/>
          </a:ln>
        </p:spPr>
        <p:txBody>
          <a:bodyPr/>
          <a:lstStyle/>
          <a:p>
            <a:endParaRPr lang="en-US"/>
          </a:p>
        </p:txBody>
      </p:sp>
      <p:sp>
        <p:nvSpPr>
          <p:cNvPr id="20" name="Text 14"/>
          <p:cNvSpPr/>
          <p:nvPr/>
        </p:nvSpPr>
        <p:spPr>
          <a:xfrm>
            <a:off x="9156967" y="2289473"/>
            <a:ext cx="2165395" cy="253802"/>
          </a:xfrm>
          <a:prstGeom prst="rect">
            <a:avLst/>
          </a:prstGeom>
          <a:noFill/>
          <a:ln/>
        </p:spPr>
        <p:txBody>
          <a:bodyPr wrap="none" lIns="0" tIns="0" rIns="0" bIns="0" rtlCol="0" anchor="t"/>
          <a:lstStyle/>
          <a:p>
            <a:pPr marL="0" indent="0" algn="l">
              <a:lnSpc>
                <a:spcPct val="104000"/>
              </a:lnSpc>
              <a:buNone/>
            </a:pPr>
            <a:r>
              <a:rPr lang="en-US" sz="1550" dirty="0">
                <a:solidFill>
                  <a:srgbClr val="000000"/>
                </a:solidFill>
                <a:latin typeface="Raleway" pitchFamily="34" charset="0"/>
                <a:ea typeface="Raleway" pitchFamily="34" charset="-122"/>
                <a:cs typeface="Raleway" pitchFamily="34" charset="-120"/>
              </a:rPr>
              <a:t>15-Minute Idle Timeout</a:t>
            </a:r>
            <a:endParaRPr lang="en-US" sz="1550" dirty="0"/>
          </a:p>
        </p:txBody>
      </p:sp>
      <p:sp>
        <p:nvSpPr>
          <p:cNvPr id="21" name="Text 15"/>
          <p:cNvSpPr/>
          <p:nvPr/>
        </p:nvSpPr>
        <p:spPr>
          <a:xfrm>
            <a:off x="9156967" y="2682776"/>
            <a:ext cx="2165395" cy="1207988"/>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000000"/>
                </a:solidFill>
                <a:latin typeface="Roboto" pitchFamily="34" charset="0"/>
                <a:ea typeface="Roboto" pitchFamily="34" charset="-122"/>
                <a:cs typeface="Roboto" pitchFamily="34" charset="-120"/>
              </a:rPr>
              <a:t>Half the idle window of the unguided approach, cutting the exposure period dramatically during busy periods.</a:t>
            </a:r>
            <a:endParaRPr lang="en-US" sz="1250" dirty="0"/>
          </a:p>
        </p:txBody>
      </p:sp>
      <p:sp>
        <p:nvSpPr>
          <p:cNvPr id="22" name="Shape 16"/>
          <p:cNvSpPr/>
          <p:nvPr/>
        </p:nvSpPr>
        <p:spPr>
          <a:xfrm>
            <a:off x="6345773" y="4452838"/>
            <a:ext cx="5145356" cy="1697236"/>
          </a:xfrm>
          <a:prstGeom prst="roundRect">
            <a:avLst>
              <a:gd name="adj" fmla="val 4020"/>
            </a:avLst>
          </a:prstGeom>
          <a:solidFill>
            <a:srgbClr val="E1E1EA"/>
          </a:solidFill>
          <a:ln w="6350">
            <a:solidFill>
              <a:srgbClr val="C7C7D0"/>
            </a:solidFill>
            <a:prstDash val="solid"/>
          </a:ln>
        </p:spPr>
        <p:txBody>
          <a:bodyPr/>
          <a:lstStyle/>
          <a:p>
            <a:endParaRPr lang="en-US"/>
          </a:p>
        </p:txBody>
      </p:sp>
      <p:sp>
        <p:nvSpPr>
          <p:cNvPr id="23" name="Text 17"/>
          <p:cNvSpPr/>
          <p:nvPr/>
        </p:nvSpPr>
        <p:spPr>
          <a:xfrm>
            <a:off x="6514540" y="4621609"/>
            <a:ext cx="4807822" cy="253802"/>
          </a:xfrm>
          <a:prstGeom prst="rect">
            <a:avLst/>
          </a:prstGeom>
          <a:noFill/>
          <a:ln/>
        </p:spPr>
        <p:txBody>
          <a:bodyPr wrap="none" lIns="0" tIns="0" rIns="0" bIns="0" rtlCol="0" anchor="t"/>
          <a:lstStyle/>
          <a:p>
            <a:pPr marL="0" indent="0" algn="l">
              <a:lnSpc>
                <a:spcPct val="104000"/>
              </a:lnSpc>
              <a:buNone/>
            </a:pPr>
            <a:r>
              <a:rPr lang="en-US" sz="1550" dirty="0">
                <a:solidFill>
                  <a:srgbClr val="000000"/>
                </a:solidFill>
                <a:latin typeface="Raleway" pitchFamily="34" charset="0"/>
                <a:ea typeface="Raleway" pitchFamily="34" charset="-122"/>
                <a:cs typeface="Raleway" pitchFamily="34" charset="-120"/>
              </a:rPr>
              <a:t>RFID Badge Re-Auth</a:t>
            </a:r>
            <a:endParaRPr lang="en-US" sz="1550" dirty="0"/>
          </a:p>
        </p:txBody>
      </p:sp>
      <p:sp>
        <p:nvSpPr>
          <p:cNvPr id="24" name="Text 18"/>
          <p:cNvSpPr/>
          <p:nvPr/>
        </p:nvSpPr>
        <p:spPr>
          <a:xfrm>
            <a:off x="6514540" y="5014913"/>
            <a:ext cx="4807822" cy="966391"/>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000000"/>
                </a:solidFill>
                <a:latin typeface="Roboto" pitchFamily="34" charset="0"/>
                <a:ea typeface="Roboto" pitchFamily="34" charset="-122"/>
                <a:cs typeface="Roboto" pitchFamily="34" charset="-120"/>
              </a:rPr>
              <a:t>Physical badge re-authentication eliminates shoulder-surfing. The credential cannot be observed or replicated by a bystander. Institutional compliance is built into the requirement, not retrofitted.</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825897"/>
            <a:ext cx="10868745" cy="581422"/>
          </a:xfrm>
          <a:prstGeom prst="rect">
            <a:avLst/>
          </a:prstGeom>
          <a:noFill/>
          <a:ln/>
        </p:spPr>
        <p:txBody>
          <a:bodyPr wrap="none" lIns="0" tIns="0" rIns="0" bIns="0" rtlCol="0" anchor="t"/>
          <a:lstStyle/>
          <a:p>
            <a:pPr marL="0" indent="0" algn="ctr">
              <a:lnSpc>
                <a:spcPct val="104000"/>
              </a:lnSpc>
              <a:buNone/>
            </a:pPr>
            <a:r>
              <a:rPr lang="en-US" sz="3650" dirty="0">
                <a:solidFill>
                  <a:srgbClr val="1B1B27"/>
                </a:solidFill>
                <a:latin typeface="Raleway" pitchFamily="34" charset="0"/>
                <a:ea typeface="Raleway" pitchFamily="34" charset="-122"/>
                <a:cs typeface="Raleway" pitchFamily="34" charset="-120"/>
              </a:rPr>
              <a:t>Conclusion: The Power of Agentic Workflow</a:t>
            </a:r>
            <a:endParaRPr lang="en-US" sz="3650" dirty="0"/>
          </a:p>
        </p:txBody>
      </p:sp>
      <p:sp>
        <p:nvSpPr>
          <p:cNvPr id="3" name="Text 1"/>
          <p:cNvSpPr/>
          <p:nvPr/>
        </p:nvSpPr>
        <p:spPr>
          <a:xfrm>
            <a:off x="661475" y="1682055"/>
            <a:ext cx="10868745" cy="802382"/>
          </a:xfrm>
          <a:prstGeom prst="rect">
            <a:avLst/>
          </a:prstGeom>
          <a:noFill/>
          <a:ln/>
        </p:spPr>
        <p:txBody>
          <a:bodyPr wrap="none" lIns="0" tIns="0" rIns="0" bIns="0" rtlCol="0" anchor="t"/>
          <a:lstStyle/>
          <a:p>
            <a:pPr marL="0" indent="0" algn="ctr">
              <a:lnSpc>
                <a:spcPct val="104000"/>
              </a:lnSpc>
              <a:buNone/>
            </a:pPr>
            <a:r>
              <a:rPr lang="en-US" sz="5050" dirty="0">
                <a:solidFill>
                  <a:srgbClr val="1B1B27"/>
                </a:solidFill>
                <a:latin typeface="Raleway" pitchFamily="34" charset="0"/>
                <a:ea typeface="Raleway" pitchFamily="34" charset="-122"/>
                <a:cs typeface="Raleway" pitchFamily="34" charset="-120"/>
              </a:rPr>
              <a:t>Precision. Measurability. Compliance.</a:t>
            </a:r>
            <a:endParaRPr lang="en-US" sz="5050" dirty="0"/>
          </a:p>
        </p:txBody>
      </p:sp>
      <p:sp>
        <p:nvSpPr>
          <p:cNvPr id="4" name="Text 2"/>
          <p:cNvSpPr/>
          <p:nvPr/>
        </p:nvSpPr>
        <p:spPr>
          <a:xfrm>
            <a:off x="661475" y="2759174"/>
            <a:ext cx="10868745" cy="590550"/>
          </a:xfrm>
          <a:prstGeom prst="rect">
            <a:avLst/>
          </a:prstGeom>
          <a:noFill/>
          <a:ln/>
        </p:spPr>
        <p:txBody>
          <a:bodyPr wrap="square" lIns="0" tIns="0" rIns="0" bIns="0" rtlCol="0" anchor="t">
            <a:normAutofit/>
          </a:bodyPr>
          <a:lstStyle/>
          <a:p>
            <a:pPr marL="0" indent="0" algn="ctr">
              <a:lnSpc>
                <a:spcPct val="132000"/>
              </a:lnSpc>
              <a:buNone/>
            </a:pPr>
            <a:r>
              <a:rPr lang="en-US" sz="1450" dirty="0">
                <a:solidFill>
                  <a:srgbClr val="3C3939"/>
                </a:solidFill>
                <a:latin typeface="Roboto" pitchFamily="34" charset="0"/>
                <a:ea typeface="Roboto" pitchFamily="34" charset="-122"/>
                <a:cs typeface="Roboto" pitchFamily="34" charset="-120"/>
              </a:rPr>
              <a:t>Agentic Workflow transforms vague, untestable requirements into operationally precise, measurable, and compliant specifications. This is not a nice-to-have; it is foundational engineering for robust systems, as demonstrated across our audits:</a:t>
            </a:r>
            <a:endParaRPr lang="en-US" sz="1450" dirty="0"/>
          </a:p>
        </p:txBody>
      </p:sp>
      <p:sp>
        <p:nvSpPr>
          <p:cNvPr id="5" name="Shape 3"/>
          <p:cNvSpPr/>
          <p:nvPr/>
        </p:nvSpPr>
        <p:spPr>
          <a:xfrm>
            <a:off x="661475" y="3555702"/>
            <a:ext cx="418593" cy="418604"/>
          </a:xfrm>
          <a:prstGeom prst="roundRect">
            <a:avLst>
              <a:gd name="adj" fmla="val 18669"/>
            </a:avLst>
          </a:prstGeom>
          <a:solidFill>
            <a:srgbClr val="E1E1EA"/>
          </a:solidFill>
          <a:ln w="6350">
            <a:solidFill>
              <a:srgbClr val="C7C7D0"/>
            </a:solidFill>
            <a:prstDash val="solid"/>
          </a:ln>
        </p:spPr>
        <p:txBody>
          <a:bodyPr/>
          <a:lstStyle/>
          <a:p>
            <a:endParaRPr lang="en-US"/>
          </a:p>
        </p:txBody>
      </p:sp>
      <p:sp>
        <p:nvSpPr>
          <p:cNvPr id="6" name="Text 4"/>
          <p:cNvSpPr/>
          <p:nvPr/>
        </p:nvSpPr>
        <p:spPr>
          <a:xfrm>
            <a:off x="1263222" y="3619599"/>
            <a:ext cx="4718130" cy="290711"/>
          </a:xfrm>
          <a:prstGeom prst="rect">
            <a:avLst/>
          </a:prstGeom>
          <a:noFill/>
          <a:ln/>
        </p:spPr>
        <p:txBody>
          <a:bodyPr wrap="none" lIns="0" tIns="0" rIns="0" bIns="0" rtlCol="0" anchor="t"/>
          <a:lstStyle/>
          <a:p>
            <a:pPr marL="0" indent="0" algn="l">
              <a:lnSpc>
                <a:spcPct val="104000"/>
              </a:lnSpc>
              <a:buNone/>
            </a:pPr>
            <a:r>
              <a:rPr lang="en-US" sz="1800" dirty="0">
                <a:solidFill>
                  <a:srgbClr val="3C3939"/>
                </a:solidFill>
                <a:latin typeface="Raleway" pitchFamily="34" charset="0"/>
                <a:ea typeface="Raleway" pitchFamily="34" charset="-122"/>
                <a:cs typeface="Raleway" pitchFamily="34" charset="-120"/>
              </a:rPr>
              <a:t>Prevents Crashes</a:t>
            </a:r>
            <a:endParaRPr lang="en-US" sz="1800" dirty="0"/>
          </a:p>
        </p:txBody>
      </p:sp>
      <p:sp>
        <p:nvSpPr>
          <p:cNvPr id="7" name="Text 5"/>
          <p:cNvSpPr/>
          <p:nvPr/>
        </p:nvSpPr>
        <p:spPr>
          <a:xfrm>
            <a:off x="1263222" y="4020145"/>
            <a:ext cx="4718130"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3C3939"/>
                </a:solidFill>
                <a:latin typeface="Roboto" pitchFamily="34" charset="0"/>
                <a:ea typeface="Roboto" pitchFamily="34" charset="-122"/>
                <a:cs typeface="Roboto" pitchFamily="34" charset="-120"/>
              </a:rPr>
              <a:t>By eliminating ambiguities in critical dispatch schedules, ensuring system stability.</a:t>
            </a:r>
            <a:endParaRPr lang="en-US" sz="1450" dirty="0"/>
          </a:p>
        </p:txBody>
      </p:sp>
      <p:sp>
        <p:nvSpPr>
          <p:cNvPr id="8" name="Shape 6"/>
          <p:cNvSpPr/>
          <p:nvPr/>
        </p:nvSpPr>
        <p:spPr>
          <a:xfrm>
            <a:off x="6210244" y="3555702"/>
            <a:ext cx="418593" cy="418604"/>
          </a:xfrm>
          <a:prstGeom prst="roundRect">
            <a:avLst>
              <a:gd name="adj" fmla="val 18669"/>
            </a:avLst>
          </a:prstGeom>
          <a:solidFill>
            <a:srgbClr val="E1E1EA"/>
          </a:solidFill>
          <a:ln w="6350">
            <a:solidFill>
              <a:srgbClr val="C7C7D0"/>
            </a:solidFill>
            <a:prstDash val="solid"/>
          </a:ln>
        </p:spPr>
        <p:txBody>
          <a:bodyPr/>
          <a:lstStyle/>
          <a:p>
            <a:endParaRPr lang="en-US"/>
          </a:p>
        </p:txBody>
      </p:sp>
      <p:sp>
        <p:nvSpPr>
          <p:cNvPr id="9" name="Text 7"/>
          <p:cNvSpPr/>
          <p:nvPr/>
        </p:nvSpPr>
        <p:spPr>
          <a:xfrm>
            <a:off x="6811991" y="3619599"/>
            <a:ext cx="4718230" cy="290711"/>
          </a:xfrm>
          <a:prstGeom prst="rect">
            <a:avLst/>
          </a:prstGeom>
          <a:noFill/>
          <a:ln/>
        </p:spPr>
        <p:txBody>
          <a:bodyPr wrap="none" lIns="0" tIns="0" rIns="0" bIns="0" rtlCol="0" anchor="t"/>
          <a:lstStyle/>
          <a:p>
            <a:pPr marL="0" indent="0" algn="l">
              <a:lnSpc>
                <a:spcPct val="104000"/>
              </a:lnSpc>
              <a:buNone/>
            </a:pPr>
            <a:r>
              <a:rPr lang="en-US" sz="1800" dirty="0">
                <a:solidFill>
                  <a:srgbClr val="3C3939"/>
                </a:solidFill>
                <a:latin typeface="Raleway" pitchFamily="34" charset="0"/>
                <a:ea typeface="Raleway" pitchFamily="34" charset="-122"/>
                <a:cs typeface="Raleway" pitchFamily="34" charset="-120"/>
              </a:rPr>
              <a:t>Ensures Atomicity</a:t>
            </a:r>
            <a:endParaRPr lang="en-US" sz="1800" dirty="0"/>
          </a:p>
        </p:txBody>
      </p:sp>
      <p:sp>
        <p:nvSpPr>
          <p:cNvPr id="10" name="Text 8"/>
          <p:cNvSpPr/>
          <p:nvPr/>
        </p:nvSpPr>
        <p:spPr>
          <a:xfrm>
            <a:off x="6811991" y="4020145"/>
            <a:ext cx="4718230"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3C3939"/>
                </a:solidFill>
                <a:latin typeface="Roboto" pitchFamily="34" charset="0"/>
                <a:ea typeface="Roboto" pitchFamily="34" charset="-122"/>
                <a:cs typeface="Roboto" pitchFamily="34" charset="-120"/>
              </a:rPr>
              <a:t>By binding multiple actions into single, verifiable operations, preventing partial failures.</a:t>
            </a:r>
            <a:endParaRPr lang="en-US" sz="1450" dirty="0"/>
          </a:p>
        </p:txBody>
      </p:sp>
      <p:sp>
        <p:nvSpPr>
          <p:cNvPr id="11" name="Shape 9"/>
          <p:cNvSpPr/>
          <p:nvPr/>
        </p:nvSpPr>
        <p:spPr>
          <a:xfrm>
            <a:off x="661475" y="4977011"/>
            <a:ext cx="418593" cy="418604"/>
          </a:xfrm>
          <a:prstGeom prst="roundRect">
            <a:avLst>
              <a:gd name="adj" fmla="val 18669"/>
            </a:avLst>
          </a:prstGeom>
          <a:solidFill>
            <a:srgbClr val="E1E1EA"/>
          </a:solidFill>
          <a:ln w="6350">
            <a:solidFill>
              <a:srgbClr val="C7C7D0"/>
            </a:solidFill>
            <a:prstDash val="solid"/>
          </a:ln>
        </p:spPr>
        <p:txBody>
          <a:bodyPr/>
          <a:lstStyle/>
          <a:p>
            <a:endParaRPr lang="en-US"/>
          </a:p>
        </p:txBody>
      </p:sp>
      <p:sp>
        <p:nvSpPr>
          <p:cNvPr id="12" name="Text 10"/>
          <p:cNvSpPr/>
          <p:nvPr/>
        </p:nvSpPr>
        <p:spPr>
          <a:xfrm>
            <a:off x="1263222" y="5040908"/>
            <a:ext cx="4718130" cy="290711"/>
          </a:xfrm>
          <a:prstGeom prst="rect">
            <a:avLst/>
          </a:prstGeom>
          <a:noFill/>
          <a:ln/>
        </p:spPr>
        <p:txBody>
          <a:bodyPr wrap="none" lIns="0" tIns="0" rIns="0" bIns="0" rtlCol="0" anchor="t"/>
          <a:lstStyle/>
          <a:p>
            <a:pPr marL="0" indent="0" algn="l">
              <a:lnSpc>
                <a:spcPct val="104000"/>
              </a:lnSpc>
              <a:buNone/>
            </a:pPr>
            <a:r>
              <a:rPr lang="en-US" sz="1800" dirty="0">
                <a:solidFill>
                  <a:srgbClr val="3C3939"/>
                </a:solidFill>
                <a:latin typeface="Raleway" pitchFamily="34" charset="0"/>
                <a:ea typeface="Raleway" pitchFamily="34" charset="-122"/>
                <a:cs typeface="Raleway" pitchFamily="34" charset="-120"/>
              </a:rPr>
              <a:t>Protects PHI</a:t>
            </a:r>
            <a:endParaRPr lang="en-US" sz="1800" dirty="0"/>
          </a:p>
        </p:txBody>
      </p:sp>
      <p:sp>
        <p:nvSpPr>
          <p:cNvPr id="13" name="Text 11"/>
          <p:cNvSpPr/>
          <p:nvPr/>
        </p:nvSpPr>
        <p:spPr>
          <a:xfrm>
            <a:off x="1263222" y="5441454"/>
            <a:ext cx="4718130"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3C3939"/>
                </a:solidFill>
                <a:latin typeface="Roboto" pitchFamily="34" charset="0"/>
                <a:ea typeface="Roboto" pitchFamily="34" charset="-122"/>
                <a:cs typeface="Roboto" pitchFamily="34" charset="-120"/>
              </a:rPr>
              <a:t>By designing privacy into notification requirements, avoiding sensitive data exposure.</a:t>
            </a:r>
            <a:endParaRPr lang="en-US" sz="1450" dirty="0"/>
          </a:p>
        </p:txBody>
      </p:sp>
      <p:sp>
        <p:nvSpPr>
          <p:cNvPr id="14" name="Shape 12"/>
          <p:cNvSpPr/>
          <p:nvPr/>
        </p:nvSpPr>
        <p:spPr>
          <a:xfrm>
            <a:off x="6210244" y="4977011"/>
            <a:ext cx="418593" cy="418604"/>
          </a:xfrm>
          <a:prstGeom prst="roundRect">
            <a:avLst>
              <a:gd name="adj" fmla="val 18669"/>
            </a:avLst>
          </a:prstGeom>
          <a:solidFill>
            <a:srgbClr val="E1E1EA"/>
          </a:solidFill>
          <a:ln w="6350">
            <a:solidFill>
              <a:srgbClr val="C7C7D0"/>
            </a:solidFill>
            <a:prstDash val="solid"/>
          </a:ln>
        </p:spPr>
        <p:txBody>
          <a:bodyPr/>
          <a:lstStyle/>
          <a:p>
            <a:endParaRPr lang="en-US"/>
          </a:p>
        </p:txBody>
      </p:sp>
      <p:sp>
        <p:nvSpPr>
          <p:cNvPr id="15" name="Text 13"/>
          <p:cNvSpPr/>
          <p:nvPr/>
        </p:nvSpPr>
        <p:spPr>
          <a:xfrm>
            <a:off x="6811991" y="5040908"/>
            <a:ext cx="4718230" cy="290711"/>
          </a:xfrm>
          <a:prstGeom prst="rect">
            <a:avLst/>
          </a:prstGeom>
          <a:noFill/>
          <a:ln/>
        </p:spPr>
        <p:txBody>
          <a:bodyPr wrap="none" lIns="0" tIns="0" rIns="0" bIns="0" rtlCol="0" anchor="t"/>
          <a:lstStyle/>
          <a:p>
            <a:pPr marL="0" indent="0" algn="l">
              <a:lnSpc>
                <a:spcPct val="104000"/>
              </a:lnSpc>
              <a:buNone/>
            </a:pPr>
            <a:r>
              <a:rPr lang="en-US" sz="1800" dirty="0">
                <a:solidFill>
                  <a:srgbClr val="3C3939"/>
                </a:solidFill>
                <a:latin typeface="Raleway" pitchFamily="34" charset="0"/>
                <a:ea typeface="Raleway" pitchFamily="34" charset="-122"/>
                <a:cs typeface="Raleway" pitchFamily="34" charset="-120"/>
              </a:rPr>
              <a:t>Hardens Security</a:t>
            </a:r>
            <a:endParaRPr lang="en-US" sz="1800" dirty="0"/>
          </a:p>
        </p:txBody>
      </p:sp>
      <p:sp>
        <p:nvSpPr>
          <p:cNvPr id="16" name="Text 14"/>
          <p:cNvSpPr/>
          <p:nvPr/>
        </p:nvSpPr>
        <p:spPr>
          <a:xfrm>
            <a:off x="6811991" y="5441454"/>
            <a:ext cx="4718230"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3C3939"/>
                </a:solidFill>
                <a:latin typeface="Roboto" pitchFamily="34" charset="0"/>
                <a:ea typeface="Roboto" pitchFamily="34" charset="-122"/>
                <a:cs typeface="Roboto" pitchFamily="34" charset="-120"/>
              </a:rPr>
              <a:t>By enforcing strict session management and secure re-authentication protocols.</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86512F-3AD0-4137-A290-B360AF07F014}"/>
              </a:ext>
            </a:extLst>
          </p:cNvPr>
          <p:cNvSpPr txBox="1"/>
          <p:nvPr/>
        </p:nvSpPr>
        <p:spPr>
          <a:xfrm>
            <a:off x="4833258" y="870857"/>
            <a:ext cx="4020457" cy="1015663"/>
          </a:xfrm>
          <a:prstGeom prst="rect">
            <a:avLst/>
          </a:prstGeom>
          <a:noFill/>
        </p:spPr>
        <p:txBody>
          <a:bodyPr wrap="square" rtlCol="0">
            <a:spAutoFit/>
          </a:bodyPr>
          <a:lstStyle/>
          <a:p>
            <a:r>
              <a:rPr lang="en-US" sz="6000" dirty="0"/>
              <a:t>(Optional)</a:t>
            </a:r>
          </a:p>
        </p:txBody>
      </p:sp>
      <p:sp>
        <p:nvSpPr>
          <p:cNvPr id="3" name="TextBox 2">
            <a:extLst>
              <a:ext uri="{FF2B5EF4-FFF2-40B4-BE49-F238E27FC236}">
                <a16:creationId xmlns:a16="http://schemas.microsoft.com/office/drawing/2014/main" id="{B3C68263-36F6-4182-E8EA-FDFA69437C2D}"/>
              </a:ext>
            </a:extLst>
          </p:cNvPr>
          <p:cNvSpPr txBox="1"/>
          <p:nvPr/>
        </p:nvSpPr>
        <p:spPr>
          <a:xfrm>
            <a:off x="4383314" y="2921168"/>
            <a:ext cx="6299200" cy="1015663"/>
          </a:xfrm>
          <a:prstGeom prst="rect">
            <a:avLst/>
          </a:prstGeom>
          <a:noFill/>
        </p:spPr>
        <p:txBody>
          <a:bodyPr wrap="square" rtlCol="0">
            <a:spAutoFit/>
          </a:bodyPr>
          <a:lstStyle/>
          <a:p>
            <a:r>
              <a:rPr lang="en-US" sz="6000" dirty="0"/>
              <a:t>Claude setup</a:t>
            </a:r>
          </a:p>
        </p:txBody>
      </p:sp>
    </p:spTree>
    <p:extLst>
      <p:ext uri="{BB962C8B-B14F-4D97-AF65-F5344CB8AC3E}">
        <p14:creationId xmlns:p14="http://schemas.microsoft.com/office/powerpoint/2010/main" val="3521888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4097E6-6E45-53EA-792C-ED8AE9ED1F4D}"/>
              </a:ext>
            </a:extLst>
          </p:cNvPr>
          <p:cNvPicPr>
            <a:picLocks noChangeAspect="1"/>
          </p:cNvPicPr>
          <p:nvPr/>
        </p:nvPicPr>
        <p:blipFill>
          <a:blip r:embed="rId2"/>
          <a:stretch>
            <a:fillRect/>
          </a:stretch>
        </p:blipFill>
        <p:spPr>
          <a:xfrm>
            <a:off x="0" y="23116"/>
            <a:ext cx="9239250" cy="6834884"/>
          </a:xfrm>
          <a:prstGeom prst="rect">
            <a:avLst/>
          </a:prstGeom>
        </p:spPr>
      </p:pic>
    </p:spTree>
    <p:extLst>
      <p:ext uri="{BB962C8B-B14F-4D97-AF65-F5344CB8AC3E}">
        <p14:creationId xmlns:p14="http://schemas.microsoft.com/office/powerpoint/2010/main" val="1090557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0B2285-265D-5DC9-1626-FCB78AD11321}"/>
              </a:ext>
            </a:extLst>
          </p:cNvPr>
          <p:cNvSpPr txBox="1"/>
          <p:nvPr/>
        </p:nvSpPr>
        <p:spPr>
          <a:xfrm>
            <a:off x="3048000" y="450131"/>
            <a:ext cx="6096000" cy="584775"/>
          </a:xfrm>
          <a:prstGeom prst="rect">
            <a:avLst/>
          </a:prstGeom>
          <a:noFill/>
        </p:spPr>
        <p:txBody>
          <a:bodyPr wrap="square">
            <a:spAutoFit/>
          </a:bodyPr>
          <a:lstStyle/>
          <a:p>
            <a:r>
              <a:rPr lang="en-US" sz="3200" b="1" dirty="0">
                <a:solidFill>
                  <a:schemeClr val="tx1"/>
                </a:solidFill>
                <a:effectLst/>
                <a:latin typeface="+mn-lt"/>
                <a:ea typeface="MS Mincho" panose="02020609040205080304" pitchFamily="49" charset="-128"/>
                <a:cs typeface="Times New Roman" panose="02020603050405020304" pitchFamily="18" charset="0"/>
              </a:rPr>
              <a:t>File-by-File Functional Breakdown</a:t>
            </a:r>
            <a:endParaRPr lang="en-US" sz="3200" dirty="0"/>
          </a:p>
        </p:txBody>
      </p:sp>
      <p:sp>
        <p:nvSpPr>
          <p:cNvPr id="7" name="TextBox 6">
            <a:extLst>
              <a:ext uri="{FF2B5EF4-FFF2-40B4-BE49-F238E27FC236}">
                <a16:creationId xmlns:a16="http://schemas.microsoft.com/office/drawing/2014/main" id="{2D5B632E-D9DD-5632-CDC1-6A8EAD6B8AC5}"/>
              </a:ext>
            </a:extLst>
          </p:cNvPr>
          <p:cNvSpPr txBox="1"/>
          <p:nvPr/>
        </p:nvSpPr>
        <p:spPr>
          <a:xfrm>
            <a:off x="1485900" y="1756385"/>
            <a:ext cx="10210800" cy="3241913"/>
          </a:xfrm>
          <a:prstGeom prst="rect">
            <a:avLst/>
          </a:prstGeom>
          <a:noFill/>
        </p:spPr>
        <p:txBody>
          <a:bodyPr wrap="square">
            <a:spAutoFit/>
          </a:bodyPr>
          <a:lstStyle/>
          <a:p>
            <a:pPr marL="228600" marR="0">
              <a:lnSpc>
                <a:spcPct val="100000"/>
              </a:lnSpc>
              <a:spcAft>
                <a:spcPts val="4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 protect-evidence.sh: </a:t>
            </a:r>
            <a:br>
              <a:rPr lang="en-US" sz="1800" b="1" dirty="0">
                <a:solidFill>
                  <a:schemeClr val="tx1"/>
                </a:solidFill>
                <a:effectLst/>
                <a:latin typeface="+mn-lt"/>
                <a:ea typeface="MS Mincho" panose="02020609040205080304" pitchFamily="49" charset="-128"/>
                <a:cs typeface="Times New Roman" panose="02020603050405020304" pitchFamily="18" charset="0"/>
              </a:rPr>
            </a:br>
            <a:r>
              <a:rPr lang="en-US" sz="1800" dirty="0">
                <a:solidFill>
                  <a:schemeClr val="tx1"/>
                </a:solidFill>
                <a:effectLst/>
                <a:latin typeface="+mn-lt"/>
                <a:ea typeface="MS Mincho" panose="02020609040205080304" pitchFamily="49" charset="-128"/>
                <a:cs typeface="Times New Roman" panose="02020603050405020304" pitchFamily="18" charset="0"/>
              </a:rPr>
              <a:t>A deterministic </a:t>
            </a:r>
            <a:r>
              <a:rPr lang="en-US" sz="1800" dirty="0" err="1">
                <a:solidFill>
                  <a:schemeClr val="tx1"/>
                </a:solidFill>
                <a:effectLst/>
                <a:latin typeface="+mn-lt"/>
                <a:ea typeface="MS Mincho" panose="02020609040205080304" pitchFamily="49" charset="-128"/>
                <a:cs typeface="Times New Roman" panose="02020603050405020304" pitchFamily="18" charset="0"/>
              </a:rPr>
              <a:t>PreToolUse</a:t>
            </a:r>
            <a:r>
              <a:rPr lang="en-US" sz="1800" dirty="0">
                <a:solidFill>
                  <a:schemeClr val="tx1"/>
                </a:solidFill>
                <a:effectLst/>
                <a:latin typeface="+mn-lt"/>
                <a:ea typeface="MS Mincho" panose="02020609040205080304" pitchFamily="49" charset="-128"/>
                <a:cs typeface="Times New Roman" panose="02020603050405020304" pitchFamily="18" charset="0"/>
              </a:rPr>
              <a:t> Bash hook. It intercepts editing commands on the 'evidence/' directory and terminates the transaction with an error. This prevents agents from silently modifying the raw transcripts to resolve citation failures.</a:t>
            </a:r>
          </a:p>
          <a:p>
            <a:pPr marL="228600" marR="0">
              <a:lnSpc>
                <a:spcPct val="100000"/>
              </a:lnSpc>
              <a:spcAft>
                <a:spcPts val="4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 requirements.md: </a:t>
            </a:r>
            <a:br>
              <a:rPr lang="en-US" sz="1800" b="1" dirty="0">
                <a:solidFill>
                  <a:schemeClr val="tx1"/>
                </a:solidFill>
                <a:effectLst/>
                <a:latin typeface="+mn-lt"/>
                <a:ea typeface="MS Mincho" panose="02020609040205080304" pitchFamily="49" charset="-128"/>
                <a:cs typeface="Times New Roman" panose="02020603050405020304" pitchFamily="18" charset="0"/>
              </a:rPr>
            </a:br>
            <a:r>
              <a:rPr lang="en-US" sz="1800" dirty="0">
                <a:solidFill>
                  <a:schemeClr val="tx1"/>
                </a:solidFill>
                <a:effectLst/>
                <a:latin typeface="+mn-lt"/>
                <a:ea typeface="MS Mincho" panose="02020609040205080304" pitchFamily="49" charset="-128"/>
                <a:cs typeface="Times New Roman" panose="02020603050405020304" pitchFamily="18" charset="0"/>
              </a:rPr>
              <a:t>A path-scoped rules config. It restricts edits under 'requirements/**/*.md' to ensure that every requirement file is automatically structured around the five logical EARS patterns and lacks non-verifiable adjectives.</a:t>
            </a:r>
          </a:p>
          <a:p>
            <a:pPr marL="228600" marR="0">
              <a:lnSpc>
                <a:spcPct val="100000"/>
              </a:lnSpc>
              <a:spcAft>
                <a:spcPts val="4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 SKILL.md: </a:t>
            </a:r>
            <a:br>
              <a:rPr lang="en-US" sz="1800" b="1" dirty="0">
                <a:solidFill>
                  <a:schemeClr val="tx1"/>
                </a:solidFill>
                <a:effectLst/>
                <a:latin typeface="+mn-lt"/>
                <a:ea typeface="MS Mincho" panose="02020609040205080304" pitchFamily="49" charset="-128"/>
                <a:cs typeface="Times New Roman" panose="02020603050405020304" pitchFamily="18" charset="0"/>
              </a:rPr>
            </a:br>
            <a:r>
              <a:rPr lang="en-US" sz="1800" dirty="0">
                <a:solidFill>
                  <a:schemeClr val="tx1"/>
                </a:solidFill>
                <a:effectLst/>
                <a:latin typeface="+mn-lt"/>
                <a:ea typeface="MS Mincho" panose="02020609040205080304" pitchFamily="49" charset="-128"/>
                <a:cs typeface="Times New Roman" panose="02020603050405020304" pitchFamily="18" charset="0"/>
              </a:rPr>
              <a:t>An agentic procedure file defining candidate elicitation routines. It forces the model to ignore interviewer prompts and extract potential requirements backed strictly by verbatim human quotes.</a:t>
            </a:r>
            <a:endParaRPr lang="en-US" sz="1100" dirty="0">
              <a:solidFill>
                <a:srgbClr val="333333"/>
              </a:solidFill>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323765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BE0BC-5435-37FA-1D7C-2D0298D10B4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28DA3B4-69A3-4D14-B957-6AF86F375DC6}"/>
              </a:ext>
            </a:extLst>
          </p:cNvPr>
          <p:cNvSpPr txBox="1"/>
          <p:nvPr/>
        </p:nvSpPr>
        <p:spPr>
          <a:xfrm>
            <a:off x="209550" y="1166842"/>
            <a:ext cx="11772900" cy="4524315"/>
          </a:xfrm>
          <a:prstGeom prst="rect">
            <a:avLst/>
          </a:prstGeom>
          <a:noFill/>
        </p:spPr>
        <p:txBody>
          <a:bodyPr wrap="square">
            <a:spAutoFit/>
          </a:bodyPr>
          <a:lstStyle/>
          <a:p>
            <a:r>
              <a:rPr lang="en-US" b="1" dirty="0"/>
              <a:t>• </a:t>
            </a:r>
            <a:r>
              <a:rPr lang="en-US" b="1" dirty="0" err="1"/>
              <a:t>settings.json</a:t>
            </a:r>
            <a:r>
              <a:rPr lang="en-US" b="1" dirty="0"/>
              <a:t>: </a:t>
            </a:r>
          </a:p>
          <a:p>
            <a:r>
              <a:rPr lang="en-US" dirty="0"/>
              <a:t>Integrates environment control hooks. It registers 'protect-evidence.sh' to trigger before tool executions and triggers the Python validation script instantly after any markdown changes are written.</a:t>
            </a:r>
          </a:p>
          <a:p>
            <a:r>
              <a:rPr lang="en-US" b="1" dirty="0"/>
              <a:t>• requirements-</a:t>
            </a:r>
            <a:r>
              <a:rPr lang="en-US" b="1" dirty="0" err="1"/>
              <a:t>ci.yml</a:t>
            </a:r>
            <a:r>
              <a:rPr lang="en-US" b="1" dirty="0"/>
              <a:t>: </a:t>
            </a:r>
          </a:p>
          <a:p>
            <a:endParaRPr lang="en-US" b="1" dirty="0"/>
          </a:p>
          <a:p>
            <a:r>
              <a:rPr lang="en-US" dirty="0"/>
              <a:t>An automated integration pipeline executing on GitHub Actions. It acts as a final repository firewall, compiling the requirements and terminating the build if a developer pushes a requirements file containing untestable adjectives, mismatched citations, or broken structures.</a:t>
            </a:r>
          </a:p>
          <a:p>
            <a:endParaRPr lang="en-US" dirty="0"/>
          </a:p>
          <a:p>
            <a:r>
              <a:rPr lang="en-US" b="1" dirty="0"/>
              <a:t>• receptionist.md: </a:t>
            </a:r>
          </a:p>
          <a:p>
            <a:r>
              <a:rPr lang="en-US" dirty="0"/>
              <a:t>A line-numbered, read-only markdown file hosting the transcript of the interview with senior receptionist R. Malik. It serves as the immutable audit source of truth for the entire specification suite.</a:t>
            </a:r>
          </a:p>
          <a:p>
            <a:endParaRPr lang="en-US" dirty="0"/>
          </a:p>
          <a:p>
            <a:r>
              <a:rPr lang="en-US" b="1" dirty="0"/>
              <a:t>• _</a:t>
            </a:r>
            <a:r>
              <a:rPr lang="en-US" b="1" dirty="0" err="1"/>
              <a:t>schema.json</a:t>
            </a:r>
            <a:r>
              <a:rPr lang="en-US" b="1" dirty="0"/>
              <a:t>: </a:t>
            </a:r>
          </a:p>
          <a:p>
            <a:r>
              <a:rPr lang="en-US" dirty="0"/>
              <a:t>A rigorous draft-07 JSON schema. It restricts the metadata block of requirement markdown files to prevent agents from skipping mandatory tracking properties such as IDs, confidence ratings, and source ranges.</a:t>
            </a:r>
          </a:p>
        </p:txBody>
      </p:sp>
    </p:spTree>
    <p:extLst>
      <p:ext uri="{BB962C8B-B14F-4D97-AF65-F5344CB8AC3E}">
        <p14:creationId xmlns:p14="http://schemas.microsoft.com/office/powerpoint/2010/main" val="3970846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CBE00-FAAF-443E-A5EA-C3E8BD052D6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871EB80-FB9C-C2B2-3F3E-E6073609CD71}"/>
              </a:ext>
            </a:extLst>
          </p:cNvPr>
          <p:cNvSpPr txBox="1"/>
          <p:nvPr/>
        </p:nvSpPr>
        <p:spPr>
          <a:xfrm>
            <a:off x="971550" y="1756384"/>
            <a:ext cx="10725150" cy="3416320"/>
          </a:xfrm>
          <a:prstGeom prst="rect">
            <a:avLst/>
          </a:prstGeom>
          <a:noFill/>
        </p:spPr>
        <p:txBody>
          <a:bodyPr wrap="square">
            <a:spAutoFit/>
          </a:bodyPr>
          <a:lstStyle/>
          <a:p>
            <a:r>
              <a:rPr lang="en-US" b="1" dirty="0"/>
              <a:t>• lint-requirements.py: </a:t>
            </a:r>
          </a:p>
          <a:p>
            <a:r>
              <a:rPr lang="en-US" dirty="0"/>
              <a:t>A robust Python testing script. It extracts frontmatter metadata, validates it against the JSON schema, enforces strict modal parameters, checks for duplicate IDs, and performs a character-by-character regex audit to prove that every quoted transcript reference matches the raw source on disk.</a:t>
            </a:r>
          </a:p>
          <a:p>
            <a:endParaRPr lang="en-US" dirty="0"/>
          </a:p>
          <a:p>
            <a:r>
              <a:rPr lang="en-US" b="1" dirty="0"/>
              <a:t>• AGENTS.md: </a:t>
            </a:r>
          </a:p>
          <a:p>
            <a:r>
              <a:rPr lang="en-US" dirty="0"/>
              <a:t>Sets up operational contracts dividing requirements engineering between an 'Elicitor Agent' (focused on citation harvesting and quote verification) and a 'Specifier Agent' (focused on formal EARS compiling).</a:t>
            </a:r>
          </a:p>
          <a:p>
            <a:endParaRPr lang="en-US" dirty="0"/>
          </a:p>
          <a:p>
            <a:r>
              <a:rPr lang="en-US" b="1" dirty="0"/>
              <a:t>• CLAUDE.md: </a:t>
            </a:r>
          </a:p>
          <a:p>
            <a:r>
              <a:rPr lang="en-US" dirty="0"/>
              <a:t>The project developer environment guide, establishing the command definitions for building, testing, linting, and running automated requirements checks.</a:t>
            </a:r>
          </a:p>
        </p:txBody>
      </p:sp>
    </p:spTree>
    <p:extLst>
      <p:ext uri="{BB962C8B-B14F-4D97-AF65-F5344CB8AC3E}">
        <p14:creationId xmlns:p14="http://schemas.microsoft.com/office/powerpoint/2010/main" val="3720732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0BE86-AA3E-359F-2E39-CB059375FFD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2E43608-DCD5-0B0E-CED6-3A3A9FBCE0A4}"/>
              </a:ext>
            </a:extLst>
          </p:cNvPr>
          <p:cNvSpPr txBox="1"/>
          <p:nvPr/>
        </p:nvSpPr>
        <p:spPr>
          <a:xfrm>
            <a:off x="3200400" y="1192470"/>
            <a:ext cx="6096000" cy="369332"/>
          </a:xfrm>
          <a:prstGeom prst="rect">
            <a:avLst/>
          </a:prstGeom>
          <a:noFill/>
        </p:spPr>
        <p:txBody>
          <a:bodyPr wrap="square">
            <a:spAutoFit/>
          </a:bodyPr>
          <a:lstStyle/>
          <a:p>
            <a:r>
              <a:rPr lang="en-US" b="1" dirty="0"/>
              <a:t>The Raw Immutable Stakeholder Interview</a:t>
            </a:r>
            <a:endParaRPr lang="en-US" sz="3200" dirty="0"/>
          </a:p>
        </p:txBody>
      </p:sp>
      <p:sp>
        <p:nvSpPr>
          <p:cNvPr id="3" name="TextBox 2">
            <a:extLst>
              <a:ext uri="{FF2B5EF4-FFF2-40B4-BE49-F238E27FC236}">
                <a16:creationId xmlns:a16="http://schemas.microsoft.com/office/drawing/2014/main" id="{43AEE100-1D57-3740-BF03-107B9A3C3202}"/>
              </a:ext>
            </a:extLst>
          </p:cNvPr>
          <p:cNvSpPr txBox="1"/>
          <p:nvPr/>
        </p:nvSpPr>
        <p:spPr>
          <a:xfrm>
            <a:off x="3200400" y="450131"/>
            <a:ext cx="6096000" cy="369332"/>
          </a:xfrm>
          <a:prstGeom prst="rect">
            <a:avLst/>
          </a:prstGeom>
          <a:noFill/>
        </p:spPr>
        <p:txBody>
          <a:bodyPr wrap="square">
            <a:spAutoFit/>
          </a:bodyPr>
          <a:lstStyle/>
          <a:p>
            <a:r>
              <a:rPr lang="en-US" b="1" dirty="0"/>
              <a:t>EXAMPLE:</a:t>
            </a:r>
            <a:endParaRPr lang="en-US" sz="3200" dirty="0"/>
          </a:p>
        </p:txBody>
      </p:sp>
      <p:pic>
        <p:nvPicPr>
          <p:cNvPr id="6" name="Picture 5">
            <a:extLst>
              <a:ext uri="{FF2B5EF4-FFF2-40B4-BE49-F238E27FC236}">
                <a16:creationId xmlns:a16="http://schemas.microsoft.com/office/drawing/2014/main" id="{018DF47C-E11E-5E41-1120-BE0A5367FFF5}"/>
              </a:ext>
            </a:extLst>
          </p:cNvPr>
          <p:cNvPicPr>
            <a:picLocks noChangeAspect="1"/>
          </p:cNvPicPr>
          <p:nvPr/>
        </p:nvPicPr>
        <p:blipFill>
          <a:blip r:embed="rId2"/>
          <a:stretch>
            <a:fillRect/>
          </a:stretch>
        </p:blipFill>
        <p:spPr>
          <a:xfrm>
            <a:off x="-1" y="1558127"/>
            <a:ext cx="12192001" cy="4214946"/>
          </a:xfrm>
          <a:prstGeom prst="rect">
            <a:avLst/>
          </a:prstGeom>
        </p:spPr>
      </p:pic>
    </p:spTree>
    <p:extLst>
      <p:ext uri="{BB962C8B-B14F-4D97-AF65-F5344CB8AC3E}">
        <p14:creationId xmlns:p14="http://schemas.microsoft.com/office/powerpoint/2010/main" val="15740342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1206D-0769-E125-280D-32718C367D5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7DBD69D-D947-9C2A-CD9D-134E2BA7CB97}"/>
              </a:ext>
            </a:extLst>
          </p:cNvPr>
          <p:cNvSpPr txBox="1"/>
          <p:nvPr/>
        </p:nvSpPr>
        <p:spPr>
          <a:xfrm>
            <a:off x="3200400" y="1192470"/>
            <a:ext cx="6096000" cy="369332"/>
          </a:xfrm>
          <a:prstGeom prst="rect">
            <a:avLst/>
          </a:prstGeom>
          <a:noFill/>
        </p:spPr>
        <p:txBody>
          <a:bodyPr wrap="square">
            <a:spAutoFit/>
          </a:bodyPr>
          <a:lstStyle/>
          <a:p>
            <a:r>
              <a:rPr lang="en-US" b="1" dirty="0"/>
              <a:t>Side-by-Side Comparative Audits</a:t>
            </a:r>
            <a:endParaRPr lang="en-US" sz="3200" dirty="0"/>
          </a:p>
        </p:txBody>
      </p:sp>
      <p:sp>
        <p:nvSpPr>
          <p:cNvPr id="3" name="TextBox 2">
            <a:extLst>
              <a:ext uri="{FF2B5EF4-FFF2-40B4-BE49-F238E27FC236}">
                <a16:creationId xmlns:a16="http://schemas.microsoft.com/office/drawing/2014/main" id="{A17FD0B2-D669-F662-4C18-44BB3E2031E4}"/>
              </a:ext>
            </a:extLst>
          </p:cNvPr>
          <p:cNvSpPr txBox="1"/>
          <p:nvPr/>
        </p:nvSpPr>
        <p:spPr>
          <a:xfrm>
            <a:off x="3200400" y="450131"/>
            <a:ext cx="6096000" cy="369332"/>
          </a:xfrm>
          <a:prstGeom prst="rect">
            <a:avLst/>
          </a:prstGeom>
          <a:noFill/>
        </p:spPr>
        <p:txBody>
          <a:bodyPr wrap="square">
            <a:spAutoFit/>
          </a:bodyPr>
          <a:lstStyle/>
          <a:p>
            <a:r>
              <a:rPr lang="en-US" b="1" dirty="0"/>
              <a:t>UNGUIDED LLM VS AGENTIC RE:</a:t>
            </a:r>
            <a:endParaRPr lang="en-US" sz="3200" dirty="0"/>
          </a:p>
        </p:txBody>
      </p:sp>
      <p:pic>
        <p:nvPicPr>
          <p:cNvPr id="4" name="Picture 3">
            <a:extLst>
              <a:ext uri="{FF2B5EF4-FFF2-40B4-BE49-F238E27FC236}">
                <a16:creationId xmlns:a16="http://schemas.microsoft.com/office/drawing/2014/main" id="{61A10D67-1971-F05B-5EC1-0C458006F6EE}"/>
              </a:ext>
            </a:extLst>
          </p:cNvPr>
          <p:cNvPicPr>
            <a:picLocks noChangeAspect="1"/>
          </p:cNvPicPr>
          <p:nvPr/>
        </p:nvPicPr>
        <p:blipFill>
          <a:blip r:embed="rId2"/>
          <a:stretch>
            <a:fillRect/>
          </a:stretch>
        </p:blipFill>
        <p:spPr>
          <a:xfrm>
            <a:off x="577293" y="1771352"/>
            <a:ext cx="10743638" cy="4846067"/>
          </a:xfrm>
          <a:prstGeom prst="rect">
            <a:avLst/>
          </a:prstGeom>
        </p:spPr>
      </p:pic>
    </p:spTree>
    <p:extLst>
      <p:ext uri="{BB962C8B-B14F-4D97-AF65-F5344CB8AC3E}">
        <p14:creationId xmlns:p14="http://schemas.microsoft.com/office/powerpoint/2010/main" val="2973882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CA13FA-60A4-0804-618D-7664B8CBA8EE}"/>
              </a:ext>
            </a:extLst>
          </p:cNvPr>
          <p:cNvPicPr>
            <a:picLocks noChangeAspect="1"/>
          </p:cNvPicPr>
          <p:nvPr/>
        </p:nvPicPr>
        <p:blipFill>
          <a:blip r:embed="rId2"/>
          <a:stretch>
            <a:fillRect/>
          </a:stretch>
        </p:blipFill>
        <p:spPr>
          <a:xfrm>
            <a:off x="0" y="1028700"/>
            <a:ext cx="12192000" cy="4800600"/>
          </a:xfrm>
          <a:prstGeom prst="rect">
            <a:avLst/>
          </a:prstGeom>
        </p:spPr>
      </p:pic>
    </p:spTree>
    <p:extLst>
      <p:ext uri="{BB962C8B-B14F-4D97-AF65-F5344CB8AC3E}">
        <p14:creationId xmlns:p14="http://schemas.microsoft.com/office/powerpoint/2010/main" val="20323508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4F5B29-D64C-2EFC-B1AC-CE55B94C503A}"/>
              </a:ext>
            </a:extLst>
          </p:cNvPr>
          <p:cNvPicPr>
            <a:picLocks noChangeAspect="1"/>
          </p:cNvPicPr>
          <p:nvPr/>
        </p:nvPicPr>
        <p:blipFill>
          <a:blip r:embed="rId2"/>
          <a:stretch>
            <a:fillRect/>
          </a:stretch>
        </p:blipFill>
        <p:spPr>
          <a:xfrm>
            <a:off x="132920" y="507805"/>
            <a:ext cx="12059080" cy="5778695"/>
          </a:xfrm>
          <a:prstGeom prst="rect">
            <a:avLst/>
          </a:prstGeom>
        </p:spPr>
      </p:pic>
    </p:spTree>
    <p:extLst>
      <p:ext uri="{BB962C8B-B14F-4D97-AF65-F5344CB8AC3E}">
        <p14:creationId xmlns:p14="http://schemas.microsoft.com/office/powerpoint/2010/main" val="3435467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C9CA4B-9FA2-1844-826E-833C5436ED56}"/>
              </a:ext>
            </a:extLst>
          </p:cNvPr>
          <p:cNvPicPr>
            <a:picLocks noChangeAspect="1"/>
          </p:cNvPicPr>
          <p:nvPr/>
        </p:nvPicPr>
        <p:blipFill>
          <a:blip r:embed="rId2"/>
          <a:stretch>
            <a:fillRect/>
          </a:stretch>
        </p:blipFill>
        <p:spPr>
          <a:xfrm>
            <a:off x="0" y="692310"/>
            <a:ext cx="12066832" cy="5556090"/>
          </a:xfrm>
          <a:prstGeom prst="rect">
            <a:avLst/>
          </a:prstGeom>
        </p:spPr>
      </p:pic>
    </p:spTree>
    <p:extLst>
      <p:ext uri="{BB962C8B-B14F-4D97-AF65-F5344CB8AC3E}">
        <p14:creationId xmlns:p14="http://schemas.microsoft.com/office/powerpoint/2010/main" val="2087178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3DB3C-4637-08B5-7C70-6A69EDCD54D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8C47610-F61D-D4A8-3F52-191576C437C4}"/>
              </a:ext>
            </a:extLst>
          </p:cNvPr>
          <p:cNvSpPr txBox="1"/>
          <p:nvPr/>
        </p:nvSpPr>
        <p:spPr>
          <a:xfrm>
            <a:off x="2266950" y="479793"/>
            <a:ext cx="7658100" cy="646331"/>
          </a:xfrm>
          <a:prstGeom prst="rect">
            <a:avLst/>
          </a:prstGeom>
          <a:noFill/>
        </p:spPr>
        <p:txBody>
          <a:bodyPr wrap="square">
            <a:spAutoFit/>
          </a:bodyPr>
          <a:lstStyle/>
          <a:p>
            <a:r>
              <a:rPr lang="en-US" sz="3600" b="1" dirty="0"/>
              <a:t>Summary &amp; Engineering Conclusion</a:t>
            </a:r>
          </a:p>
        </p:txBody>
      </p:sp>
      <p:sp>
        <p:nvSpPr>
          <p:cNvPr id="7" name="TextBox 6">
            <a:extLst>
              <a:ext uri="{FF2B5EF4-FFF2-40B4-BE49-F238E27FC236}">
                <a16:creationId xmlns:a16="http://schemas.microsoft.com/office/drawing/2014/main" id="{CFF89190-3B10-DAFC-7C7C-43C573F50F5E}"/>
              </a:ext>
            </a:extLst>
          </p:cNvPr>
          <p:cNvSpPr txBox="1"/>
          <p:nvPr/>
        </p:nvSpPr>
        <p:spPr>
          <a:xfrm>
            <a:off x="1485900" y="1756385"/>
            <a:ext cx="10210800" cy="3416320"/>
          </a:xfrm>
          <a:prstGeom prst="rect">
            <a:avLst/>
          </a:prstGeom>
          <a:noFill/>
        </p:spPr>
        <p:txBody>
          <a:bodyPr wrap="square">
            <a:spAutoFit/>
          </a:bodyPr>
          <a:lstStyle/>
          <a:p>
            <a:r>
              <a:rPr lang="en-US" b="1" dirty="0"/>
              <a:t> Unguided Generative AI) acts as a text synthesizer.</a:t>
            </a:r>
          </a:p>
          <a:p>
            <a:endParaRPr lang="en-US" b="1" dirty="0"/>
          </a:p>
          <a:p>
            <a:r>
              <a:rPr lang="en-US" b="1" dirty="0"/>
              <a:t> </a:t>
            </a:r>
            <a:r>
              <a:rPr lang="en-US" dirty="0"/>
              <a:t>It writes clean-looking specifications that hide logical contradictions, severe security loopholes, HIPAA privacy leaks, and same-day scheduling crashes under structured markdown tables.</a:t>
            </a:r>
          </a:p>
          <a:p>
            <a:endParaRPr lang="en-US" dirty="0"/>
          </a:p>
          <a:p>
            <a:endParaRPr lang="en-US" dirty="0"/>
          </a:p>
          <a:p>
            <a:r>
              <a:rPr lang="en-US" b="1" dirty="0"/>
              <a:t>• Guarded Agentic Workspace treats requirements as code.</a:t>
            </a:r>
          </a:p>
          <a:p>
            <a:endParaRPr lang="en-US" b="1" dirty="0"/>
          </a:p>
          <a:p>
            <a:r>
              <a:rPr lang="en-US" b="1" dirty="0"/>
              <a:t> </a:t>
            </a:r>
            <a:r>
              <a:rPr lang="en-US" dirty="0"/>
              <a:t>By using a strict YAML metadata schema, enforcing formal EARS templates, and establishing an automated Python validation script (lint-requirements.py) that regex-checks cited text directly against raw transcript lines before Git accepts the commit, we turn our specification folder into an unbreakable, self-defending software asset.</a:t>
            </a:r>
          </a:p>
        </p:txBody>
      </p:sp>
    </p:spTree>
    <p:extLst>
      <p:ext uri="{BB962C8B-B14F-4D97-AF65-F5344CB8AC3E}">
        <p14:creationId xmlns:p14="http://schemas.microsoft.com/office/powerpoint/2010/main" val="934366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2427</Words>
  <Application>Microsoft Office PowerPoint</Application>
  <PresentationFormat>Widescreen</PresentationFormat>
  <Paragraphs>303</Paragraphs>
  <Slides>36</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Raleway Light</vt:lpstr>
      <vt:lpstr>Roboto</vt:lpstr>
      <vt:lpstr>Raleway</vt:lpstr>
      <vt:lpstr>Roboto Bold</vt:lpstr>
      <vt:lpstr>Calibri</vt:lpstr>
      <vt:lpstr>Consolas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PC</dc:creator>
  <cp:lastModifiedBy>FA22-BCS-069 (MUHAMMAD ZARYAB SAFDER)</cp:lastModifiedBy>
  <cp:revision>2</cp:revision>
  <dcterms:created xsi:type="dcterms:W3CDTF">2026-09-05T11:47:49Z</dcterms:created>
  <dcterms:modified xsi:type="dcterms:W3CDTF">2026-09-05T14:20:50Z</dcterms:modified>
</cp:coreProperties>
</file>